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6858000" cx="12192000"/>
  <p:notesSz cx="6858000" cy="12192000"/>
  <p:embeddedFontLst>
    <p:embeddedFont>
      <p:font typeface="Tahoma"/>
      <p:regular r:id="rId19"/>
      <p:bold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1" roundtripDataSignature="AMtx7mhnaHKoGODMR0T/aZMwkgZt+MPhH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E713164-73C3-4A30-BE1E-F03A6927C0B5}">
  <a:tblStyle styleId="{9E713164-73C3-4A30-BE1E-F03A6927C0B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Tahoma-bold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customschemas.google.com/relationships/presentationmetadata" Target="meta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Tahoma-regular.fntdata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" name="Google Shape;1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สไลด์ชุดนี้พูดเฉพาะงานที่ผมทำเองในสัปดาห์ที่ 6 ตั้งแต่ลูปการเล่นทั้งด่าน ล็อบบี้แบบ 3 มิติ ร้านค้า กฎของไอเทม ไปจนถึงเครื่องมือสำหรับทดสอบ และบั๊กที่แก้</a:t>
            </a:r>
            <a:endParaRPr/>
          </a:p>
        </p:txBody>
      </p:sp>
      <p:sp>
        <p:nvSpPr>
          <p:cNvPr id="18" name="Google Shape;1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ภาพรวมก่อน สัปดาห์นี้ผม commit 21 ครั้ง เขียนสคริปต์ใหม่ 15 ไฟล์ ประมาณ 210 KB งานหลักแบ่งเป็น 5 ก้อน แล้วจะลงรายละเอียดทีละก้อน</a:t>
            </a:r>
            <a:endParaRPr/>
          </a:p>
        </p:txBody>
      </p:sp>
      <p:sp>
        <p:nvSpPr>
          <p:cNvPr id="27" name="Google Shape;27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อาจารย์อยากเห็นการส่งเกมให้คนอื่นเล่นแล้วเก็บ Feedback ตอนนี้ยังทดสอบเต็มรูปแบบไม่ได้เพราะเพื่อนยังไม่ว่าง แต่ได้ Feedback เบื้องต้นแล้ว 4 ข้อ คือล็อบบี้ยังอธิบายไม่พอ รสชาติป๊อปคอร์นแยกไม่ออก และไม่มีภาษาไทย ฝั่งผมเตรียมตัวเกมที่ Build แล้ว และโหมด Spectate ไว้ดูผู้ทดสอบเล่นแล้ว</a:t>
            </a:r>
            <a:endParaRPr/>
          </a:p>
        </p:txBody>
      </p:sp>
      <p:sp>
        <p:nvSpPr>
          <p:cNvPr id="70" name="Google Shape;70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ตอนนี้เล่นได้ครบหนึ่งด่านแล้ว เริ่ม 00:00 ทำ Task ให้ครบทั้ง 2 โซน พอถึง 06:00 ประตูจะเรืองแสง มีเวลาหนีอีก 1 ชั่วโมง ถ้า 07:00 ยังอยู่ข้างในก็ตาย จบแล้วมีหน้าสรุปผล รอดได้เงินตาม Task ตายได้ค่าปลอบใจ 10</a:t>
            </a:r>
            <a:endParaRPr/>
          </a:p>
        </p:txBody>
      </p:sp>
      <p:sp>
        <p:nvSpPr>
          <p:cNvPr id="88" name="Google Shape;8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" name="Google Shape;13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เพื่อนใช้ไมค์ราคาถูก เสียงคีย์บอร์ดเลยดังจนแถบไมค์แดง ผมจึงทำระบบลดเสียงรบกวนกับ Noise Gate เสียงคลิกสั้นกว่า 30 ms จะไม่ผ่าน และทำมิเตอร์เสียง 2 แถบ ส่งค่าไปให้ Server เพื่อให้ผีรู้ว่าใครเสียงดังเกินไป</a:t>
            </a:r>
            <a:endParaRPr/>
          </a:p>
        </p:txBody>
      </p:sp>
      <p:sp>
        <p:nvSpPr>
          <p:cNvPr id="132" name="Google Shape;132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5" name="Google Shape;17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วันที่ 30 ทดสอบแล้วผีพัง Client เห็นผี 2 ตัว ไฟดับแค่ Host และผีไม่ทำดาเมจ สาเหตุคือไฟล์ผีเวอร์ชันเล่นคนเดียวถูก Pull เข้ามาทับ ผมเลยกู้ระบบ Multiplayer ของ Week 4 กลับมา แล้วรวมฟีเจอร์ใหม่ของนนพัทธ์เข้าไปด้วย</a:t>
            </a:r>
            <a:endParaRPr/>
          </a:p>
        </p:txBody>
      </p:sp>
      <p:sp>
        <p:nvSpPr>
          <p:cNvPr id="176" name="Google Shape;176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ล็อบบี้ไม่ได้เป็นแค่หน้าจออีกแล้ว ผู้เล่นมีตัวละครเดินได้ ซื้อวิทยุที่ร้านค้า ฝึกมินิเกมป๊อปคอร์นกับขายตั๋วแบบไม่เสียอะไร และมีกระดานให้กด Ready, Start หรือเตะผู้เล่น วันที่ 3 เพิ่มป้ายบอกให้กด L ปิดไฟเมื่อผีมาใกล้</a:t>
            </a:r>
            <a:endParaRPr/>
          </a:p>
        </p:txBody>
      </p:sp>
      <p:sp>
        <p:nvSpPr>
          <p:cNvPr id="203" name="Google Shape;203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3" name="Google Shape;22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ไอเทมถาวรมีได้ 1 ชิ้นต่อชนิดในเซฟ ถ้าตายของจะตกให้เพื่อนเก็บ ถ้ารอดของที่ถือออกมาเป็นของเรา ถือของซ้ำได้แต่ชิ้นที่สองเป็น Spare ใช้ไม่ได้ มีไว้ส่งให้เพื่อน และวันที่ 3 ปิดช่องโหว่ที่กดออกกลางเกมแล้วไม่เสียของ</a:t>
            </a:r>
            <a:endParaRPr/>
          </a:p>
        </p:txBody>
      </p:sp>
      <p:sp>
        <p:nvSpPr>
          <p:cNvPr id="224" name="Google Shape;224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" name="Google Shape;26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ทำเครื่องมือช่วยทดสอบ 2 อย่าง แผงโกงกด F1 ใช้ข้ามเวลา ทำบอร์ดครบ หรือหยุดผีเพื่อทดสอบเร็วขึ้น และโหมด Spectate เข้าไปดูเกมได้โดยไม่ต้องเป็นผู้เล่น ทั้งสองอย่างมีเฉพาะ Development Build</a:t>
            </a:r>
            <a:endParaRPr/>
          </a:p>
        </p:txBody>
      </p:sp>
      <p:sp>
        <p:nvSpPr>
          <p:cNvPr id="262" name="Google Shape;262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6" name="Google Shape;27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บั๊กใหญ่ของสัปดาห์ ทีมจัดเป็น Major Bug ถ้าเครื่องไหนไม่มีไมค์หรือไมค์ถูกบล็อก เกมจะลองเปิดไมค์ใหม่ทุกเฟรม ทำให้กระตุกทั้งด่าน และการอ่านไมค์ยังสร้างขยะหน่วยความจำประมาณ 190 KB ต่อวินาที ผมแก้ให้ลองใหม่ทุก 3 วินาที และใช้ Buffer เดิมซ้ำ ตอนนี้ขยะเป็น 0 บทเรียนคือโค้ดที่รันทุกเฟรมห้ามสร้างหน่วยความจำใหม่ และห้ามเรียกฟังก์ชันช้าของระบบ</a:t>
            </a:r>
            <a:endParaRPr/>
          </a:p>
        </p:txBody>
      </p:sp>
      <p:sp>
        <p:nvSpPr>
          <p:cNvPr id="277" name="Google Shape;277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9" name="Google Shape;299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ปัญหาอื่นที่แก้สัปดาห์นี้ ที่ยากคือถูกเตะแล้วตัวละครค้าง เพราะ EOS ไม่บอก Mirror ว่าตัดการเชื่อมต่อ และ Spectate มองไม่เห็นผู้เล่นเพราะ Mirror ส่งของในฉากให้เฉพาะคนที่มีตัวละคร</a:t>
            </a:r>
            <a:endParaRPr/>
          </a:p>
        </p:txBody>
      </p:sp>
      <p:sp>
        <p:nvSpPr>
          <p:cNvPr id="300" name="Google Shape;300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เอาไว้ตอบถ้าอาจารย์อยากเห็นหลักฐานว่าทำอะไรวันไหน</a:t>
            </a:r>
            <a:endParaRPr/>
          </a:p>
        </p:txBody>
      </p:sp>
      <p:sp>
        <p:nvSpPr>
          <p:cNvPr id="309" name="Google Shape;309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4" name="Google Shape;374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สรุปงานทั้งหมดของผมสัปดาห์นี้ 7 ก้อน ตั้งแต่ลูปการเล่นทั้งด่าน ไปจนถึงเครื่องมือทดสอบและบั๊กที่แก้ ขอบคุณครับ</a:t>
            </a:r>
            <a:endParaRPr/>
          </a:p>
        </p:txBody>
      </p:sp>
      <p:sp>
        <p:nvSpPr>
          <p:cNvPr id="375" name="Google Shape;375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">
  <p:cSld name="Cover">
    <p:bg>
      <p:bgPr>
        <a:solidFill>
          <a:srgbClr val="15110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">
  <p:cSld name="Content">
    <p:bg>
      <p:bgPr>
        <a:solidFill>
          <a:srgbClr val="15110F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6"/>
          <p:cNvSpPr txBox="1"/>
          <p:nvPr>
            <p:ph idx="12" type="sldNum"/>
          </p:nvPr>
        </p:nvSpPr>
        <p:spPr>
          <a:xfrm>
            <a:off x="11384280" y="640080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/>
          <p:nvPr>
            <p:ph idx="12" type="sldNum"/>
          </p:nvPr>
        </p:nvSpPr>
        <p:spPr>
          <a:xfrm>
            <a:off x="11384280" y="640080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"/>
          <p:cNvSpPr txBox="1"/>
          <p:nvPr/>
        </p:nvSpPr>
        <p:spPr>
          <a:xfrm>
            <a:off x="731520" y="1828800"/>
            <a:ext cx="105156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4800"/>
              <a:buFont typeface="Tahoma"/>
              <a:buNone/>
            </a:pPr>
            <a:r>
              <a:rPr b="1" i="0" lang="en-US" sz="48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งานของผม</a:t>
            </a:r>
            <a:endParaRPr b="0" i="0" sz="4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" name="Google Shape;21;p1"/>
          <p:cNvSpPr txBox="1"/>
          <p:nvPr/>
        </p:nvSpPr>
        <p:spPr>
          <a:xfrm>
            <a:off x="731520" y="2880360"/>
            <a:ext cx="10515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2200"/>
              <a:buFont typeface="Tahoma"/>
              <a:buNone/>
            </a:pPr>
            <a:r>
              <a:rPr b="0" i="0" lang="en-US" sz="22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13RoH — สัปดาห์ที่ 6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2" name="Google Shape;22;p1"/>
          <p:cNvSpPr txBox="1"/>
          <p:nvPr/>
        </p:nvSpPr>
        <p:spPr>
          <a:xfrm>
            <a:off x="731520" y="34290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28 กันยายน – </a:t>
            </a:r>
            <a:r>
              <a:rPr lang="en-US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3</a:t>
            </a:r>
            <a:r>
              <a:rPr b="0" i="0" lang="en-US" sz="14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 ตุลาคม 2026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3" name="Google Shape;23;p1"/>
          <p:cNvSpPr txBox="1"/>
          <p:nvPr/>
        </p:nvSpPr>
        <p:spPr>
          <a:xfrm>
            <a:off x="731520" y="493776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นาย ก้องกิดากร ช่วยแจ้ง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Head Programmer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2600"/>
              <a:buFont typeface="Tahoma"/>
              <a:buNone/>
            </a:pPr>
            <a:r>
              <a:rPr b="1" i="0" lang="en-US" sz="26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สรุปงานของผมสัปดาห์นี้</a:t>
            </a:r>
            <a:endParaRPr b="0" i="0" sz="26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0" name="Google Shape;30;p2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จากเกมที่เข้าห้องได้ เป็นเกมที่เล่นครบหนึ่งด่าน มีล็อบบี้ให้ฝึก และมีเครื่องมือช่วยทดสอบ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534965" y="1601075"/>
            <a:ext cx="11091600" cy="502800"/>
          </a:xfrm>
          <a:prstGeom prst="roundRect">
            <a:avLst>
              <a:gd fmla="val 14545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699557" y="1687943"/>
            <a:ext cx="329100" cy="329100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2"/>
          <p:cNvSpPr txBox="1"/>
          <p:nvPr/>
        </p:nvSpPr>
        <p:spPr>
          <a:xfrm>
            <a:off x="699557" y="1687943"/>
            <a:ext cx="3291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175045" y="1601075"/>
            <a:ext cx="42063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ลูปการเล่นทั้งด่าน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5518445" y="1601075"/>
            <a:ext cx="58065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นาฬิกา 00:00 – 07:00 บอร์ด Task ประตูทางออก และหน้าสรุปผล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534965" y="2213723"/>
            <a:ext cx="11091600" cy="502800"/>
          </a:xfrm>
          <a:prstGeom prst="roundRect">
            <a:avLst>
              <a:gd fmla="val 14545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699557" y="2300591"/>
            <a:ext cx="329100" cy="329100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2"/>
          <p:cNvSpPr txBox="1"/>
          <p:nvPr/>
        </p:nvSpPr>
        <p:spPr>
          <a:xfrm>
            <a:off x="699557" y="2300591"/>
            <a:ext cx="3291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9" name="Google Shape;39;p2"/>
          <p:cNvSpPr txBox="1"/>
          <p:nvPr/>
        </p:nvSpPr>
        <p:spPr>
          <a:xfrm>
            <a:off x="1175045" y="2213723"/>
            <a:ext cx="42063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เสียงพูด: ลดเสียงรบกวน + มิเตอร์เสียง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0" name="Google Shape;40;p2"/>
          <p:cNvSpPr txBox="1"/>
          <p:nvPr/>
        </p:nvSpPr>
        <p:spPr>
          <a:xfrm>
            <a:off x="5518445" y="2213723"/>
            <a:ext cx="58065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ตัดเสียงพัดลม/คีย์บอร์ด และวัดว่าผู้เล่นเสียงดังแค่ไหน (ให้ผีใช้)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534965" y="2826371"/>
            <a:ext cx="11091600" cy="502800"/>
          </a:xfrm>
          <a:prstGeom prst="roundRect">
            <a:avLst>
              <a:gd fmla="val 14545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699557" y="2913239"/>
            <a:ext cx="329100" cy="329100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2"/>
          <p:cNvSpPr txBox="1"/>
          <p:nvPr/>
        </p:nvSpPr>
        <p:spPr>
          <a:xfrm>
            <a:off x="699557" y="2913239"/>
            <a:ext cx="3291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4" name="Google Shape;44;p2"/>
          <p:cNvSpPr txBox="1"/>
          <p:nvPr/>
        </p:nvSpPr>
        <p:spPr>
          <a:xfrm>
            <a:off x="1175045" y="2826371"/>
            <a:ext cx="42063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ผีแบบออนไลน์กลับมาใช้ได้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5" name="Google Shape;45;p2"/>
          <p:cNvSpPr txBox="1"/>
          <p:nvPr/>
        </p:nvSpPr>
        <p:spPr>
          <a:xfrm>
            <a:off x="5518445" y="2826371"/>
            <a:ext cx="58065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กู้ระบบ Multiplayer ของผี และรวมฟีเจอร์ใหม่ของนนพัทธ์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534965" y="3439019"/>
            <a:ext cx="11091600" cy="502800"/>
          </a:xfrm>
          <a:prstGeom prst="roundRect">
            <a:avLst>
              <a:gd fmla="val 14545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699557" y="3525887"/>
            <a:ext cx="329100" cy="329100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2"/>
          <p:cNvSpPr txBox="1"/>
          <p:nvPr/>
        </p:nvSpPr>
        <p:spPr>
          <a:xfrm>
            <a:off x="699557" y="3525887"/>
            <a:ext cx="3291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9" name="Google Shape;49;p2"/>
          <p:cNvSpPr txBox="1"/>
          <p:nvPr/>
        </p:nvSpPr>
        <p:spPr>
          <a:xfrm>
            <a:off x="1175045" y="3439019"/>
            <a:ext cx="42063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ล็อบบี้ 3 มิติ ร้านค้า และจุดฝึก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0" name="Google Shape;50;p2"/>
          <p:cNvSpPr txBox="1"/>
          <p:nvPr/>
        </p:nvSpPr>
        <p:spPr>
          <a:xfrm>
            <a:off x="5518445" y="3439019"/>
            <a:ext cx="58065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เดินในล็อบบี้ ซื้อวิทยุ ฝึกมินิเกม กระดาน Ready/Start และเตะผู้เล่น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534965" y="4051667"/>
            <a:ext cx="11091600" cy="502800"/>
          </a:xfrm>
          <a:prstGeom prst="roundRect">
            <a:avLst>
              <a:gd fmla="val 14545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699557" y="4138535"/>
            <a:ext cx="329100" cy="329100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2"/>
          <p:cNvSpPr txBox="1"/>
          <p:nvPr/>
        </p:nvSpPr>
        <p:spPr>
          <a:xfrm>
            <a:off x="699557" y="4138535"/>
            <a:ext cx="3291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5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4" name="Google Shape;54;p2"/>
          <p:cNvSpPr txBox="1"/>
          <p:nvPr/>
        </p:nvSpPr>
        <p:spPr>
          <a:xfrm>
            <a:off x="1175045" y="4051667"/>
            <a:ext cx="42063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กฎของไอเทม + เครื่องมือทดสอบ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5" name="Google Shape;55;p2"/>
          <p:cNvSpPr txBox="1"/>
          <p:nvPr/>
        </p:nvSpPr>
        <p:spPr>
          <a:xfrm>
            <a:off x="5518445" y="4051667"/>
            <a:ext cx="58065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ของตกเมื่อตาย สำเนาสำรอง แผงโกง (F1) และโหมด Spectate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6" name="Google Shape;56;p2"/>
          <p:cNvSpPr txBox="1"/>
          <p:nvPr>
            <p:ph idx="4294967295" type="sldNum"/>
          </p:nvPr>
        </p:nvSpPr>
        <p:spPr>
          <a:xfrm>
            <a:off x="11384280" y="640080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 b="0" i="0" sz="1000" u="none" cap="none" strike="noStrike">
              <a:solidFill>
                <a:srgbClr val="9A8F8B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550190" y="4664320"/>
            <a:ext cx="11091600" cy="530400"/>
          </a:xfrm>
          <a:prstGeom prst="roundRect">
            <a:avLst>
              <a:gd fmla="val 13793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2"/>
          <p:cNvSpPr/>
          <p:nvPr/>
        </p:nvSpPr>
        <p:spPr>
          <a:xfrm>
            <a:off x="714782" y="4764904"/>
            <a:ext cx="329100" cy="329100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2"/>
          <p:cNvSpPr txBox="1"/>
          <p:nvPr/>
        </p:nvSpPr>
        <p:spPr>
          <a:xfrm>
            <a:off x="714782" y="4764904"/>
            <a:ext cx="3291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6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0" name="Google Shape;60;p2"/>
          <p:cNvSpPr txBox="1"/>
          <p:nvPr/>
        </p:nvSpPr>
        <p:spPr>
          <a:xfrm>
            <a:off x="1190270" y="4664320"/>
            <a:ext cx="3566100" cy="53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เครื่องมือทดสอบ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1" name="Google Shape;61;p2"/>
          <p:cNvSpPr txBox="1"/>
          <p:nvPr/>
        </p:nvSpPr>
        <p:spPr>
          <a:xfrm>
            <a:off x="5533499" y="4664325"/>
            <a:ext cx="5806500" cy="53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แผงโกง F1 และโหมด Spectate (Development Build)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2" name="Google Shape;62;p2"/>
          <p:cNvSpPr/>
          <p:nvPr/>
        </p:nvSpPr>
        <p:spPr>
          <a:xfrm>
            <a:off x="550190" y="5304400"/>
            <a:ext cx="11091600" cy="530400"/>
          </a:xfrm>
          <a:prstGeom prst="roundRect">
            <a:avLst>
              <a:gd fmla="val 13793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2"/>
          <p:cNvSpPr/>
          <p:nvPr/>
        </p:nvSpPr>
        <p:spPr>
          <a:xfrm>
            <a:off x="714782" y="5404984"/>
            <a:ext cx="329100" cy="329100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2"/>
          <p:cNvSpPr txBox="1"/>
          <p:nvPr/>
        </p:nvSpPr>
        <p:spPr>
          <a:xfrm>
            <a:off x="714782" y="5404984"/>
            <a:ext cx="3291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7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5" name="Google Shape;65;p2"/>
          <p:cNvSpPr txBox="1"/>
          <p:nvPr/>
        </p:nvSpPr>
        <p:spPr>
          <a:xfrm>
            <a:off x="1190270" y="5304400"/>
            <a:ext cx="3566100" cy="53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แก้บั๊ก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6" name="Google Shape;66;p2"/>
          <p:cNvSpPr txBox="1"/>
          <p:nvPr/>
        </p:nvSpPr>
        <p:spPr>
          <a:xfrm>
            <a:off x="5533499" y="5304400"/>
            <a:ext cx="5806500" cy="53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Major Bug ไมค์ทำเกมกระตุก, เตะแล้วค้าง, Spectate มองไม่เห็นผู้เล่น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2600"/>
              <a:buFont typeface="Tahoma"/>
              <a:buNone/>
            </a:pPr>
            <a:r>
              <a:rPr b="1" i="0" lang="en-US" sz="26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คำแนะนำจากอาจารย์สัปดาห์ที่ 5</a:t>
            </a:r>
            <a:endParaRPr b="0" i="0" sz="26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3" name="Google Shape;73;p3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ส่งเกมให้คนอื่นลองเล่น แล้วเก็บ Feedback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9555480" y="411480"/>
            <a:ext cx="2103120" cy="365760"/>
          </a:xfrm>
          <a:prstGeom prst="roundRect">
            <a:avLst>
              <a:gd fmla="val 50000" name="adj"/>
            </a:avLst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3"/>
          <p:cNvSpPr txBox="1"/>
          <p:nvPr/>
        </p:nvSpPr>
        <p:spPr>
          <a:xfrm>
            <a:off x="9555480" y="41148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กำลังทำ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548640" y="1463040"/>
            <a:ext cx="11091672" cy="777240"/>
          </a:xfrm>
          <a:prstGeom prst="roundRect">
            <a:avLst>
              <a:gd fmla="val 9412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3"/>
          <p:cNvSpPr txBox="1"/>
          <p:nvPr/>
        </p:nvSpPr>
        <p:spPr>
          <a:xfrm>
            <a:off x="777240" y="1463040"/>
            <a:ext cx="106070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2000"/>
              <a:buFont typeface="Tahoma"/>
              <a:buNone/>
            </a:pPr>
            <a:r>
              <a:rPr b="1" i="0" lang="en-US" sz="20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“ให้ส่งเกมให้คนอื่นทดลองเล่น และเก็บ Feedback จากผู้เล่น”</a:t>
            </a:r>
            <a:endParaRPr b="0" i="0" sz="20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548640" y="2468880"/>
            <a:ext cx="5394960" cy="3611880"/>
          </a:xfrm>
          <a:prstGeom prst="roundRect">
            <a:avLst>
              <a:gd fmla="val 2025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3"/>
          <p:cNvSpPr txBox="1"/>
          <p:nvPr/>
        </p:nvSpPr>
        <p:spPr>
          <a:xfrm>
            <a:off x="777240" y="260604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00"/>
              <a:buFont typeface="Tahoma"/>
              <a:buNone/>
            </a:pPr>
            <a:r>
              <a:rPr b="1" i="0" lang="en-US" sz="15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สถานะตอนนี้</a:t>
            </a:r>
            <a:endParaRPr b="0" i="0" sz="15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80" name="Google Shape;80;p3"/>
          <p:cNvSpPr txBox="1"/>
          <p:nvPr/>
        </p:nvSpPr>
        <p:spPr>
          <a:xfrm>
            <a:off x="731520" y="3108960"/>
            <a:ext cx="5029200" cy="28620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5400" wrap="square" tIns="2540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ยังทดสอบเต็มรูปแบบไม่ได้ — เพื่อนที่จะมาเล่นยังไม่ว่าง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ได้ผลเบื้องต้นจากการลองให้เล่นแล้ว (ขวามือ)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เตรียมไว้แล้ว: ตัวเกมที่ Build แล้วให้เพื่อนเปิดเล่นได้เลย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เตรียมไว้แล้ว: โหมด Spectate ดูผู้ทดสอบเล่นได้โดยไม่ต้องเข้าไปเป็นผู้เล่น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6245352" y="2468880"/>
            <a:ext cx="5394960" cy="3611880"/>
          </a:xfrm>
          <a:prstGeom prst="roundRect">
            <a:avLst>
              <a:gd fmla="val 2025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3"/>
          <p:cNvSpPr txBox="1"/>
          <p:nvPr/>
        </p:nvSpPr>
        <p:spPr>
          <a:xfrm>
            <a:off x="6473952" y="260604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00"/>
              <a:buFont typeface="Tahoma"/>
              <a:buNone/>
            </a:pPr>
            <a:r>
              <a:rPr b="1" i="0" lang="en-US" sz="15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Feedback ที่ได้แล้ว</a:t>
            </a:r>
            <a:endParaRPr b="0" i="0" sz="15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83" name="Google Shape;83;p3"/>
          <p:cNvSpPr txBox="1"/>
          <p:nvPr/>
        </p:nvSpPr>
        <p:spPr>
          <a:xfrm>
            <a:off x="6428232" y="3108960"/>
            <a:ext cx="5029200" cy="28620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5400" wrap="square" tIns="2540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ดูแค่ในล็อบบี้ ยังเข้าใจยากว่าต้องทำอะไร และอะไรคืออะไร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โซนจำลองในล็อบบี้ยังอธิบายไม่พอ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รสชาติป๊อปคอร์นไม่มีอะไรบอกว่าอันไหนคืออันไหน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ไม่มีภาษาไทยเลย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84" name="Google Shape;84;p3"/>
          <p:cNvSpPr txBox="1"/>
          <p:nvPr>
            <p:ph idx="4294967295" type="sldNum"/>
          </p:nvPr>
        </p:nvSpPr>
        <p:spPr>
          <a:xfrm>
            <a:off x="11384280" y="640080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 b="0" i="0" sz="1000" u="none" cap="none" strike="noStrike">
              <a:solidFill>
                <a:srgbClr val="9A8F8B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2600"/>
              <a:buFont typeface="Tahoma"/>
              <a:buNone/>
            </a:pPr>
            <a:r>
              <a:rPr b="1" i="0" lang="en-US" sz="26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1. ลูปการเล่นทั้งด่าน</a:t>
            </a:r>
            <a:endParaRPr b="0" i="0" sz="26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1" name="Google Shape;91;p4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29 – 30 ก.ย. — เริ่มด่าน ทำ Task หนี แล้วดูผล ครบในรอบเดียว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548640" y="1463040"/>
            <a:ext cx="1962302" cy="1463040"/>
          </a:xfrm>
          <a:prstGeom prst="roundRect">
            <a:avLst>
              <a:gd fmla="val 5000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4"/>
          <p:cNvSpPr/>
          <p:nvPr/>
        </p:nvSpPr>
        <p:spPr>
          <a:xfrm>
            <a:off x="685800" y="1600200"/>
            <a:ext cx="310896" cy="310896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4"/>
          <p:cNvSpPr txBox="1"/>
          <p:nvPr/>
        </p:nvSpPr>
        <p:spPr>
          <a:xfrm>
            <a:off x="685800" y="160020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5" name="Google Shape;95;p4"/>
          <p:cNvSpPr txBox="1"/>
          <p:nvPr/>
        </p:nvSpPr>
        <p:spPr>
          <a:xfrm>
            <a:off x="685800" y="1938528"/>
            <a:ext cx="168798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00:00 เริ่มคืน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6" name="Google Shape;96;p4"/>
          <p:cNvSpPr txBox="1"/>
          <p:nvPr/>
        </p:nvSpPr>
        <p:spPr>
          <a:xfrm>
            <a:off x="685800" y="2267712"/>
            <a:ext cx="168798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นาฬิกาเดินในเกม 1 ชม. = 2.5 นาที (ตอนทดสอบตั้งให้สั้นลง)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7" name="Google Shape;97;p4"/>
          <p:cNvSpPr/>
          <p:nvPr/>
        </p:nvSpPr>
        <p:spPr>
          <a:xfrm rot="5400000">
            <a:off x="2593238" y="2075688"/>
            <a:ext cx="155448" cy="237744"/>
          </a:xfrm>
          <a:prstGeom prst="rtTriangl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4"/>
          <p:cNvSpPr/>
          <p:nvPr/>
        </p:nvSpPr>
        <p:spPr>
          <a:xfrm>
            <a:off x="2830982" y="1463040"/>
            <a:ext cx="1962302" cy="1463040"/>
          </a:xfrm>
          <a:prstGeom prst="roundRect">
            <a:avLst>
              <a:gd fmla="val 5000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4"/>
          <p:cNvSpPr/>
          <p:nvPr/>
        </p:nvSpPr>
        <p:spPr>
          <a:xfrm>
            <a:off x="2968142" y="1600200"/>
            <a:ext cx="310896" cy="310896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4"/>
          <p:cNvSpPr txBox="1"/>
          <p:nvPr/>
        </p:nvSpPr>
        <p:spPr>
          <a:xfrm>
            <a:off x="2968142" y="160020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1" name="Google Shape;101;p4"/>
          <p:cNvSpPr txBox="1"/>
          <p:nvPr/>
        </p:nvSpPr>
        <p:spPr>
          <a:xfrm>
            <a:off x="2968142" y="1938528"/>
            <a:ext cx="168798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ทำ Task ให้ครบ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2" name="Google Shape;102;p4"/>
          <p:cNvSpPr txBox="1"/>
          <p:nvPr/>
        </p:nvSpPr>
        <p:spPr>
          <a:xfrm>
            <a:off x="2968142" y="2267712"/>
            <a:ext cx="168798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2 โซน: บอร์ดป๊อปคอร์น 4 รายการ และบอร์ดตั๋ว 6 รายการ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3" name="Google Shape;103;p4"/>
          <p:cNvSpPr/>
          <p:nvPr/>
        </p:nvSpPr>
        <p:spPr>
          <a:xfrm rot="5400000">
            <a:off x="4875581" y="2075688"/>
            <a:ext cx="155448" cy="237744"/>
          </a:xfrm>
          <a:prstGeom prst="rtTriangl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5113325" y="1463040"/>
            <a:ext cx="1962302" cy="1463040"/>
          </a:xfrm>
          <a:prstGeom prst="roundRect">
            <a:avLst>
              <a:gd fmla="val 5000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4"/>
          <p:cNvSpPr/>
          <p:nvPr/>
        </p:nvSpPr>
        <p:spPr>
          <a:xfrm>
            <a:off x="5250485" y="1600200"/>
            <a:ext cx="310896" cy="310896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4"/>
          <p:cNvSpPr txBox="1"/>
          <p:nvPr/>
        </p:nvSpPr>
        <p:spPr>
          <a:xfrm>
            <a:off x="5250485" y="160020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7" name="Google Shape;107;p4"/>
          <p:cNvSpPr txBox="1"/>
          <p:nvPr/>
        </p:nvSpPr>
        <p:spPr>
          <a:xfrm>
            <a:off x="5250485" y="1938528"/>
            <a:ext cx="168798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06:00 ประตูเรืองแสง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4"/>
          <p:cNvSpPr txBox="1"/>
          <p:nvPr/>
        </p:nvSpPr>
        <p:spPr>
          <a:xfrm>
            <a:off x="5250485" y="2267712"/>
            <a:ext cx="168798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เปิดเมื่อทุกโซนเสร็จ และถึง 06:00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9" name="Google Shape;109;p4"/>
          <p:cNvSpPr/>
          <p:nvPr/>
        </p:nvSpPr>
        <p:spPr>
          <a:xfrm rot="5400000">
            <a:off x="7157923" y="2075688"/>
            <a:ext cx="155448" cy="237744"/>
          </a:xfrm>
          <a:prstGeom prst="rtTriangl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4"/>
          <p:cNvSpPr/>
          <p:nvPr/>
        </p:nvSpPr>
        <p:spPr>
          <a:xfrm>
            <a:off x="7395667" y="1463040"/>
            <a:ext cx="1962302" cy="1463040"/>
          </a:xfrm>
          <a:prstGeom prst="roundRect">
            <a:avLst>
              <a:gd fmla="val 5000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"/>
          <p:cNvSpPr/>
          <p:nvPr/>
        </p:nvSpPr>
        <p:spPr>
          <a:xfrm>
            <a:off x="7532827" y="1600200"/>
            <a:ext cx="310896" cy="310896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"/>
          <p:cNvSpPr txBox="1"/>
          <p:nvPr/>
        </p:nvSpPr>
        <p:spPr>
          <a:xfrm>
            <a:off x="7532827" y="160020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13" name="Google Shape;113;p4"/>
          <p:cNvSpPr txBox="1"/>
          <p:nvPr/>
        </p:nvSpPr>
        <p:spPr>
          <a:xfrm>
            <a:off x="7532827" y="1938528"/>
            <a:ext cx="168798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06:00 – 07:00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14" name="Google Shape;114;p4"/>
          <p:cNvSpPr txBox="1"/>
          <p:nvPr/>
        </p:nvSpPr>
        <p:spPr>
          <a:xfrm>
            <a:off x="7532827" y="2267712"/>
            <a:ext cx="168798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ชั่วโมงสุดท้าย ผีออกล่า 07:00 ใครยังอยู่ข้างใน = ตาย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15" name="Google Shape;115;p4"/>
          <p:cNvSpPr/>
          <p:nvPr/>
        </p:nvSpPr>
        <p:spPr>
          <a:xfrm rot="5400000">
            <a:off x="9440266" y="2075688"/>
            <a:ext cx="155448" cy="237744"/>
          </a:xfrm>
          <a:prstGeom prst="rtTriangl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4"/>
          <p:cNvSpPr/>
          <p:nvPr/>
        </p:nvSpPr>
        <p:spPr>
          <a:xfrm>
            <a:off x="9678010" y="1463040"/>
            <a:ext cx="1962302" cy="1463040"/>
          </a:xfrm>
          <a:prstGeom prst="roundRect">
            <a:avLst>
              <a:gd fmla="val 5000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4"/>
          <p:cNvSpPr/>
          <p:nvPr/>
        </p:nvSpPr>
        <p:spPr>
          <a:xfrm>
            <a:off x="9815170" y="1600200"/>
            <a:ext cx="310896" cy="310896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"/>
          <p:cNvSpPr txBox="1"/>
          <p:nvPr/>
        </p:nvSpPr>
        <p:spPr>
          <a:xfrm>
            <a:off x="9815170" y="160020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5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19" name="Google Shape;119;p4"/>
          <p:cNvSpPr txBox="1"/>
          <p:nvPr/>
        </p:nvSpPr>
        <p:spPr>
          <a:xfrm>
            <a:off x="9815170" y="1938528"/>
            <a:ext cx="168798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หน้าสรุปผล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0" name="Google Shape;120;p4"/>
          <p:cNvSpPr txBox="1"/>
          <p:nvPr/>
        </p:nvSpPr>
        <p:spPr>
          <a:xfrm>
            <a:off x="9815170" y="2267712"/>
            <a:ext cx="168798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หนีรอด / ตาย / ล้มกี่ครั้ง / Task / เงิน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548640" y="3200400"/>
            <a:ext cx="5394960" cy="2880360"/>
          </a:xfrm>
          <a:prstGeom prst="roundRect">
            <a:avLst>
              <a:gd fmla="val 2540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4"/>
          <p:cNvSpPr txBox="1"/>
          <p:nvPr/>
        </p:nvSpPr>
        <p:spPr>
          <a:xfrm>
            <a:off x="777240" y="33375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00"/>
              <a:buFont typeface="Tahoma"/>
              <a:buNone/>
            </a:pPr>
            <a:r>
              <a:rPr b="1" i="0" lang="en-US" sz="15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เงินและหน้าสรุปผล</a:t>
            </a:r>
            <a:endParaRPr b="0" i="0" sz="15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3" name="Google Shape;123;p4"/>
          <p:cNvSpPr txBox="1"/>
          <p:nvPr/>
        </p:nvSpPr>
        <p:spPr>
          <a:xfrm>
            <a:off x="731520" y="3840480"/>
            <a:ext cx="5029200" cy="2130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5400" wrap="square" tIns="2540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รอด: จำนวน Task ของตัวเอง × 10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ตาย: ได้ 10 เป็นค่าปลอบใจ พร้อมข้อความเสียใจด้วย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เงินนับขึ้นจาก 0 แล้วบันทึกลงเซฟครั้งเดียว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รายชื่อผู้เล่น: ยังเล่นอยู่ / หนีแล้ว / ตาย / ออกไป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6245352" y="3200400"/>
            <a:ext cx="5394960" cy="2880360"/>
          </a:xfrm>
          <a:prstGeom prst="roundRect">
            <a:avLst>
              <a:gd fmla="val 2540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4"/>
          <p:cNvSpPr txBox="1"/>
          <p:nvPr/>
        </p:nvSpPr>
        <p:spPr>
          <a:xfrm>
            <a:off x="6473952" y="33375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00"/>
              <a:buFont typeface="Tahoma"/>
              <a:buNone/>
            </a:pPr>
            <a:r>
              <a:rPr b="1" i="0" lang="en-US" sz="15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หลังจบรอบของตัวเอง</a:t>
            </a:r>
            <a:endParaRPr b="0" i="0" sz="15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6" name="Google Shape;126;p4"/>
          <p:cNvSpPr txBox="1"/>
          <p:nvPr/>
        </p:nvSpPr>
        <p:spPr>
          <a:xfrm>
            <a:off x="6428232" y="3840480"/>
            <a:ext cx="5029200" cy="2130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5400" wrap="square" tIns="2540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คนที่จบแล้วคุยกันได้ (เสียงธรรมดา ไม่ 3D)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คนที่ยังเล่นอยู่ไม่ได้ยินคนที่จบแล้ว และกลับกัน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ผีไม่สนใจคนที่หนีแล้ว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แก้บั๊ก: ร่างคนที่หนีแล้วตกทะลุพื้น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7" name="Google Shape;127;p4"/>
          <p:cNvSpPr txBox="1"/>
          <p:nvPr/>
        </p:nvSpPr>
        <p:spPr>
          <a:xfrm>
            <a:off x="548640" y="6263640"/>
            <a:ext cx="10607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000"/>
              <a:buFont typeface="Tahoma"/>
              <a:buNone/>
            </a:pPr>
            <a:r>
              <a:rPr b="0" i="0" lang="en-US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ไฟล์: MatchDirector.cs, ZoneTaskList.cs, ExitPoint.cs, MatchHUD.cs, MatchResultsUI.cs · Tools › Pre-Thesis › Setup Gameplay Loop</a:t>
            </a:r>
            <a:endParaRPr b="0" i="0" sz="10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8" name="Google Shape;128;p4"/>
          <p:cNvSpPr txBox="1"/>
          <p:nvPr>
            <p:ph idx="4294967295" type="sldNum"/>
          </p:nvPr>
        </p:nvSpPr>
        <p:spPr>
          <a:xfrm>
            <a:off x="11384280" y="640080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 b="0" i="0" sz="1000" u="none" cap="none" strike="noStrike">
              <a:solidFill>
                <a:srgbClr val="9A8F8B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2600"/>
              <a:buFont typeface="Tahoma"/>
              <a:buNone/>
            </a:pPr>
            <a:r>
              <a:rPr b="1" i="0" lang="en-US" sz="26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2. เสียงพูด: ลดเสียงรบกวน + มิเตอร์เสียง</a:t>
            </a:r>
            <a:endParaRPr b="0" i="0" sz="26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35" name="Google Shape;135;p5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29 ก.ย. — ไมค์ราคาถูกทำให้เสียงคีย์บอร์ดดังจนแถบไมค์ขึ้นแดง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36" name="Google Shape;136;p5"/>
          <p:cNvSpPr/>
          <p:nvPr/>
        </p:nvSpPr>
        <p:spPr>
          <a:xfrm>
            <a:off x="548640" y="1463040"/>
            <a:ext cx="1962302" cy="1463040"/>
          </a:xfrm>
          <a:prstGeom prst="roundRect">
            <a:avLst>
              <a:gd fmla="val 5000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5"/>
          <p:cNvSpPr/>
          <p:nvPr/>
        </p:nvSpPr>
        <p:spPr>
          <a:xfrm>
            <a:off x="685800" y="1600200"/>
            <a:ext cx="310896" cy="310896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5"/>
          <p:cNvSpPr txBox="1"/>
          <p:nvPr/>
        </p:nvSpPr>
        <p:spPr>
          <a:xfrm>
            <a:off x="685800" y="160020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39" name="Google Shape;139;p5"/>
          <p:cNvSpPr txBox="1"/>
          <p:nvPr/>
        </p:nvSpPr>
        <p:spPr>
          <a:xfrm>
            <a:off x="685800" y="1938528"/>
            <a:ext cx="168798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ไมค์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5"/>
          <p:cNvSpPr txBox="1"/>
          <p:nvPr/>
        </p:nvSpPr>
        <p:spPr>
          <a:xfrm>
            <a:off x="685800" y="2267712"/>
            <a:ext cx="168798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อัดเสียง 48 kHz ทีละ 10 ms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1" name="Google Shape;141;p5"/>
          <p:cNvSpPr/>
          <p:nvPr/>
        </p:nvSpPr>
        <p:spPr>
          <a:xfrm rot="5400000">
            <a:off x="2593238" y="2075688"/>
            <a:ext cx="155448" cy="237744"/>
          </a:xfrm>
          <a:prstGeom prst="rtTriangl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5"/>
          <p:cNvSpPr/>
          <p:nvPr/>
        </p:nvSpPr>
        <p:spPr>
          <a:xfrm>
            <a:off x="2830982" y="1463040"/>
            <a:ext cx="1962302" cy="1463040"/>
          </a:xfrm>
          <a:prstGeom prst="roundRect">
            <a:avLst>
              <a:gd fmla="val 5000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5"/>
          <p:cNvSpPr/>
          <p:nvPr/>
        </p:nvSpPr>
        <p:spPr>
          <a:xfrm>
            <a:off x="2968142" y="1600200"/>
            <a:ext cx="310896" cy="310896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5"/>
          <p:cNvSpPr txBox="1"/>
          <p:nvPr/>
        </p:nvSpPr>
        <p:spPr>
          <a:xfrm>
            <a:off x="2968142" y="160020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5" name="Google Shape;145;p5"/>
          <p:cNvSpPr txBox="1"/>
          <p:nvPr/>
        </p:nvSpPr>
        <p:spPr>
          <a:xfrm>
            <a:off x="2968142" y="1938528"/>
            <a:ext cx="168798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ลดเสียงรบกวน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6" name="Google Shape;146;p5"/>
          <p:cNvSpPr txBox="1"/>
          <p:nvPr/>
        </p:nvSpPr>
        <p:spPr>
          <a:xfrm>
            <a:off x="2968142" y="2267712"/>
            <a:ext cx="168798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ตัดเสียงพัดลม / เสียงซ่า ที่ดังคงที่ (ลดได้ ~12 dB ตอนทดสอบ)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7" name="Google Shape;147;p5"/>
          <p:cNvSpPr/>
          <p:nvPr/>
        </p:nvSpPr>
        <p:spPr>
          <a:xfrm rot="5400000">
            <a:off x="4875581" y="2075688"/>
            <a:ext cx="155448" cy="237744"/>
          </a:xfrm>
          <a:prstGeom prst="rtTriangl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5"/>
          <p:cNvSpPr/>
          <p:nvPr/>
        </p:nvSpPr>
        <p:spPr>
          <a:xfrm>
            <a:off x="5113325" y="1463040"/>
            <a:ext cx="1962302" cy="1463040"/>
          </a:xfrm>
          <a:prstGeom prst="roundRect">
            <a:avLst>
              <a:gd fmla="val 5000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5"/>
          <p:cNvSpPr/>
          <p:nvPr/>
        </p:nvSpPr>
        <p:spPr>
          <a:xfrm>
            <a:off x="5250485" y="1600200"/>
            <a:ext cx="310896" cy="310896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5"/>
          <p:cNvSpPr txBox="1"/>
          <p:nvPr/>
        </p:nvSpPr>
        <p:spPr>
          <a:xfrm>
            <a:off x="5250485" y="160020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1" name="Google Shape;151;p5"/>
          <p:cNvSpPr txBox="1"/>
          <p:nvPr/>
        </p:nvSpPr>
        <p:spPr>
          <a:xfrm>
            <a:off x="5250485" y="1938528"/>
            <a:ext cx="168798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Noise Gate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2" name="Google Shape;152;p5"/>
          <p:cNvSpPr txBox="1"/>
          <p:nvPr/>
        </p:nvSpPr>
        <p:spPr>
          <a:xfrm>
            <a:off x="5250485" y="2267712"/>
            <a:ext cx="168798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เปิดเมื่อดังต่อเนื่อง 30 ms — เสียงคลิกคีย์บอร์ดสั้นกว่านั้นจึงไม่ผ่าน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3" name="Google Shape;153;p5"/>
          <p:cNvSpPr/>
          <p:nvPr/>
        </p:nvSpPr>
        <p:spPr>
          <a:xfrm rot="5400000">
            <a:off x="7157923" y="2075688"/>
            <a:ext cx="155448" cy="237744"/>
          </a:xfrm>
          <a:prstGeom prst="rtTriangl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5"/>
          <p:cNvSpPr/>
          <p:nvPr/>
        </p:nvSpPr>
        <p:spPr>
          <a:xfrm>
            <a:off x="7395667" y="1463040"/>
            <a:ext cx="1962302" cy="1463040"/>
          </a:xfrm>
          <a:prstGeom prst="roundRect">
            <a:avLst>
              <a:gd fmla="val 5000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5"/>
          <p:cNvSpPr/>
          <p:nvPr/>
        </p:nvSpPr>
        <p:spPr>
          <a:xfrm>
            <a:off x="7532827" y="1600200"/>
            <a:ext cx="310896" cy="310896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5"/>
          <p:cNvSpPr txBox="1"/>
          <p:nvPr/>
        </p:nvSpPr>
        <p:spPr>
          <a:xfrm>
            <a:off x="7532827" y="160020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7" name="Google Shape;157;p5"/>
          <p:cNvSpPr txBox="1"/>
          <p:nvPr/>
        </p:nvSpPr>
        <p:spPr>
          <a:xfrm>
            <a:off x="7532827" y="1938528"/>
            <a:ext cx="168798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มิเตอร์เสียง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8" name="Google Shape;158;p5"/>
          <p:cNvSpPr txBox="1"/>
          <p:nvPr/>
        </p:nvSpPr>
        <p:spPr>
          <a:xfrm>
            <a:off x="7532827" y="2267712"/>
            <a:ext cx="168798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MIC + GAME ส่งให้ Server ~10 ครั้ง/วินาที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9" name="Google Shape;159;p5"/>
          <p:cNvSpPr/>
          <p:nvPr/>
        </p:nvSpPr>
        <p:spPr>
          <a:xfrm rot="5400000">
            <a:off x="9440266" y="2075688"/>
            <a:ext cx="155448" cy="237744"/>
          </a:xfrm>
          <a:prstGeom prst="rtTriangl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5"/>
          <p:cNvSpPr/>
          <p:nvPr/>
        </p:nvSpPr>
        <p:spPr>
          <a:xfrm>
            <a:off x="9678010" y="1463040"/>
            <a:ext cx="1962302" cy="1463040"/>
          </a:xfrm>
          <a:prstGeom prst="roundRect">
            <a:avLst>
              <a:gd fmla="val 5000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5"/>
          <p:cNvSpPr/>
          <p:nvPr/>
        </p:nvSpPr>
        <p:spPr>
          <a:xfrm>
            <a:off x="9815170" y="1600200"/>
            <a:ext cx="310896" cy="310896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5"/>
          <p:cNvSpPr txBox="1"/>
          <p:nvPr/>
        </p:nvSpPr>
        <p:spPr>
          <a:xfrm>
            <a:off x="9815170" y="160020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5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3" name="Google Shape;163;p5"/>
          <p:cNvSpPr txBox="1"/>
          <p:nvPr/>
        </p:nvSpPr>
        <p:spPr>
          <a:xfrm>
            <a:off x="9815170" y="1938528"/>
            <a:ext cx="168798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ให้ผีใช้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4" name="Google Shape;164;p5"/>
          <p:cNvSpPr txBox="1"/>
          <p:nvPr/>
        </p:nvSpPr>
        <p:spPr>
          <a:xfrm>
            <a:off x="9815170" y="2267712"/>
            <a:ext cx="168798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ผีรู้ได้ว่าใคร “ดังเกินไป”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548640" y="3200400"/>
            <a:ext cx="5394960" cy="2880360"/>
          </a:xfrm>
          <a:prstGeom prst="roundRect">
            <a:avLst>
              <a:gd fmla="val 2540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5"/>
          <p:cNvSpPr txBox="1"/>
          <p:nvPr/>
        </p:nvSpPr>
        <p:spPr>
          <a:xfrm>
            <a:off x="777240" y="33375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00"/>
              <a:buFont typeface="Tahoma"/>
              <a:buNone/>
            </a:pPr>
            <a:r>
              <a:rPr b="1" i="0" lang="en-US" sz="15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มิเตอร์ 2 แถบ</a:t>
            </a:r>
            <a:endParaRPr b="0" i="0" sz="15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7" name="Google Shape;167;p5"/>
          <p:cNvSpPr txBox="1"/>
          <p:nvPr/>
        </p:nvSpPr>
        <p:spPr>
          <a:xfrm>
            <a:off x="731520" y="3840480"/>
            <a:ext cx="5029200" cy="2130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5400" wrap="square" tIns="2540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MIC: เสียงพูดจากไมค์จริง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GAME: เสียงในเกม เดิน 0.3 / วิ่ง 0.6 / วิทยุในกระเป๋า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เขียว → เหลือง → แดง พร้อมเส้นบอกระดับ “ดังเกินไป”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ลากย้ายตำแหน่งมิเตอร์บนจอได้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6245352" y="3200400"/>
            <a:ext cx="5394960" cy="2880360"/>
          </a:xfrm>
          <a:prstGeom prst="roundRect">
            <a:avLst>
              <a:gd fmla="val 2540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5"/>
          <p:cNvSpPr txBox="1"/>
          <p:nvPr/>
        </p:nvSpPr>
        <p:spPr>
          <a:xfrm>
            <a:off x="6473952" y="33375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00"/>
              <a:buFont typeface="Tahoma"/>
              <a:buNone/>
            </a:pPr>
            <a:r>
              <a:rPr b="1" i="0" lang="en-US" sz="15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หน้าตั้งค่าแบบแท็บ</a:t>
            </a:r>
            <a:endParaRPr b="0" i="0" sz="15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5"/>
          <p:cNvSpPr txBox="1"/>
          <p:nvPr/>
        </p:nvSpPr>
        <p:spPr>
          <a:xfrm>
            <a:off x="6428232" y="3840480"/>
            <a:ext cx="5029200" cy="2130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5400" wrap="square" tIns="2540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แท็บ: ทั่วไป / การแสดงผล / เสียง / ปุ่มควบคุม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เลือกไมค์, เปิด/ปิด ลดเสียงรบกวน และ Gate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ระดับ Gate ปรับได้ (ค่าเริ่มต้น −45 dB)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แผงทดสอบเสียง F8 มีเฉพาะ Development Build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5"/>
          <p:cNvSpPr txBox="1"/>
          <p:nvPr/>
        </p:nvSpPr>
        <p:spPr>
          <a:xfrm>
            <a:off x="548640" y="6263640"/>
            <a:ext cx="10607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000"/>
              <a:buFont typeface="Tahoma"/>
              <a:buNone/>
            </a:pPr>
            <a:r>
              <a:rPr b="0" i="0" lang="en-US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ไฟล์: VoiceNoiseProcessor.cs, PlayerNoise.cs, NoiseMeterHUD.cs, SettingsPanel.cs, VoiceDebugOverlay.cs</a:t>
            </a:r>
            <a:endParaRPr b="0" i="0" sz="10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2" name="Google Shape;172;p5"/>
          <p:cNvSpPr txBox="1"/>
          <p:nvPr>
            <p:ph idx="4294967295" type="sldNum"/>
          </p:nvPr>
        </p:nvSpPr>
        <p:spPr>
          <a:xfrm>
            <a:off x="11384280" y="640080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 b="0" i="0" sz="1000" u="none" cap="none" strike="noStrike">
              <a:solidFill>
                <a:srgbClr val="9A8F8B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6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2600"/>
              <a:buFont typeface="Tahoma"/>
              <a:buNone/>
            </a:pPr>
            <a:r>
              <a:rPr b="1" i="0" lang="en-US" sz="26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3. ผีแบบออนไลน์กลับมาใช้ได้ และ ผีไล่ตีคนที่ตีไม่ได้</a:t>
            </a:r>
            <a:endParaRPr b="0" i="0" sz="26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9" name="Google Shape;179;p6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1 ต.ค. — หลัง Pull ไฟล์ผีเวอร์ชันเก่า (เล่นคนเดียว) เข้ามาทับ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0" name="Google Shape;180;p6"/>
          <p:cNvSpPr/>
          <p:nvPr/>
        </p:nvSpPr>
        <p:spPr>
          <a:xfrm>
            <a:off x="548650" y="1463046"/>
            <a:ext cx="3566100" cy="2052000"/>
          </a:xfrm>
          <a:prstGeom prst="roundRect">
            <a:avLst>
              <a:gd fmla="val 2051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6"/>
          <p:cNvSpPr txBox="1"/>
          <p:nvPr/>
        </p:nvSpPr>
        <p:spPr>
          <a:xfrm>
            <a:off x="777240" y="1600200"/>
            <a:ext cx="3108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00"/>
              <a:buFont typeface="Tahoma"/>
              <a:buNone/>
            </a:pPr>
            <a:r>
              <a:rPr b="1" i="0" lang="en-US" sz="15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อาการที่เจอ (ทดสอบ 30 ก.ย.)</a:t>
            </a:r>
            <a:endParaRPr b="0" i="0" sz="15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6"/>
          <p:cNvSpPr txBox="1"/>
          <p:nvPr/>
        </p:nvSpPr>
        <p:spPr>
          <a:xfrm>
            <a:off x="731525" y="2103122"/>
            <a:ext cx="3200400" cy="12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5400" wrap="square" tIns="2540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Client เห็นผี 2 ตัว และตัวหนึ่งไม่หายไป ขวางทาง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ไฟดับแค่ฝั่ง Host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ผีไม่ทำดาเมจ และไล่แค่ Host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6"/>
          <p:cNvSpPr/>
          <p:nvPr/>
        </p:nvSpPr>
        <p:spPr>
          <a:xfrm>
            <a:off x="4315975" y="1463046"/>
            <a:ext cx="3566100" cy="2052000"/>
          </a:xfrm>
          <a:prstGeom prst="roundRect">
            <a:avLst>
              <a:gd fmla="val 2051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6"/>
          <p:cNvSpPr txBox="1"/>
          <p:nvPr/>
        </p:nvSpPr>
        <p:spPr>
          <a:xfrm>
            <a:off x="4544568" y="1600200"/>
            <a:ext cx="3108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00"/>
              <a:buFont typeface="Tahoma"/>
              <a:buNone/>
            </a:pPr>
            <a:r>
              <a:rPr b="1" i="0" lang="en-US" sz="15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วิธีแก้</a:t>
            </a:r>
            <a:endParaRPr b="0" i="0" sz="15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6"/>
          <p:cNvSpPr txBox="1"/>
          <p:nvPr/>
        </p:nvSpPr>
        <p:spPr>
          <a:xfrm>
            <a:off x="4498850" y="2103122"/>
            <a:ext cx="3200400" cy="12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5400" wrap="square" tIns="2540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กู้ระบบ Multiplayer ของผีจาก Week 4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ผีคิดบน Server เท่านั้น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ภาพ</a:t>
            </a:r>
            <a:r>
              <a:rPr lang="en-US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ตุ้งแช่</a:t>
            </a: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แสดงเฉพาะคนที่โดน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สถานะไฟเหมือนกันทุกเครื่อง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8083300" y="1463046"/>
            <a:ext cx="3557100" cy="2052000"/>
          </a:xfrm>
          <a:prstGeom prst="roundRect">
            <a:avLst>
              <a:gd fmla="val 2057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6"/>
          <p:cNvSpPr txBox="1"/>
          <p:nvPr/>
        </p:nvSpPr>
        <p:spPr>
          <a:xfrm>
            <a:off x="8311896" y="1600200"/>
            <a:ext cx="3099816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00"/>
              <a:buFont typeface="Tahoma"/>
              <a:buNone/>
            </a:pPr>
            <a:r>
              <a:rPr b="1" i="0" lang="en-US" sz="15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รวมของใหม่ของนนพัทธ์</a:t>
            </a:r>
            <a:endParaRPr b="0" i="0" sz="15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8" name="Google Shape;188;p6"/>
          <p:cNvSpPr txBox="1"/>
          <p:nvPr/>
        </p:nvSpPr>
        <p:spPr>
          <a:xfrm>
            <a:off x="8266175" y="2103125"/>
            <a:ext cx="3191400" cy="12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5400" wrap="square" tIns="2540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ในที่มืด เข้าใกล้ 3 ม. = ผีรู้ตัว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ในที่มืด เสียงดังเกินไป = ผีรู้ตัว (ทุกคน ไม่ใช่แค่คนเดียว)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9" name="Google Shape;189;p6"/>
          <p:cNvSpPr/>
          <p:nvPr/>
        </p:nvSpPr>
        <p:spPr>
          <a:xfrm>
            <a:off x="548640" y="5349240"/>
            <a:ext cx="11091672" cy="731520"/>
          </a:xfrm>
          <a:prstGeom prst="roundRect">
            <a:avLst>
              <a:gd fmla="val 10000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6"/>
          <p:cNvSpPr txBox="1"/>
          <p:nvPr/>
        </p:nvSpPr>
        <p:spPr>
          <a:xfrm>
            <a:off x="777240" y="5349240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บทเรียน: ก่อนแก้ระบบไหน ต้องดูประวัติ Git ก่อนเสมอ — ไฟล์เก่าที่ Pull เข้ามาทับ ทำให้ระบบที่เคยทำเสร็จแล้วพังได้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6"/>
          <p:cNvSpPr txBox="1"/>
          <p:nvPr/>
        </p:nvSpPr>
        <p:spPr>
          <a:xfrm>
            <a:off x="548640" y="6263640"/>
            <a:ext cx="10607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000"/>
              <a:buFont typeface="Tahoma"/>
              <a:buNone/>
            </a:pPr>
            <a:r>
              <a:rPr b="0" i="0" lang="en-US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ไฟล์: GhostManager.cs, TimedGhost.cs, Enemy_Abstract_Class.cs, PlayerRegistry.cs</a:t>
            </a:r>
            <a:endParaRPr b="0" i="0" sz="10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2" name="Google Shape;192;p6"/>
          <p:cNvSpPr txBox="1"/>
          <p:nvPr>
            <p:ph idx="4294967295" type="sldNum"/>
          </p:nvPr>
        </p:nvSpPr>
        <p:spPr>
          <a:xfrm>
            <a:off x="11384280" y="640080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 b="0" i="0" sz="1000" u="none" cap="none" strike="noStrike">
              <a:solidFill>
                <a:srgbClr val="9A8F8B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3" name="Google Shape;193;p6"/>
          <p:cNvSpPr/>
          <p:nvPr/>
        </p:nvSpPr>
        <p:spPr>
          <a:xfrm>
            <a:off x="534950" y="3697950"/>
            <a:ext cx="11091600" cy="1562400"/>
          </a:xfrm>
          <a:prstGeom prst="roundRect">
            <a:avLst>
              <a:gd fmla="val 10000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6"/>
          <p:cNvSpPr txBox="1"/>
          <p:nvPr/>
        </p:nvSpPr>
        <p:spPr>
          <a:xfrm>
            <a:off x="7699250" y="4253550"/>
            <a:ext cx="36393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7800" lvl="0" marL="17780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lang="en-US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ผีไม่ไล่คนที่หนีไปแล้ว และคนที่ล้มอยู่</a:t>
            </a:r>
            <a:endParaRPr>
              <a:solidFill>
                <a:srgbClr val="F4EFE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lang="en-US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ผีไม่เสียรอบไปกับคนที่ทำดาเมจไม่ได้</a:t>
            </a:r>
            <a:endParaRPr>
              <a:solidFill>
                <a:srgbClr val="F4EFE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5" name="Google Shape;195;p6"/>
          <p:cNvSpPr txBox="1"/>
          <p:nvPr/>
        </p:nvSpPr>
        <p:spPr>
          <a:xfrm>
            <a:off x="777275" y="3697950"/>
            <a:ext cx="3108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00"/>
              <a:buFont typeface="Tahoma"/>
              <a:buNone/>
            </a:pPr>
            <a:r>
              <a:rPr b="1" lang="en-US" sz="1500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ปัญหาเพิ่มเติมของผีที่ไม่เกี่ยวกับระบบออนไลน์</a:t>
            </a:r>
            <a:endParaRPr b="0" i="0" sz="15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6" name="Google Shape;196;p6"/>
          <p:cNvSpPr txBox="1"/>
          <p:nvPr/>
        </p:nvSpPr>
        <p:spPr>
          <a:xfrm>
            <a:off x="777250" y="4253550"/>
            <a:ext cx="36393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7800" lvl="0" marL="17780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lang="en-US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ผีไล่คนที่หนีไปแล้ว </a:t>
            </a:r>
            <a:endParaRPr>
              <a:solidFill>
                <a:srgbClr val="F4EFE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lang="en-US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ผีไล่คนที่ล้มอยู่ </a:t>
            </a:r>
            <a:endParaRPr>
              <a:solidFill>
                <a:srgbClr val="F4EFE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7" name="Google Shape;197;p6"/>
          <p:cNvSpPr txBox="1"/>
          <p:nvPr/>
        </p:nvSpPr>
        <p:spPr>
          <a:xfrm>
            <a:off x="7964450" y="3678488"/>
            <a:ext cx="3108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00"/>
              <a:buFont typeface="Tahoma"/>
              <a:buNone/>
            </a:pPr>
            <a:r>
              <a:rPr b="1" lang="en-US" sz="1500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ผลลัพหลังจากแก้แล้ว</a:t>
            </a:r>
            <a:endParaRPr b="0" i="0" sz="15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8" name="Google Shape;198;p6"/>
          <p:cNvSpPr txBox="1"/>
          <p:nvPr/>
        </p:nvSpPr>
        <p:spPr>
          <a:xfrm>
            <a:off x="4297725" y="3697938"/>
            <a:ext cx="3108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00"/>
              <a:buFont typeface="Tahoma"/>
              <a:buNone/>
            </a:pPr>
            <a:r>
              <a:rPr b="1" lang="en-US" sz="1500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วิธีแก้</a:t>
            </a:r>
            <a:endParaRPr b="0" i="0" sz="15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9" name="Google Shape;199;p6"/>
          <p:cNvSpPr txBox="1"/>
          <p:nvPr/>
        </p:nvSpPr>
        <p:spPr>
          <a:xfrm>
            <a:off x="3572075" y="4253550"/>
            <a:ext cx="36393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7800" lvl="0" marL="17780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lang="en-US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เช็ค "ยังอยู่ในรอบ" → ไม่ไล่คนที่หนีแล้ว</a:t>
            </a:r>
            <a:endParaRPr>
              <a:solidFill>
                <a:srgbClr val="F4EFE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lang="en-US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เช็ค "ล่าได้" (อยู่ในรอบ + ไม่ล้ม) → ไม่ไล่ ไม่ตบคนที่ล้ม</a:t>
            </a:r>
            <a:endParaRPr>
              <a:solidFill>
                <a:srgbClr val="F4EFE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lang="en-US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เป้าหมายล้มกลางทาง → ผีเลิกไล่ กลับไปลาดตระเวน</a:t>
            </a:r>
            <a:endParaRPr>
              <a:solidFill>
                <a:srgbClr val="F4EFE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7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2600"/>
              <a:buFont typeface="Tahoma"/>
              <a:buNone/>
            </a:pPr>
            <a:r>
              <a:rPr b="1" i="0" lang="en-US" sz="26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4. ล็อบบี้ 3 มิติ ร้านค้า และจุดฝึก</a:t>
            </a:r>
            <a:endParaRPr b="0" i="0" sz="26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06" name="Google Shape;206;p7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1 – 3 ต.ค. — ผู้เล่นมีตัวละครเดินในล็อบบี้ ก่อนเริ่มเกม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07" name="Google Shape;207;p7"/>
          <p:cNvSpPr/>
          <p:nvPr/>
        </p:nvSpPr>
        <p:spPr>
          <a:xfrm>
            <a:off x="548640" y="1463040"/>
            <a:ext cx="3566160" cy="2743200"/>
          </a:xfrm>
          <a:prstGeom prst="roundRect">
            <a:avLst>
              <a:gd fmla="val 2667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7"/>
          <p:cNvSpPr txBox="1"/>
          <p:nvPr/>
        </p:nvSpPr>
        <p:spPr>
          <a:xfrm>
            <a:off x="777240" y="1600200"/>
            <a:ext cx="3108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00"/>
              <a:buFont typeface="Tahoma"/>
              <a:buNone/>
            </a:pPr>
            <a:r>
              <a:rPr b="1" i="0" lang="en-US" sz="15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ร้านค้า</a:t>
            </a:r>
            <a:endParaRPr b="0" i="0" sz="15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09" name="Google Shape;209;p7"/>
          <p:cNvSpPr txBox="1"/>
          <p:nvPr/>
        </p:nvSpPr>
        <p:spPr>
          <a:xfrm>
            <a:off x="731520" y="2103120"/>
            <a:ext cx="3200400" cy="19933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5400" wrap="square" tIns="2540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กด E ที่เคาน์เตอร์ เปิดหน้าซื้อของ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วิทยุราคา 100 — ไม่ได้ฟรีแล้ว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ซื้อแล้วได้ของในมือทันที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หักเงินจากเซฟของตัวเอง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0" name="Google Shape;210;p7"/>
          <p:cNvSpPr/>
          <p:nvPr/>
        </p:nvSpPr>
        <p:spPr>
          <a:xfrm>
            <a:off x="4315968" y="1463040"/>
            <a:ext cx="3566160" cy="2743200"/>
          </a:xfrm>
          <a:prstGeom prst="roundRect">
            <a:avLst>
              <a:gd fmla="val 2667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7"/>
          <p:cNvSpPr txBox="1"/>
          <p:nvPr/>
        </p:nvSpPr>
        <p:spPr>
          <a:xfrm>
            <a:off x="4544568" y="1600200"/>
            <a:ext cx="3108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00"/>
              <a:buFont typeface="Tahoma"/>
              <a:buNone/>
            </a:pPr>
            <a:r>
              <a:rPr b="1" i="0" lang="en-US" sz="15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จุดฝึกมินิเกม</a:t>
            </a:r>
            <a:endParaRPr b="0" i="0" sz="15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2" name="Google Shape;212;p7"/>
          <p:cNvSpPr txBox="1"/>
          <p:nvPr/>
        </p:nvSpPr>
        <p:spPr>
          <a:xfrm>
            <a:off x="4498848" y="2103120"/>
            <a:ext cx="3200400" cy="19933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5400" wrap="square" tIns="2540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ป๊อปคอร์น + เครื่องดื่ม และขายตั๋ว ของจริงจากด่าน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ฝึกแล้วไม่ได้เงิน และไม่โดนดาเมจ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ป้ายบอกวิธีเล่นแต่ละโซน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ป้าย</a:t>
            </a:r>
            <a:r>
              <a:rPr lang="en-US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วิธีรับมือผี </a:t>
            </a: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ผีมาใกล้ กด L ปิดไฟ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3" name="Google Shape;213;p7"/>
          <p:cNvSpPr/>
          <p:nvPr/>
        </p:nvSpPr>
        <p:spPr>
          <a:xfrm>
            <a:off x="8083296" y="1463040"/>
            <a:ext cx="3557016" cy="2743200"/>
          </a:xfrm>
          <a:prstGeom prst="roundRect">
            <a:avLst>
              <a:gd fmla="val 2667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7"/>
          <p:cNvSpPr txBox="1"/>
          <p:nvPr/>
        </p:nvSpPr>
        <p:spPr>
          <a:xfrm>
            <a:off x="8311896" y="1600200"/>
            <a:ext cx="3099816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00"/>
              <a:buFont typeface="Tahoma"/>
              <a:buNone/>
            </a:pPr>
            <a:r>
              <a:rPr b="1" i="0" lang="en-US" sz="15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กระดานล็อบบี้</a:t>
            </a:r>
            <a:endParaRPr b="0" i="0" sz="15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5" name="Google Shape;215;p7"/>
          <p:cNvSpPr txBox="1"/>
          <p:nvPr/>
        </p:nvSpPr>
        <p:spPr>
          <a:xfrm>
            <a:off x="8266176" y="2103120"/>
            <a:ext cx="3191256" cy="19933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5400" wrap="square" tIns="2540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ลูกทีมกด E = Ready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Host กด E = Start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Host กด E ค้าง 1.5 วิ ที่ชื่อ = เตะ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ใช้ปุ่ม M </a:t>
            </a:r>
            <a:r>
              <a:rPr lang="en-US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เปิดหน้า Lobby ที่เป็น Flat 2D เพื่อจัดการทุกอย่างได้แบบเดียวกับกระดานล็อบบี้จากตรงไหนก็ได้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6" name="Google Shape;216;p7"/>
          <p:cNvSpPr/>
          <p:nvPr/>
        </p:nvSpPr>
        <p:spPr>
          <a:xfrm>
            <a:off x="548640" y="4434840"/>
            <a:ext cx="11091672" cy="1645920"/>
          </a:xfrm>
          <a:prstGeom prst="roundRect">
            <a:avLst>
              <a:gd fmla="val 4444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7"/>
          <p:cNvSpPr txBox="1"/>
          <p:nvPr/>
        </p:nvSpPr>
        <p:spPr>
          <a:xfrm>
            <a:off x="777240" y="4572000"/>
            <a:ext cx="1063447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00"/>
              <a:buFont typeface="Tahoma"/>
              <a:buNone/>
            </a:pPr>
            <a:r>
              <a:rPr b="1" i="0" lang="en-US" sz="15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อื่น ๆ</a:t>
            </a:r>
            <a:endParaRPr b="0" i="0" sz="15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8" name="Google Shape;218;p7"/>
          <p:cNvSpPr txBox="1"/>
          <p:nvPr/>
        </p:nvSpPr>
        <p:spPr>
          <a:xfrm>
            <a:off x="731520" y="5074920"/>
            <a:ext cx="10725912" cy="8961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5400" wrap="square" tIns="2540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ตั้งชื่อห้องได้ และค้นหาห้องด้วยชื่อใน Room Browser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คนที่ถูกเตะกลับเข้าห้องได้ · ปุ่ม Kick ในเมนู M ด้วย (กดยืนยัน 2 ครั้ง)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9" name="Google Shape;219;p7"/>
          <p:cNvSpPr txBox="1"/>
          <p:nvPr/>
        </p:nvSpPr>
        <p:spPr>
          <a:xfrm>
            <a:off x="548640" y="6263640"/>
            <a:ext cx="10607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000"/>
              <a:buFont typeface="Tahoma"/>
              <a:buNone/>
            </a:pPr>
            <a:r>
              <a:rPr b="0" i="0" lang="en-US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ไฟล์: LobbyBuilder.cs, LobbyBoard.cs, ShopTerminal.cs, ShopUI.cs, OverlayPanels.cs, RoHRoomManager.cs</a:t>
            </a:r>
            <a:endParaRPr b="0" i="0" sz="10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20" name="Google Shape;220;p7"/>
          <p:cNvSpPr txBox="1"/>
          <p:nvPr>
            <p:ph idx="4294967295" type="sldNum"/>
          </p:nvPr>
        </p:nvSpPr>
        <p:spPr>
          <a:xfrm>
            <a:off x="11384280" y="640080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 b="0" i="0" sz="1000" u="none" cap="none" strike="noStrike">
              <a:solidFill>
                <a:srgbClr val="9A8F8B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8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2600"/>
              <a:buFont typeface="Tahoma"/>
              <a:buNone/>
            </a:pPr>
            <a:r>
              <a:rPr b="1" i="0" lang="en-US" sz="26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5. กฎของไอเทมและเซฟ</a:t>
            </a:r>
            <a:endParaRPr b="0" i="0" sz="26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27" name="Google Shape;227;p8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2 – 3 ต.ค. — ของมีค่า ต้องเสียได้ และส่งต่อให้เพื่อนได้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28" name="Google Shape;228;p8"/>
          <p:cNvSpPr/>
          <p:nvPr/>
        </p:nvSpPr>
        <p:spPr>
          <a:xfrm>
            <a:off x="548640" y="1463040"/>
            <a:ext cx="2532888" cy="1325880"/>
          </a:xfrm>
          <a:prstGeom prst="roundRect">
            <a:avLst>
              <a:gd fmla="val 5517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8"/>
          <p:cNvSpPr/>
          <p:nvPr/>
        </p:nvSpPr>
        <p:spPr>
          <a:xfrm>
            <a:off x="685800" y="1600200"/>
            <a:ext cx="310896" cy="310896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8"/>
          <p:cNvSpPr txBox="1"/>
          <p:nvPr/>
        </p:nvSpPr>
        <p:spPr>
          <a:xfrm>
            <a:off x="685800" y="160020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31" name="Google Shape;231;p8"/>
          <p:cNvSpPr txBox="1"/>
          <p:nvPr/>
        </p:nvSpPr>
        <p:spPr>
          <a:xfrm>
            <a:off x="685800" y="1938528"/>
            <a:ext cx="225856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ซื้อในล็อบบี้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32" name="Google Shape;232;p8"/>
          <p:cNvSpPr txBox="1"/>
          <p:nvPr/>
        </p:nvSpPr>
        <p:spPr>
          <a:xfrm>
            <a:off x="685800" y="2267712"/>
            <a:ext cx="225856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ไอเทมถาวร 1 ชิ้นต่อชนิดในเซฟ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33" name="Google Shape;233;p8"/>
          <p:cNvSpPr/>
          <p:nvPr/>
        </p:nvSpPr>
        <p:spPr>
          <a:xfrm rot="5400000">
            <a:off x="3163824" y="2007108"/>
            <a:ext cx="155448" cy="237744"/>
          </a:xfrm>
          <a:prstGeom prst="rtTriangl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8"/>
          <p:cNvSpPr/>
          <p:nvPr/>
        </p:nvSpPr>
        <p:spPr>
          <a:xfrm>
            <a:off x="3401568" y="1463040"/>
            <a:ext cx="2532888" cy="1325880"/>
          </a:xfrm>
          <a:prstGeom prst="roundRect">
            <a:avLst>
              <a:gd fmla="val 5517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8"/>
          <p:cNvSpPr/>
          <p:nvPr/>
        </p:nvSpPr>
        <p:spPr>
          <a:xfrm>
            <a:off x="3538728" y="1600200"/>
            <a:ext cx="310896" cy="310896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8"/>
          <p:cNvSpPr txBox="1"/>
          <p:nvPr/>
        </p:nvSpPr>
        <p:spPr>
          <a:xfrm>
            <a:off x="3538728" y="160020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37" name="Google Shape;237;p8"/>
          <p:cNvSpPr txBox="1"/>
          <p:nvPr/>
        </p:nvSpPr>
        <p:spPr>
          <a:xfrm>
            <a:off x="3538728" y="1938528"/>
            <a:ext cx="225856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พาเข้าด่าน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38" name="Google Shape;238;p8"/>
          <p:cNvSpPr txBox="1"/>
          <p:nvPr/>
        </p:nvSpPr>
        <p:spPr>
          <a:xfrm>
            <a:off x="3538728" y="2267712"/>
            <a:ext cx="225856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เริ่มด่านด้วยของไม่ซ้ำ (สูงสุด 1 ชิ้น/ชนิด)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39" name="Google Shape;239;p8"/>
          <p:cNvSpPr/>
          <p:nvPr/>
        </p:nvSpPr>
        <p:spPr>
          <a:xfrm rot="5400000">
            <a:off x="6016752" y="2007108"/>
            <a:ext cx="155448" cy="237744"/>
          </a:xfrm>
          <a:prstGeom prst="rtTriangl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8"/>
          <p:cNvSpPr/>
          <p:nvPr/>
        </p:nvSpPr>
        <p:spPr>
          <a:xfrm>
            <a:off x="6254496" y="1463040"/>
            <a:ext cx="2532888" cy="1325880"/>
          </a:xfrm>
          <a:prstGeom prst="roundRect">
            <a:avLst>
              <a:gd fmla="val 5517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8"/>
          <p:cNvSpPr/>
          <p:nvPr/>
        </p:nvSpPr>
        <p:spPr>
          <a:xfrm>
            <a:off x="6391656" y="1600200"/>
            <a:ext cx="310896" cy="310896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8"/>
          <p:cNvSpPr txBox="1"/>
          <p:nvPr/>
        </p:nvSpPr>
        <p:spPr>
          <a:xfrm>
            <a:off x="6391656" y="160020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43" name="Google Shape;243;p8"/>
          <p:cNvSpPr txBox="1"/>
          <p:nvPr/>
        </p:nvSpPr>
        <p:spPr>
          <a:xfrm>
            <a:off x="6391656" y="1938528"/>
            <a:ext cx="225856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ตาย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44" name="Google Shape;244;p8"/>
          <p:cNvSpPr txBox="1"/>
          <p:nvPr/>
        </p:nvSpPr>
        <p:spPr>
          <a:xfrm>
            <a:off x="6391656" y="2267712"/>
            <a:ext cx="225856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ของทุกชิ้นตกที่พื้น เพื่อนเก็บได้ — เราเสียของ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45" name="Google Shape;245;p8"/>
          <p:cNvSpPr/>
          <p:nvPr/>
        </p:nvSpPr>
        <p:spPr>
          <a:xfrm rot="5400000">
            <a:off x="8869680" y="2007108"/>
            <a:ext cx="155448" cy="237744"/>
          </a:xfrm>
          <a:prstGeom prst="rtTriangl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8"/>
          <p:cNvSpPr/>
          <p:nvPr/>
        </p:nvSpPr>
        <p:spPr>
          <a:xfrm>
            <a:off x="9107424" y="1463040"/>
            <a:ext cx="2532888" cy="1325880"/>
          </a:xfrm>
          <a:prstGeom prst="roundRect">
            <a:avLst>
              <a:gd fmla="val 5517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8"/>
          <p:cNvSpPr/>
          <p:nvPr/>
        </p:nvSpPr>
        <p:spPr>
          <a:xfrm>
            <a:off x="9244584" y="1600200"/>
            <a:ext cx="310896" cy="310896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8"/>
          <p:cNvSpPr txBox="1"/>
          <p:nvPr/>
        </p:nvSpPr>
        <p:spPr>
          <a:xfrm>
            <a:off x="9244584" y="160020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49" name="Google Shape;249;p8"/>
          <p:cNvSpPr txBox="1"/>
          <p:nvPr/>
        </p:nvSpPr>
        <p:spPr>
          <a:xfrm>
            <a:off x="9244584" y="1938528"/>
            <a:ext cx="225856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รอด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50" name="Google Shape;250;p8"/>
          <p:cNvSpPr txBox="1"/>
          <p:nvPr/>
        </p:nvSpPr>
        <p:spPr>
          <a:xfrm>
            <a:off x="9244584" y="2267712"/>
            <a:ext cx="225856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ของที่ถือออกมา = ของเรา (เก็บของเพื่อนได้)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548640" y="3017520"/>
            <a:ext cx="5394960" cy="3063240"/>
          </a:xfrm>
          <a:prstGeom prst="roundRect">
            <a:avLst>
              <a:gd fmla="val 2388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8"/>
          <p:cNvSpPr txBox="1"/>
          <p:nvPr/>
        </p:nvSpPr>
        <p:spPr>
          <a:xfrm>
            <a:off x="777240" y="315468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00"/>
              <a:buFont typeface="Tahoma"/>
              <a:buNone/>
            </a:pPr>
            <a:r>
              <a:rPr b="1" i="0" lang="en-US" sz="15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สำเนาสำรอง (Spare)</a:t>
            </a:r>
            <a:endParaRPr b="0" i="0" sz="15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53" name="Google Shape;253;p8"/>
          <p:cNvSpPr txBox="1"/>
          <p:nvPr/>
        </p:nvSpPr>
        <p:spPr>
          <a:xfrm>
            <a:off x="731520" y="3657600"/>
            <a:ext cx="5029200" cy="23134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5400" wrap="square" tIns="2540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ถือของซ้ำได้ ชิ้นที่ 2 เป็น SPARE ใช้ไม่ได้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มีไว้กด Q ทิ้งให้เพื่อนอย่างเดียว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กลับล็อบบี้แล้ว Spare ยังอยู่ ส่งคืนเพื่อนได้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เริ่มด่านใหม่ = เหลือ 1 ชิ้นต่อชนิด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54" name="Google Shape;254;p8"/>
          <p:cNvSpPr/>
          <p:nvPr/>
        </p:nvSpPr>
        <p:spPr>
          <a:xfrm>
            <a:off x="6245352" y="3017520"/>
            <a:ext cx="5394960" cy="3063240"/>
          </a:xfrm>
          <a:prstGeom prst="roundRect">
            <a:avLst>
              <a:gd fmla="val 2388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8"/>
          <p:cNvSpPr txBox="1"/>
          <p:nvPr/>
        </p:nvSpPr>
        <p:spPr>
          <a:xfrm>
            <a:off x="6473952" y="315468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00"/>
              <a:buFont typeface="Tahoma"/>
              <a:buNone/>
            </a:pPr>
            <a:r>
              <a:rPr b="1" i="0" lang="en-US" sz="15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ปิดช่องโหว่ (3 ต.ค.)</a:t>
            </a:r>
            <a:endParaRPr b="0" i="0" sz="15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56" name="Google Shape;256;p8"/>
          <p:cNvSpPr txBox="1"/>
          <p:nvPr/>
        </p:nvSpPr>
        <p:spPr>
          <a:xfrm>
            <a:off x="6428232" y="3657600"/>
            <a:ext cx="5029200" cy="23134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5400" wrap="square" tIns="2540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กด Leave / Alt-F4 กลางด่าน = เหมือนตาย เสียของที่พามา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ของของคนที่ออก ตกที่พื้นให้เพื่อนเก็บ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Host ออก / เน็ตหลุด / เกมเด้ง = ไม่เสียของ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ซื้อของที่ถืออยู่แล้วไม่ได้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57" name="Google Shape;257;p8"/>
          <p:cNvSpPr txBox="1"/>
          <p:nvPr/>
        </p:nvSpPr>
        <p:spPr>
          <a:xfrm>
            <a:off x="548640" y="6263640"/>
            <a:ext cx="10607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000"/>
              <a:buFont typeface="Tahoma"/>
              <a:buNone/>
            </a:pPr>
            <a:r>
              <a:rPr b="0" i="0" lang="en-US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ไฟล์: PlayerInventory.cs, PlayerItemThrow.cs, MatchResultsUI.cs, RoHRoomManager.cs, ShopUI.cs</a:t>
            </a:r>
            <a:endParaRPr b="0" i="0" sz="10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58" name="Google Shape;258;p8"/>
          <p:cNvSpPr txBox="1"/>
          <p:nvPr>
            <p:ph idx="4294967295" type="sldNum"/>
          </p:nvPr>
        </p:nvSpPr>
        <p:spPr>
          <a:xfrm>
            <a:off x="11384280" y="640080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 b="0" i="0" sz="1000" u="none" cap="none" strike="noStrike">
              <a:solidFill>
                <a:srgbClr val="9A8F8B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9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2600"/>
              <a:buFont typeface="Tahoma"/>
              <a:buNone/>
            </a:pPr>
            <a:r>
              <a:rPr b="1" i="0" lang="en-US" sz="26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6. เครื่องมือสำหรับทดสอบ</a:t>
            </a:r>
            <a:endParaRPr b="0" i="0" sz="26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5" name="Google Shape;265;p9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2 – 3 ต.ค. — มีเฉพาะใน Development Build ไม่มีในตัวเกมจริง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6" name="Google Shape;266;p9"/>
          <p:cNvSpPr/>
          <p:nvPr/>
        </p:nvSpPr>
        <p:spPr>
          <a:xfrm>
            <a:off x="548640" y="1463040"/>
            <a:ext cx="5394960" cy="4617720"/>
          </a:xfrm>
          <a:prstGeom prst="roundRect">
            <a:avLst>
              <a:gd fmla="val 1584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9"/>
          <p:cNvSpPr txBox="1"/>
          <p:nvPr/>
        </p:nvSpPr>
        <p:spPr>
          <a:xfrm>
            <a:off x="777240" y="160020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00"/>
              <a:buFont typeface="Tahoma"/>
              <a:buNone/>
            </a:pPr>
            <a:r>
              <a:rPr b="1" i="0" lang="en-US" sz="15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แผงโกง (กด F1)</a:t>
            </a:r>
            <a:endParaRPr b="0" i="0" sz="15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8" name="Google Shape;268;p9"/>
          <p:cNvSpPr txBox="1"/>
          <p:nvPr/>
        </p:nvSpPr>
        <p:spPr>
          <a:xfrm>
            <a:off x="731520" y="2103120"/>
            <a:ext cx="5029200" cy="3867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5400" wrap="square" tIns="2540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เงิน +100 / +1000, รีเซ็ตเซฟ, ให้วิทยุ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อมตะ, เติมเลือด, ล้ม, ตาย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บินทะลุกำแพง (Noclip)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เวลา +1 ชม., ทำบอร์ดครบ, เปิดประตูทันที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เปิด/ปิดไฟ, หยุดผี, วาร์ปไปหาผี, เห็นตำแหน่งผี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คำสั่งที่กระทบทุกคน ส่งให้ Server ตัดสิน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ใช้คำสั่งฝั่ง Server ได้เมื่อ Host เป็น Development Build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9" name="Google Shape;269;p9"/>
          <p:cNvSpPr/>
          <p:nvPr/>
        </p:nvSpPr>
        <p:spPr>
          <a:xfrm>
            <a:off x="6245352" y="1463040"/>
            <a:ext cx="5394960" cy="4617720"/>
          </a:xfrm>
          <a:prstGeom prst="roundRect">
            <a:avLst>
              <a:gd fmla="val 1584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9"/>
          <p:cNvSpPr txBox="1"/>
          <p:nvPr/>
        </p:nvSpPr>
        <p:spPr>
          <a:xfrm>
            <a:off x="6473952" y="160020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00"/>
              <a:buFont typeface="Tahoma"/>
              <a:buNone/>
            </a:pPr>
            <a:r>
              <a:rPr b="1" i="0" lang="en-US" sz="15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โหมด Spectate</a:t>
            </a:r>
            <a:endParaRPr b="0" i="0" sz="15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1" name="Google Shape;271;p9"/>
          <p:cNvSpPr txBox="1"/>
          <p:nvPr/>
        </p:nvSpPr>
        <p:spPr>
          <a:xfrm>
            <a:off x="6428232" y="2103120"/>
            <a:ext cx="5029200" cy="3867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5400" wrap="square" tIns="2540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ปุ่ม Spectate ใน Room Browser เข้าดูห้องได้แม้ห้องเต็มหรือกำลังเล่น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ไม่มีตัวละคร ไม่มีใครเห็น ผีไม่สนใจ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บินอิสระ หรือกด E / Q ตามผู้เล่น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กล้องตามผู้เล่นเองหลังเปลี่ยนฉาก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กดเมาส์ซ้ายค้างพูด: ผู้เล่นใกล้ ๆ ได้ยินแบบ 3D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ห้อง 6 คนรับ Spectate เพิ่มได้ 3 คน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9"/>
          <p:cNvSpPr txBox="1"/>
          <p:nvPr/>
        </p:nvSpPr>
        <p:spPr>
          <a:xfrm>
            <a:off x="548640" y="6263640"/>
            <a:ext cx="10607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000"/>
              <a:buFont typeface="Tahoma"/>
              <a:buNone/>
            </a:pPr>
            <a:r>
              <a:rPr b="0" i="0" lang="en-US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ไฟล์: DevCheatPanel.cs, DevSpectatorCamera.cs, SpectatorSession.cs, RoomPasswordAuthenticator.cs, VoiceNetwork.cs</a:t>
            </a:r>
            <a:endParaRPr b="0" i="0" sz="10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3" name="Google Shape;273;p9"/>
          <p:cNvSpPr txBox="1"/>
          <p:nvPr>
            <p:ph idx="4294967295" type="sldNum"/>
          </p:nvPr>
        </p:nvSpPr>
        <p:spPr>
          <a:xfrm>
            <a:off x="11384280" y="640080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 b="0" i="0" sz="1000" u="none" cap="none" strike="noStrike">
              <a:solidFill>
                <a:srgbClr val="9A8F8B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0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2600"/>
              <a:buFont typeface="Tahoma"/>
              <a:buNone/>
            </a:pPr>
            <a:r>
              <a:rPr b="1" i="0" lang="en-US" sz="26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บั๊กใหญ่ของสัปดาห์: ไมค์ทำเกมกระตุก</a:t>
            </a:r>
            <a:endParaRPr b="0" i="0" sz="26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80" name="Google Shape;280;p10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lang="en-US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เ</a:t>
            </a:r>
            <a:r>
              <a:rPr b="0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ป็น Major Bug — เจอตอนตรวจโค้ดทั้งโปรเจค 2 ต.ค. แก้แล้ว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81" name="Google Shape;281;p10"/>
          <p:cNvSpPr/>
          <p:nvPr/>
        </p:nvSpPr>
        <p:spPr>
          <a:xfrm>
            <a:off x="548640" y="1463040"/>
            <a:ext cx="3566160" cy="3017520"/>
          </a:xfrm>
          <a:prstGeom prst="roundRect">
            <a:avLst>
              <a:gd fmla="val 2424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0"/>
          <p:cNvSpPr txBox="1"/>
          <p:nvPr/>
        </p:nvSpPr>
        <p:spPr>
          <a:xfrm>
            <a:off x="777240" y="1600200"/>
            <a:ext cx="3108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00"/>
              <a:buFont typeface="Tahoma"/>
              <a:buNone/>
            </a:pPr>
            <a:r>
              <a:rPr b="1" i="0" lang="en-US" sz="15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ผู้เล่นเจออะไร</a:t>
            </a:r>
            <a:endParaRPr b="0" i="0" sz="15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83" name="Google Shape;283;p10"/>
          <p:cNvSpPr txBox="1"/>
          <p:nvPr/>
        </p:nvSpPr>
        <p:spPr>
          <a:xfrm>
            <a:off x="731520" y="2103120"/>
            <a:ext cx="3200400" cy="22677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5400" wrap="square" tIns="2540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ไม่มีไมค์ / ไมค์ถูก Windows บล็อก / แอปอื่นใช้ไมค์อยู่ → เกมกระตุกทั้งด่าน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มีไมค์ปกติก็ยังสะดุดเป็นพัก ๆ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84" name="Google Shape;284;p10"/>
          <p:cNvSpPr/>
          <p:nvPr/>
        </p:nvSpPr>
        <p:spPr>
          <a:xfrm>
            <a:off x="4315968" y="1463040"/>
            <a:ext cx="3566160" cy="3017520"/>
          </a:xfrm>
          <a:prstGeom prst="roundRect">
            <a:avLst>
              <a:gd fmla="val 2424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10"/>
          <p:cNvSpPr txBox="1"/>
          <p:nvPr/>
        </p:nvSpPr>
        <p:spPr>
          <a:xfrm>
            <a:off x="4544568" y="1600200"/>
            <a:ext cx="3108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00"/>
              <a:buFont typeface="Tahoma"/>
              <a:buNone/>
            </a:pPr>
            <a:r>
              <a:rPr b="1" i="0" lang="en-US" sz="15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สาเหตุ</a:t>
            </a:r>
            <a:endParaRPr b="0" i="0" sz="15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86" name="Google Shape;286;p10"/>
          <p:cNvSpPr txBox="1"/>
          <p:nvPr/>
        </p:nvSpPr>
        <p:spPr>
          <a:xfrm>
            <a:off x="4498848" y="2103120"/>
            <a:ext cx="3200400" cy="22677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5400" wrap="square" tIns="2540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เปิดไมค์ไม่ติด → ลองใหม่ทุกเฟรม (60+ ครั้ง/วินาที) และถาม Windows ทุกครั้ง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อ่านไมค์ทีไรสร้าง Array ใหม่ ~190 KB/วินาที → Garbage Collector หยุดเกม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87" name="Google Shape;287;p10"/>
          <p:cNvSpPr/>
          <p:nvPr/>
        </p:nvSpPr>
        <p:spPr>
          <a:xfrm>
            <a:off x="8083296" y="1463040"/>
            <a:ext cx="3557016" cy="3017520"/>
          </a:xfrm>
          <a:prstGeom prst="roundRect">
            <a:avLst>
              <a:gd fmla="val 2424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10"/>
          <p:cNvSpPr txBox="1"/>
          <p:nvPr/>
        </p:nvSpPr>
        <p:spPr>
          <a:xfrm>
            <a:off x="8311896" y="1600200"/>
            <a:ext cx="3099816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00"/>
              <a:buFont typeface="Tahoma"/>
              <a:buNone/>
            </a:pPr>
            <a:r>
              <a:rPr b="1" i="0" lang="en-US" sz="15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วิธีแก้</a:t>
            </a:r>
            <a:endParaRPr b="0" i="0" sz="15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89" name="Google Shape;289;p10"/>
          <p:cNvSpPr txBox="1"/>
          <p:nvPr/>
        </p:nvSpPr>
        <p:spPr>
          <a:xfrm>
            <a:off x="8266176" y="2103120"/>
            <a:ext cx="3191256" cy="22677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5400" wrap="square" tIns="2540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ลองเปิดไมค์ใหม่ทุก 3 วินาที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อ่านไมค์ทีละ 256 ค่า ใช้ Buffer เดิมซ้ำ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Char char="•"/>
            </a:pPr>
            <a:r>
              <a:rPr b="0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ผล: ขยะหน่วยความจำ 0 byte ต่อเฟรม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90" name="Google Shape;290;p10"/>
          <p:cNvSpPr/>
          <p:nvPr/>
        </p:nvSpPr>
        <p:spPr>
          <a:xfrm>
            <a:off x="548640" y="4709160"/>
            <a:ext cx="5408676" cy="1234440"/>
          </a:xfrm>
          <a:prstGeom prst="roundRect">
            <a:avLst>
              <a:gd fmla="val 5926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10"/>
          <p:cNvSpPr txBox="1"/>
          <p:nvPr/>
        </p:nvSpPr>
        <p:spPr>
          <a:xfrm>
            <a:off x="548640" y="4818888"/>
            <a:ext cx="540867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3400"/>
              <a:buFont typeface="Tahoma"/>
              <a:buNone/>
            </a:pPr>
            <a:r>
              <a:rPr b="1" i="0" lang="en-US" sz="3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60+ → 0.33</a:t>
            </a:r>
            <a:endParaRPr b="0" i="0" sz="3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92" name="Google Shape;292;p10"/>
          <p:cNvSpPr txBox="1"/>
          <p:nvPr/>
        </p:nvSpPr>
        <p:spPr>
          <a:xfrm>
            <a:off x="640080" y="5458968"/>
            <a:ext cx="52257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ครั้งที่ลองเปิดไมค์ / วินาที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93" name="Google Shape;293;p10"/>
          <p:cNvSpPr/>
          <p:nvPr/>
        </p:nvSpPr>
        <p:spPr>
          <a:xfrm>
            <a:off x="6231636" y="4709160"/>
            <a:ext cx="5408676" cy="1234440"/>
          </a:xfrm>
          <a:prstGeom prst="roundRect">
            <a:avLst>
              <a:gd fmla="val 5926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10"/>
          <p:cNvSpPr txBox="1"/>
          <p:nvPr/>
        </p:nvSpPr>
        <p:spPr>
          <a:xfrm>
            <a:off x="6231636" y="4818888"/>
            <a:ext cx="540867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3400"/>
              <a:buFont typeface="Tahoma"/>
              <a:buNone/>
            </a:pPr>
            <a:r>
              <a:rPr b="1" i="0" lang="en-US" sz="3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~190 KB → 0</a:t>
            </a:r>
            <a:endParaRPr b="0" i="0" sz="3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95" name="Google Shape;295;p10"/>
          <p:cNvSpPr txBox="1"/>
          <p:nvPr/>
        </p:nvSpPr>
        <p:spPr>
          <a:xfrm>
            <a:off x="6323076" y="5458968"/>
            <a:ext cx="52257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ขยะหน่วยความจำ / วินาที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96" name="Google Shape;296;p10"/>
          <p:cNvSpPr txBox="1"/>
          <p:nvPr>
            <p:ph idx="4294967295" type="sldNum"/>
          </p:nvPr>
        </p:nvSpPr>
        <p:spPr>
          <a:xfrm>
            <a:off x="11384280" y="640080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 b="0" i="0" sz="1000" u="none" cap="none" strike="noStrike">
              <a:solidFill>
                <a:srgbClr val="9A8F8B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1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2600"/>
              <a:buFont typeface="Tahoma"/>
              <a:buNone/>
            </a:pPr>
            <a:r>
              <a:rPr b="1" i="0" lang="en-US" sz="26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ปัญหาอื่นที่เจอและวิธีแก้</a:t>
            </a:r>
            <a:endParaRPr b="0" i="0" sz="26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03" name="Google Shape;303;p1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หาสาเหตุให้เจอก่อน แล้วค่อยแก้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aphicFrame>
        <p:nvGraphicFramePr>
          <p:cNvPr id="304" name="Google Shape;304;p11"/>
          <p:cNvGraphicFramePr/>
          <p:nvPr/>
        </p:nvGraphicFramePr>
        <p:xfrm>
          <a:off x="548640" y="146304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{9E713164-73C3-4A30-BE1E-F03A6927C0B5}</a:tableStyleId>
              </a:tblPr>
              <a:tblGrid>
                <a:gridCol w="3931925"/>
                <a:gridCol w="3566150"/>
                <a:gridCol w="3593600"/>
              </a:tblGrid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9A441"/>
                        </a:buClr>
                        <a:buSzPts val="1400"/>
                        <a:buFont typeface="Tahoma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9A44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ปัญหา</a:t>
                      </a:r>
                      <a:endParaRPr sz="140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C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9A441"/>
                        </a:buClr>
                        <a:buSzPts val="1400"/>
                        <a:buFont typeface="Tahoma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9A44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สาเหตุ</a:t>
                      </a:r>
                      <a:endParaRPr sz="140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C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9A441"/>
                        </a:buClr>
                        <a:buSzPts val="1400"/>
                        <a:buFont typeface="Tahoma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D9A44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วิธีแก้</a:t>
                      </a:r>
                      <a:endParaRPr sz="140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1C1A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4EFED"/>
                        </a:buClr>
                        <a:buSzPts val="1400"/>
                        <a:buFont typeface="Tahoma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4EFED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ถูกเตะแล้วตัวละครค้าง เข้าใหม่มีผู้เล่นซ้ำ</a:t>
                      </a:r>
                      <a:endParaRPr sz="140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10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8F8B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u="none" cap="none" strike="noStrike">
                          <a:solidFill>
                            <a:srgbClr val="9A8F8B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EOS ตัดการเชื่อมต่อแต่ไม่แจ้ง Mirror</a:t>
                      </a:r>
                      <a:endParaRPr sz="140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10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8F8B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u="none" cap="none" strike="noStrike">
                          <a:solidFill>
                            <a:srgbClr val="9A8F8B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แก้ EOS Transport ให้แจ้ง Mirror ทุกครั้ง</a:t>
                      </a:r>
                      <a:endParaRPr sz="140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10F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4EFED"/>
                        </a:buClr>
                        <a:buSzPts val="1400"/>
                        <a:buFont typeface="Tahoma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4EFED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Spectate มองไม่เห็นผู้เล่น แต่ได้ยินเสียง</a:t>
                      </a:r>
                      <a:endParaRPr sz="140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10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8F8B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u="none" cap="none" strike="noStrike">
                          <a:solidFill>
                            <a:srgbClr val="9A8F8B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Mirror ส่งของในฉากให้เฉพาะคนที่มีตัวละคร</a:t>
                      </a:r>
                      <a:endParaRPr sz="140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10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8F8B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u="none" cap="none" strike="noStrike">
                          <a:solidFill>
                            <a:srgbClr val="9A8F8B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ส่งของทั้งหมดให้ Spectate ตอนโหลดฉากเสร็จ</a:t>
                      </a:r>
                      <a:endParaRPr sz="140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10F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4EFED"/>
                        </a:buClr>
                        <a:buSzPts val="1400"/>
                        <a:buFont typeface="Tahoma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4EFED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ร่างคนที่หนีแล้วตกทะลุพื้น</a:t>
                      </a:r>
                      <a:endParaRPr sz="140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10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8F8B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u="none" cap="none" strike="noStrike">
                          <a:solidFill>
                            <a:srgbClr val="9A8F8B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ปิด Collider ของร่างที่ยังมีแรงโน้มถ่วง</a:t>
                      </a:r>
                      <a:endParaRPr sz="140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10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8F8B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u="none" cap="none" strike="noStrike">
                          <a:solidFill>
                            <a:srgbClr val="9A8F8B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หยุดร่างไว้กับที่แทน</a:t>
                      </a:r>
                      <a:endParaRPr sz="140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10F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4EFED"/>
                        </a:buClr>
                        <a:buSzPts val="1400"/>
                        <a:buFont typeface="Tahoma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4EFED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ผีตบคนที่ล้ม ไม่มีดาเมจ เสียรอบผีฟรี</a:t>
                      </a:r>
                      <a:endParaRPr sz="140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10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8F8B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u="none" cap="none" strike="noStrike">
                          <a:solidFill>
                            <a:srgbClr val="9A8F8B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ผีเช็คแค่คนตาย ไม่เช็คคนล้ม</a:t>
                      </a:r>
                      <a:endParaRPr sz="140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10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8F8B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u="none" cap="none" strike="noStrike">
                          <a:solidFill>
                            <a:srgbClr val="9A8F8B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ผีไม่ไล่ / ไม่ตบคนที่ล้ม</a:t>
                      </a:r>
                      <a:endParaRPr sz="140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10F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4EFED"/>
                        </a:buClr>
                        <a:buSzPts val="1400"/>
                        <a:buFont typeface="Tahoma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4EFED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Host กด Start ตอนเพื่อนยังโหลดไม่เสร็จ เพื่อนหลุด</a:t>
                      </a:r>
                      <a:endParaRPr sz="140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10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8F8B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u="none" cap="none" strike="noStrike">
                          <a:solidFill>
                            <a:srgbClr val="9A8F8B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เช็คแค่คนที่มีที่นั่งแล้ว</a:t>
                      </a:r>
                      <a:endParaRPr sz="140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10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8F8B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u="none" cap="none" strike="noStrike">
                          <a:solidFill>
                            <a:srgbClr val="9A8F8B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รอทุกคนโหลดเสร็จก่อนถึงเริ่มได้</a:t>
                      </a:r>
                      <a:endParaRPr sz="140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A2F2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10F"/>
                    </a:solidFill>
                  </a:tcPr>
                </a:tc>
              </a:tr>
            </a:tbl>
          </a:graphicData>
        </a:graphic>
      </p:graphicFrame>
      <p:sp>
        <p:nvSpPr>
          <p:cNvPr id="305" name="Google Shape;305;p11"/>
          <p:cNvSpPr txBox="1"/>
          <p:nvPr>
            <p:ph idx="4294967295" type="sldNum"/>
          </p:nvPr>
        </p:nvSpPr>
        <p:spPr>
          <a:xfrm>
            <a:off x="11384280" y="640080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 b="0" i="0" sz="1000" u="none" cap="none" strike="noStrike">
              <a:solidFill>
                <a:srgbClr val="9A8F8B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12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2600"/>
              <a:buFont typeface="Tahoma"/>
              <a:buNone/>
            </a:pPr>
            <a:r>
              <a:rPr b="1" i="0" lang="en-US" sz="26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Commit ของผมสัปดาห์นี้</a:t>
            </a:r>
            <a:endParaRPr b="0" i="0" sz="26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12" name="Google Shape;312;p12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28 กันยายน – 4 ตุลาคม 2026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13" name="Google Shape;313;p12"/>
          <p:cNvSpPr/>
          <p:nvPr/>
        </p:nvSpPr>
        <p:spPr>
          <a:xfrm>
            <a:off x="548640" y="1417320"/>
            <a:ext cx="5440680" cy="402336"/>
          </a:xfrm>
          <a:prstGeom prst="roundRect">
            <a:avLst>
              <a:gd fmla="val 18182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2"/>
          <p:cNvSpPr txBox="1"/>
          <p:nvPr/>
        </p:nvSpPr>
        <p:spPr>
          <a:xfrm>
            <a:off x="685800" y="1417320"/>
            <a:ext cx="82296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100"/>
              <a:buFont typeface="Tahoma"/>
              <a:buNone/>
            </a:pPr>
            <a:r>
              <a:rPr b="1" i="0" lang="en-US" sz="11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29 ก.ย.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15" name="Google Shape;315;p12"/>
          <p:cNvSpPr txBox="1"/>
          <p:nvPr/>
        </p:nvSpPr>
        <p:spPr>
          <a:xfrm>
            <a:off x="1508760" y="1417320"/>
            <a:ext cx="43891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เสียง: มิเตอร์เสียง, ลดเสียงรบกวน + Gate, ตั้งค่าแบบแท็บ, F8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16" name="Google Shape;316;p12"/>
          <p:cNvSpPr/>
          <p:nvPr/>
        </p:nvSpPr>
        <p:spPr>
          <a:xfrm>
            <a:off x="548640" y="1892808"/>
            <a:ext cx="5440680" cy="402336"/>
          </a:xfrm>
          <a:prstGeom prst="roundRect">
            <a:avLst>
              <a:gd fmla="val 18182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12"/>
          <p:cNvSpPr txBox="1"/>
          <p:nvPr/>
        </p:nvSpPr>
        <p:spPr>
          <a:xfrm>
            <a:off x="685800" y="1892808"/>
            <a:ext cx="82296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100"/>
              <a:buFont typeface="Tahoma"/>
              <a:buNone/>
            </a:pPr>
            <a:r>
              <a:rPr b="1" i="0" lang="en-US" sz="11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29 ก.ย.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18" name="Google Shape;318;p12"/>
          <p:cNvSpPr txBox="1"/>
          <p:nvPr/>
        </p:nvSpPr>
        <p:spPr>
          <a:xfrm>
            <a:off x="1508760" y="1892808"/>
            <a:ext cx="43891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ปรับเสียงรบกวน: Gate −45 dB, แถบ MIC +8 dB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19" name="Google Shape;319;p12"/>
          <p:cNvSpPr/>
          <p:nvPr/>
        </p:nvSpPr>
        <p:spPr>
          <a:xfrm>
            <a:off x="548640" y="2368296"/>
            <a:ext cx="5440680" cy="402336"/>
          </a:xfrm>
          <a:prstGeom prst="roundRect">
            <a:avLst>
              <a:gd fmla="val 18182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2"/>
          <p:cNvSpPr txBox="1"/>
          <p:nvPr/>
        </p:nvSpPr>
        <p:spPr>
          <a:xfrm>
            <a:off x="685800" y="2368296"/>
            <a:ext cx="82296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100"/>
              <a:buFont typeface="Tahoma"/>
              <a:buNone/>
            </a:pPr>
            <a:r>
              <a:rPr b="1" i="0" lang="en-US" sz="11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29 ก.ย.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21" name="Google Shape;321;p12"/>
          <p:cNvSpPr txBox="1"/>
          <p:nvPr/>
        </p:nvSpPr>
        <p:spPr>
          <a:xfrm>
            <a:off x="1508760" y="2368296"/>
            <a:ext cx="43891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Prototype gameplay loop and match flow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22" name="Google Shape;322;p12"/>
          <p:cNvSpPr/>
          <p:nvPr/>
        </p:nvSpPr>
        <p:spPr>
          <a:xfrm>
            <a:off x="548640" y="2843784"/>
            <a:ext cx="5440680" cy="402336"/>
          </a:xfrm>
          <a:prstGeom prst="roundRect">
            <a:avLst>
              <a:gd fmla="val 18182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12"/>
          <p:cNvSpPr txBox="1"/>
          <p:nvPr/>
        </p:nvSpPr>
        <p:spPr>
          <a:xfrm>
            <a:off x="685800" y="2843784"/>
            <a:ext cx="82296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100"/>
              <a:buFont typeface="Tahoma"/>
              <a:buNone/>
            </a:pPr>
            <a:r>
              <a:rPr b="1" i="0" lang="en-US" sz="11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30 ก.ย.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24" name="Google Shape;324;p12"/>
          <p:cNvSpPr txBox="1"/>
          <p:nvPr/>
        </p:nvSpPr>
        <p:spPr>
          <a:xfrm>
            <a:off x="1508760" y="2843784"/>
            <a:ext cx="43891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หลังจบด่าน: รายชื่อผู้เล่น, เสียงตอนจบ, แก้ตกทะลุพื้น, บอร์ดตั๋ว 6 บรรทัด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25" name="Google Shape;325;p12"/>
          <p:cNvSpPr/>
          <p:nvPr/>
        </p:nvSpPr>
        <p:spPr>
          <a:xfrm>
            <a:off x="548640" y="3319272"/>
            <a:ext cx="5440680" cy="402336"/>
          </a:xfrm>
          <a:prstGeom prst="roundRect">
            <a:avLst>
              <a:gd fmla="val 18182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12"/>
          <p:cNvSpPr txBox="1"/>
          <p:nvPr/>
        </p:nvSpPr>
        <p:spPr>
          <a:xfrm>
            <a:off x="685800" y="3319272"/>
            <a:ext cx="82296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100"/>
              <a:buFont typeface="Tahoma"/>
              <a:buNone/>
            </a:pPr>
            <a:r>
              <a:rPr b="1" i="0" lang="en-US" sz="11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30 ก.ย.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27" name="Google Shape;327;p12"/>
          <p:cNvSpPr txBox="1"/>
          <p:nvPr/>
        </p:nvSpPr>
        <p:spPr>
          <a:xfrm>
            <a:off x="1508760" y="3319272"/>
            <a:ext cx="43891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Tune Cinema gameplay objectives and pacing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28" name="Google Shape;328;p12"/>
          <p:cNvSpPr/>
          <p:nvPr/>
        </p:nvSpPr>
        <p:spPr>
          <a:xfrm>
            <a:off x="548640" y="3794760"/>
            <a:ext cx="5440680" cy="402336"/>
          </a:xfrm>
          <a:prstGeom prst="roundRect">
            <a:avLst>
              <a:gd fmla="val 18182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12"/>
          <p:cNvSpPr txBox="1"/>
          <p:nvPr/>
        </p:nvSpPr>
        <p:spPr>
          <a:xfrm>
            <a:off x="685800" y="3794760"/>
            <a:ext cx="82296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100"/>
              <a:buFont typeface="Tahoma"/>
              <a:buNone/>
            </a:pPr>
            <a:r>
              <a:rPr b="1" i="0" lang="en-US" sz="11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30 ก.ย.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30" name="Google Shape;330;p12"/>
          <p:cNvSpPr txBox="1"/>
          <p:nvPr/>
        </p:nvSpPr>
        <p:spPr>
          <a:xfrm>
            <a:off x="1508760" y="3794760"/>
            <a:ext cx="43891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Enable SSAO and clean URP settings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31" name="Google Shape;331;p12"/>
          <p:cNvSpPr/>
          <p:nvPr/>
        </p:nvSpPr>
        <p:spPr>
          <a:xfrm>
            <a:off x="548640" y="4270248"/>
            <a:ext cx="5440680" cy="402336"/>
          </a:xfrm>
          <a:prstGeom prst="roundRect">
            <a:avLst>
              <a:gd fmla="val 18182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12"/>
          <p:cNvSpPr txBox="1"/>
          <p:nvPr/>
        </p:nvSpPr>
        <p:spPr>
          <a:xfrm>
            <a:off x="685800" y="4270248"/>
            <a:ext cx="82296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100"/>
              <a:buFont typeface="Tahoma"/>
              <a:buNone/>
            </a:pPr>
            <a:r>
              <a:rPr b="1" i="0" lang="en-US" sz="11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30 ก.ย.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33" name="Google Shape;333;p12"/>
          <p:cNvSpPr txBox="1"/>
          <p:nvPr/>
        </p:nvSpPr>
        <p:spPr>
          <a:xfrm>
            <a:off x="1508760" y="4270248"/>
            <a:ext cx="43891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ปรับบาลานซ์ Task (2 commit)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34" name="Google Shape;334;p12"/>
          <p:cNvSpPr/>
          <p:nvPr/>
        </p:nvSpPr>
        <p:spPr>
          <a:xfrm>
            <a:off x="548640" y="4745736"/>
            <a:ext cx="5440680" cy="402336"/>
          </a:xfrm>
          <a:prstGeom prst="roundRect">
            <a:avLst>
              <a:gd fmla="val 18182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12"/>
          <p:cNvSpPr txBox="1"/>
          <p:nvPr/>
        </p:nvSpPr>
        <p:spPr>
          <a:xfrm>
            <a:off x="685800" y="4745736"/>
            <a:ext cx="82296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100"/>
              <a:buFont typeface="Tahoma"/>
              <a:buNone/>
            </a:pPr>
            <a:r>
              <a:rPr b="1" i="0" lang="en-US" sz="11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1 ต.ค.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36" name="Google Shape;336;p12"/>
          <p:cNvSpPr txBox="1"/>
          <p:nvPr/>
        </p:nvSpPr>
        <p:spPr>
          <a:xfrm>
            <a:off x="1508760" y="4745736"/>
            <a:ext cx="43891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Ghost: กู้ Multiplayer ของ Week 4 + รวมฟีเจอร์ของนนพัทธ์ + แก้บัคผี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37" name="Google Shape;337;p12"/>
          <p:cNvSpPr/>
          <p:nvPr/>
        </p:nvSpPr>
        <p:spPr>
          <a:xfrm>
            <a:off x="548640" y="5221224"/>
            <a:ext cx="5440680" cy="402336"/>
          </a:xfrm>
          <a:prstGeom prst="roundRect">
            <a:avLst>
              <a:gd fmla="val 18182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12"/>
          <p:cNvSpPr txBox="1"/>
          <p:nvPr/>
        </p:nvSpPr>
        <p:spPr>
          <a:xfrm>
            <a:off x="685800" y="5221224"/>
            <a:ext cx="82296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100"/>
              <a:buFont typeface="Tahoma"/>
              <a:buNone/>
            </a:pPr>
            <a:r>
              <a:rPr b="1" i="0" lang="en-US" sz="11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1 ต.ค.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39" name="Google Shape;339;p12"/>
          <p:cNvSpPr txBox="1"/>
          <p:nvPr/>
        </p:nvSpPr>
        <p:spPr>
          <a:xfrm>
            <a:off x="1508760" y="5221224"/>
            <a:ext cx="43891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ล็อบบี้ 3 มิติ, ร้านค้า, จุดฝึก, ชื่อห้อง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40" name="Google Shape;340;p12"/>
          <p:cNvSpPr/>
          <p:nvPr/>
        </p:nvSpPr>
        <p:spPr>
          <a:xfrm>
            <a:off x="548640" y="5696712"/>
            <a:ext cx="5440680" cy="402336"/>
          </a:xfrm>
          <a:prstGeom prst="roundRect">
            <a:avLst>
              <a:gd fmla="val 18182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12"/>
          <p:cNvSpPr txBox="1"/>
          <p:nvPr/>
        </p:nvSpPr>
        <p:spPr>
          <a:xfrm>
            <a:off x="685800" y="5696712"/>
            <a:ext cx="82296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100"/>
              <a:buFont typeface="Tahoma"/>
              <a:buNone/>
            </a:pPr>
            <a:r>
              <a:rPr b="1" i="0" lang="en-US" sz="11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1 ต.ค.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42" name="Google Shape;342;p12"/>
          <p:cNvSpPr txBox="1"/>
          <p:nvPr/>
        </p:nvSpPr>
        <p:spPr>
          <a:xfrm>
            <a:off x="1508760" y="5696712"/>
            <a:ext cx="43891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Lobby: สร้างจุดฝึกป๊อปคอร์นใหม่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43" name="Google Shape;343;p12"/>
          <p:cNvSpPr/>
          <p:nvPr/>
        </p:nvSpPr>
        <p:spPr>
          <a:xfrm>
            <a:off x="6199632" y="1417320"/>
            <a:ext cx="5440680" cy="402336"/>
          </a:xfrm>
          <a:prstGeom prst="roundRect">
            <a:avLst>
              <a:gd fmla="val 18182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12"/>
          <p:cNvSpPr txBox="1"/>
          <p:nvPr/>
        </p:nvSpPr>
        <p:spPr>
          <a:xfrm>
            <a:off x="6336792" y="1417320"/>
            <a:ext cx="82296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100"/>
              <a:buFont typeface="Tahoma"/>
              <a:buNone/>
            </a:pPr>
            <a:r>
              <a:rPr b="1" i="0" lang="en-US" sz="11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1 ต.ค.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45" name="Google Shape;345;p12"/>
          <p:cNvSpPr txBox="1"/>
          <p:nvPr/>
        </p:nvSpPr>
        <p:spPr>
          <a:xfrm>
            <a:off x="7159752" y="1417320"/>
            <a:ext cx="43891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แก้แมทวิทยุ (สีม่วงใน Build)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46" name="Google Shape;346;p12"/>
          <p:cNvSpPr/>
          <p:nvPr/>
        </p:nvSpPr>
        <p:spPr>
          <a:xfrm>
            <a:off x="6199632" y="1892808"/>
            <a:ext cx="5440680" cy="402336"/>
          </a:xfrm>
          <a:prstGeom prst="roundRect">
            <a:avLst>
              <a:gd fmla="val 18182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12"/>
          <p:cNvSpPr txBox="1"/>
          <p:nvPr/>
        </p:nvSpPr>
        <p:spPr>
          <a:xfrm>
            <a:off x="6336792" y="1892808"/>
            <a:ext cx="82296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100"/>
              <a:buFont typeface="Tahoma"/>
              <a:buNone/>
            </a:pPr>
            <a:r>
              <a:rPr b="1" i="0" lang="en-US" sz="11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2 ต.ค.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48" name="Google Shape;348;p12"/>
          <p:cNvSpPr txBox="1"/>
          <p:nvPr/>
        </p:nvSpPr>
        <p:spPr>
          <a:xfrm>
            <a:off x="7159752" y="1892808"/>
            <a:ext cx="43891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เตะผู้เล่น, ของตกเมื่อตาย, แก้หลุดตอนถูกเตะ (EOS)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49" name="Google Shape;349;p12"/>
          <p:cNvSpPr/>
          <p:nvPr/>
        </p:nvSpPr>
        <p:spPr>
          <a:xfrm>
            <a:off x="6199632" y="2368296"/>
            <a:ext cx="5440680" cy="402336"/>
          </a:xfrm>
          <a:prstGeom prst="roundRect">
            <a:avLst>
              <a:gd fmla="val 18182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2"/>
          <p:cNvSpPr txBox="1"/>
          <p:nvPr/>
        </p:nvSpPr>
        <p:spPr>
          <a:xfrm>
            <a:off x="6336792" y="2368296"/>
            <a:ext cx="82296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100"/>
              <a:buFont typeface="Tahoma"/>
              <a:buNone/>
            </a:pPr>
            <a:r>
              <a:rPr b="1" i="0" lang="en-US" sz="11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2 ต.ค.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51" name="Google Shape;351;p12"/>
          <p:cNvSpPr txBox="1"/>
          <p:nvPr/>
        </p:nvSpPr>
        <p:spPr>
          <a:xfrm>
            <a:off x="7159752" y="2368296"/>
            <a:ext cx="43891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ปรับความยากสำหรับเทส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52" name="Google Shape;352;p12"/>
          <p:cNvSpPr/>
          <p:nvPr/>
        </p:nvSpPr>
        <p:spPr>
          <a:xfrm>
            <a:off x="6199632" y="2843784"/>
            <a:ext cx="5440680" cy="402336"/>
          </a:xfrm>
          <a:prstGeom prst="roundRect">
            <a:avLst>
              <a:gd fmla="val 18182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2"/>
          <p:cNvSpPr txBox="1"/>
          <p:nvPr/>
        </p:nvSpPr>
        <p:spPr>
          <a:xfrm>
            <a:off x="6336792" y="2843784"/>
            <a:ext cx="82296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100"/>
              <a:buFont typeface="Tahoma"/>
              <a:buNone/>
            </a:pPr>
            <a:r>
              <a:rPr b="1" i="0" lang="en-US" sz="11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2 ต.ค.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54" name="Google Shape;354;p12"/>
          <p:cNvSpPr txBox="1"/>
          <p:nvPr/>
        </p:nvSpPr>
        <p:spPr>
          <a:xfrm>
            <a:off x="7159752" y="2843784"/>
            <a:ext cx="43891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แผงโกง F1, สำเนาสำรอง, แก้ร้านค้า/หยิบของ/เตะ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55" name="Google Shape;355;p12"/>
          <p:cNvSpPr/>
          <p:nvPr/>
        </p:nvSpPr>
        <p:spPr>
          <a:xfrm>
            <a:off x="6199632" y="3319272"/>
            <a:ext cx="5440680" cy="402336"/>
          </a:xfrm>
          <a:prstGeom prst="roundRect">
            <a:avLst>
              <a:gd fmla="val 18182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12"/>
          <p:cNvSpPr txBox="1"/>
          <p:nvPr/>
        </p:nvSpPr>
        <p:spPr>
          <a:xfrm>
            <a:off x="6336792" y="3319272"/>
            <a:ext cx="82296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100"/>
              <a:buFont typeface="Tahoma"/>
              <a:buNone/>
            </a:pPr>
            <a:r>
              <a:rPr b="1" i="0" lang="en-US" sz="11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2 ต.ค.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57" name="Google Shape;357;p12"/>
          <p:cNvSpPr txBox="1"/>
          <p:nvPr/>
        </p:nvSpPr>
        <p:spPr>
          <a:xfrm>
            <a:off x="7159752" y="3319272"/>
            <a:ext cx="43891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Spectator + แก้บั๊ก (ออกกลางด่าน, ล้ม, ผี, ไมค์, ล็อบบี้)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58" name="Google Shape;358;p12"/>
          <p:cNvSpPr/>
          <p:nvPr/>
        </p:nvSpPr>
        <p:spPr>
          <a:xfrm>
            <a:off x="6199632" y="3794760"/>
            <a:ext cx="5440680" cy="402336"/>
          </a:xfrm>
          <a:prstGeom prst="roundRect">
            <a:avLst>
              <a:gd fmla="val 18182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12"/>
          <p:cNvSpPr txBox="1"/>
          <p:nvPr/>
        </p:nvSpPr>
        <p:spPr>
          <a:xfrm>
            <a:off x="6336792" y="3794760"/>
            <a:ext cx="82296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100"/>
              <a:buFont typeface="Tahoma"/>
              <a:buNone/>
            </a:pPr>
            <a:r>
              <a:rPr b="1" i="0" lang="en-US" sz="11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2 ต.ค.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60" name="Google Shape;360;p12"/>
          <p:cNvSpPr txBox="1"/>
          <p:nvPr/>
        </p:nvSpPr>
        <p:spPr>
          <a:xfrm>
            <a:off x="7159752" y="3794760"/>
            <a:ext cx="43891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ใส่ Shop กลับ (หายตอนแก้บั๊กซื้อของ)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61" name="Google Shape;361;p12"/>
          <p:cNvSpPr/>
          <p:nvPr/>
        </p:nvSpPr>
        <p:spPr>
          <a:xfrm>
            <a:off x="6199632" y="4270248"/>
            <a:ext cx="5440680" cy="402336"/>
          </a:xfrm>
          <a:prstGeom prst="roundRect">
            <a:avLst>
              <a:gd fmla="val 18182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12"/>
          <p:cNvSpPr txBox="1"/>
          <p:nvPr/>
        </p:nvSpPr>
        <p:spPr>
          <a:xfrm>
            <a:off x="6336792" y="4270248"/>
            <a:ext cx="82296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100"/>
              <a:buFont typeface="Tahoma"/>
              <a:buNone/>
            </a:pPr>
            <a:r>
              <a:rPr b="1" i="0" lang="en-US" sz="11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3 ต.ค.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63" name="Google Shape;363;p12"/>
          <p:cNvSpPr txBox="1"/>
          <p:nvPr/>
        </p:nvSpPr>
        <p:spPr>
          <a:xfrm>
            <a:off x="7159752" y="4270248"/>
            <a:ext cx="43891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ป้ายบอกวิธีกันผีไล่ (กด L)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64" name="Google Shape;364;p12"/>
          <p:cNvSpPr/>
          <p:nvPr/>
        </p:nvSpPr>
        <p:spPr>
          <a:xfrm>
            <a:off x="6199632" y="4745736"/>
            <a:ext cx="5440680" cy="402336"/>
          </a:xfrm>
          <a:prstGeom prst="roundRect">
            <a:avLst>
              <a:gd fmla="val 18182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12"/>
          <p:cNvSpPr txBox="1"/>
          <p:nvPr/>
        </p:nvSpPr>
        <p:spPr>
          <a:xfrm>
            <a:off x="6336792" y="4745736"/>
            <a:ext cx="82296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100"/>
              <a:buFont typeface="Tahoma"/>
              <a:buNone/>
            </a:pPr>
            <a:r>
              <a:rPr b="1" i="0" lang="en-US" sz="11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3 ต.ค.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66" name="Google Shape;366;p12"/>
          <p:cNvSpPr txBox="1"/>
          <p:nvPr/>
        </p:nvSpPr>
        <p:spPr>
          <a:xfrm>
            <a:off x="7159752" y="4745736"/>
            <a:ext cx="43891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แก้ Spectate ไม่เห็นผู้เล่นที่เข้าก่อน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67" name="Google Shape;367;p12"/>
          <p:cNvSpPr/>
          <p:nvPr/>
        </p:nvSpPr>
        <p:spPr>
          <a:xfrm>
            <a:off x="6199632" y="5221224"/>
            <a:ext cx="5440680" cy="402336"/>
          </a:xfrm>
          <a:prstGeom prst="roundRect">
            <a:avLst>
              <a:gd fmla="val 18182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12"/>
          <p:cNvSpPr txBox="1"/>
          <p:nvPr/>
        </p:nvSpPr>
        <p:spPr>
          <a:xfrm>
            <a:off x="6336792" y="5221224"/>
            <a:ext cx="82296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100"/>
              <a:buFont typeface="Tahoma"/>
              <a:buNone/>
            </a:pPr>
            <a:r>
              <a:rPr b="1" i="0" lang="en-US" sz="11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3 ต.ค.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69" name="Google Shape;369;p12"/>
          <p:cNvSpPr txBox="1"/>
          <p:nvPr/>
        </p:nvSpPr>
        <p:spPr>
          <a:xfrm>
            <a:off x="7159752" y="5221224"/>
            <a:ext cx="43891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100"/>
              <a:buFont typeface="Tahoma"/>
              <a:buNone/>
            </a:pPr>
            <a:r>
              <a:rPr b="0" i="0" lang="en-US" sz="11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แก้บั๊กโหมด Spectate</a:t>
            </a:r>
            <a:endParaRPr b="0" i="0" sz="11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70" name="Google Shape;370;p12"/>
          <p:cNvSpPr txBox="1"/>
          <p:nvPr/>
        </p:nvSpPr>
        <p:spPr>
          <a:xfrm>
            <a:off x="548640" y="6263640"/>
            <a:ext cx="10607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000"/>
              <a:buFont typeface="Tahoma"/>
              <a:buNone/>
            </a:pPr>
            <a:r>
              <a:rPr b="0" i="0" lang="en-US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รวม 21 commit (ไม่นับ merge 2 ครั้ง) · ปรับบาลานซ์ Task นับเป็น 2 · มี 1 commit ชื่อ “.”</a:t>
            </a:r>
            <a:endParaRPr b="0" i="0" sz="10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71" name="Google Shape;371;p12"/>
          <p:cNvSpPr txBox="1"/>
          <p:nvPr>
            <p:ph idx="4294967295" type="sldNum"/>
          </p:nvPr>
        </p:nvSpPr>
        <p:spPr>
          <a:xfrm>
            <a:off x="11384280" y="640080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 b="0" i="0" sz="1000" u="none" cap="none" strike="noStrike">
              <a:solidFill>
                <a:srgbClr val="9A8F8B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13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2600"/>
              <a:buFont typeface="Tahoma"/>
              <a:buNone/>
            </a:pPr>
            <a:r>
              <a:rPr b="1" i="0" lang="en-US" sz="26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สรุปงานทั้งหมดที่ผมทำสัปดาห์นี้</a:t>
            </a:r>
            <a:endParaRPr b="0" i="0" sz="26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28 กันยายน – 4 ตุลาคม 2026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79" name="Google Shape;379;p13"/>
          <p:cNvSpPr/>
          <p:nvPr/>
        </p:nvSpPr>
        <p:spPr>
          <a:xfrm>
            <a:off x="548640" y="1417320"/>
            <a:ext cx="11091672" cy="530352"/>
          </a:xfrm>
          <a:prstGeom prst="roundRect">
            <a:avLst>
              <a:gd fmla="val 13793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13"/>
          <p:cNvSpPr/>
          <p:nvPr/>
        </p:nvSpPr>
        <p:spPr>
          <a:xfrm>
            <a:off x="713232" y="1517904"/>
            <a:ext cx="329184" cy="329184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13"/>
          <p:cNvSpPr txBox="1"/>
          <p:nvPr/>
        </p:nvSpPr>
        <p:spPr>
          <a:xfrm>
            <a:off x="713232" y="1517904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82" name="Google Shape;382;p13"/>
          <p:cNvSpPr txBox="1"/>
          <p:nvPr/>
        </p:nvSpPr>
        <p:spPr>
          <a:xfrm>
            <a:off x="1188720" y="1417320"/>
            <a:ext cx="35661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ลูปการเล่นทั้งด่าน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83" name="Google Shape;383;p13"/>
          <p:cNvSpPr txBox="1"/>
          <p:nvPr/>
        </p:nvSpPr>
        <p:spPr>
          <a:xfrm>
            <a:off x="4892040" y="1417320"/>
            <a:ext cx="644652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00:00 – 07:00, บอร์ด Task 2 โซน, ประตูทางออก, หน้าสรุปผลและเงิน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84" name="Google Shape;384;p13"/>
          <p:cNvSpPr/>
          <p:nvPr/>
        </p:nvSpPr>
        <p:spPr>
          <a:xfrm>
            <a:off x="548640" y="2057400"/>
            <a:ext cx="11091672" cy="530352"/>
          </a:xfrm>
          <a:prstGeom prst="roundRect">
            <a:avLst>
              <a:gd fmla="val 13793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13"/>
          <p:cNvSpPr/>
          <p:nvPr/>
        </p:nvSpPr>
        <p:spPr>
          <a:xfrm>
            <a:off x="713232" y="2157984"/>
            <a:ext cx="329184" cy="329184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13"/>
          <p:cNvSpPr txBox="1"/>
          <p:nvPr/>
        </p:nvSpPr>
        <p:spPr>
          <a:xfrm>
            <a:off x="713232" y="2157984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87" name="Google Shape;387;p13"/>
          <p:cNvSpPr txBox="1"/>
          <p:nvPr/>
        </p:nvSpPr>
        <p:spPr>
          <a:xfrm>
            <a:off x="1188720" y="2057400"/>
            <a:ext cx="35661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ลดเสียงรบกวน + มิเตอร์เสียง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88" name="Google Shape;388;p13"/>
          <p:cNvSpPr txBox="1"/>
          <p:nvPr/>
        </p:nvSpPr>
        <p:spPr>
          <a:xfrm>
            <a:off x="4892040" y="2057400"/>
            <a:ext cx="644652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Noise Gate ตัดเสียงคีย์บอร์ด, มิเตอร์ MIC/GAME ให้ผีใช้, ตั้งค่าแบบแท็บ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89" name="Google Shape;389;p13"/>
          <p:cNvSpPr/>
          <p:nvPr/>
        </p:nvSpPr>
        <p:spPr>
          <a:xfrm>
            <a:off x="548640" y="2697480"/>
            <a:ext cx="11091672" cy="530352"/>
          </a:xfrm>
          <a:prstGeom prst="roundRect">
            <a:avLst>
              <a:gd fmla="val 13793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13"/>
          <p:cNvSpPr/>
          <p:nvPr/>
        </p:nvSpPr>
        <p:spPr>
          <a:xfrm>
            <a:off x="713232" y="2798064"/>
            <a:ext cx="329184" cy="329184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13"/>
          <p:cNvSpPr txBox="1"/>
          <p:nvPr/>
        </p:nvSpPr>
        <p:spPr>
          <a:xfrm>
            <a:off x="713232" y="2798064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92" name="Google Shape;392;p13"/>
          <p:cNvSpPr txBox="1"/>
          <p:nvPr/>
        </p:nvSpPr>
        <p:spPr>
          <a:xfrm>
            <a:off x="1188720" y="2697480"/>
            <a:ext cx="35661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ผีแบบออนไลน์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93" name="Google Shape;393;p13"/>
          <p:cNvSpPr txBox="1"/>
          <p:nvPr/>
        </p:nvSpPr>
        <p:spPr>
          <a:xfrm>
            <a:off x="4892040" y="2697480"/>
            <a:ext cx="644652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กู้ Multiplayer ของผี + รวมฟีเจอร์ของนนพัทธ์, ผีไม่ไล่คนที่ล้ม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94" name="Google Shape;394;p13"/>
          <p:cNvSpPr/>
          <p:nvPr/>
        </p:nvSpPr>
        <p:spPr>
          <a:xfrm>
            <a:off x="548640" y="3337560"/>
            <a:ext cx="11091672" cy="530352"/>
          </a:xfrm>
          <a:prstGeom prst="roundRect">
            <a:avLst>
              <a:gd fmla="val 13793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13"/>
          <p:cNvSpPr/>
          <p:nvPr/>
        </p:nvSpPr>
        <p:spPr>
          <a:xfrm>
            <a:off x="713232" y="3438144"/>
            <a:ext cx="329184" cy="329184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13"/>
          <p:cNvSpPr txBox="1"/>
          <p:nvPr/>
        </p:nvSpPr>
        <p:spPr>
          <a:xfrm>
            <a:off x="713232" y="3438144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97" name="Google Shape;397;p13"/>
          <p:cNvSpPr txBox="1"/>
          <p:nvPr/>
        </p:nvSpPr>
        <p:spPr>
          <a:xfrm>
            <a:off x="1188720" y="3337560"/>
            <a:ext cx="35661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ล็อบบี้ 3 มิติ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98" name="Google Shape;398;p13"/>
          <p:cNvSpPr txBox="1"/>
          <p:nvPr/>
        </p:nvSpPr>
        <p:spPr>
          <a:xfrm>
            <a:off x="4892040" y="3337560"/>
            <a:ext cx="644652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ร้านค้า, จุดฝึก, ป้ายวิธีเล่น, กระดาน Ready/Start, เตะผู้เล่น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99" name="Google Shape;399;p13"/>
          <p:cNvSpPr/>
          <p:nvPr/>
        </p:nvSpPr>
        <p:spPr>
          <a:xfrm>
            <a:off x="548640" y="3977640"/>
            <a:ext cx="11091672" cy="530352"/>
          </a:xfrm>
          <a:prstGeom prst="roundRect">
            <a:avLst>
              <a:gd fmla="val 13793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13"/>
          <p:cNvSpPr/>
          <p:nvPr/>
        </p:nvSpPr>
        <p:spPr>
          <a:xfrm>
            <a:off x="713232" y="4078224"/>
            <a:ext cx="329184" cy="329184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13"/>
          <p:cNvSpPr txBox="1"/>
          <p:nvPr/>
        </p:nvSpPr>
        <p:spPr>
          <a:xfrm>
            <a:off x="713232" y="4078224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5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02" name="Google Shape;402;p13"/>
          <p:cNvSpPr txBox="1"/>
          <p:nvPr/>
        </p:nvSpPr>
        <p:spPr>
          <a:xfrm>
            <a:off x="1188720" y="3977640"/>
            <a:ext cx="35661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กฎของไอเทมและเซฟ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03" name="Google Shape;403;p13"/>
          <p:cNvSpPr txBox="1"/>
          <p:nvPr/>
        </p:nvSpPr>
        <p:spPr>
          <a:xfrm>
            <a:off x="4892040" y="3977640"/>
            <a:ext cx="644652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ของตกเมื่อตาย, Spare ส่งให้เพื่อน, ออกกลางด่าน = เสียของ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04" name="Google Shape;404;p13"/>
          <p:cNvSpPr/>
          <p:nvPr/>
        </p:nvSpPr>
        <p:spPr>
          <a:xfrm>
            <a:off x="548640" y="4617720"/>
            <a:ext cx="11091672" cy="530352"/>
          </a:xfrm>
          <a:prstGeom prst="roundRect">
            <a:avLst>
              <a:gd fmla="val 13793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13"/>
          <p:cNvSpPr/>
          <p:nvPr/>
        </p:nvSpPr>
        <p:spPr>
          <a:xfrm>
            <a:off x="713232" y="4718304"/>
            <a:ext cx="329184" cy="329184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13"/>
          <p:cNvSpPr txBox="1"/>
          <p:nvPr/>
        </p:nvSpPr>
        <p:spPr>
          <a:xfrm>
            <a:off x="713232" y="4718304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6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07" name="Google Shape;407;p13"/>
          <p:cNvSpPr txBox="1"/>
          <p:nvPr/>
        </p:nvSpPr>
        <p:spPr>
          <a:xfrm>
            <a:off x="1188720" y="4617720"/>
            <a:ext cx="35661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เครื่องมือทดสอบ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08" name="Google Shape;408;p13"/>
          <p:cNvSpPr txBox="1"/>
          <p:nvPr/>
        </p:nvSpPr>
        <p:spPr>
          <a:xfrm>
            <a:off x="4892040" y="4617720"/>
            <a:ext cx="644652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แผงโกง F1 และโหมด Spectate (Development Build)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09" name="Google Shape;409;p13"/>
          <p:cNvSpPr/>
          <p:nvPr/>
        </p:nvSpPr>
        <p:spPr>
          <a:xfrm>
            <a:off x="548640" y="5257800"/>
            <a:ext cx="11091672" cy="530352"/>
          </a:xfrm>
          <a:prstGeom prst="roundRect">
            <a:avLst>
              <a:gd fmla="val 13793" name="adj"/>
            </a:avLst>
          </a:prstGeom>
          <a:solidFill>
            <a:srgbClr val="241C1A"/>
          </a:solidFill>
          <a:ln cap="flat" cmpd="sng" w="9525">
            <a:solidFill>
              <a:srgbClr val="3A2F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13"/>
          <p:cNvSpPr/>
          <p:nvPr/>
        </p:nvSpPr>
        <p:spPr>
          <a:xfrm>
            <a:off x="713232" y="5358384"/>
            <a:ext cx="329184" cy="329184"/>
          </a:xfrm>
          <a:prstGeom prst="ellipse">
            <a:avLst/>
          </a:prstGeom>
          <a:solidFill>
            <a:srgbClr val="D9A441"/>
          </a:solidFill>
          <a:ln cap="flat" cmpd="sng" w="12700">
            <a:solidFill>
              <a:srgbClr val="D9A4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13"/>
          <p:cNvSpPr txBox="1"/>
          <p:nvPr/>
        </p:nvSpPr>
        <p:spPr>
          <a:xfrm>
            <a:off x="713232" y="5358384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10F"/>
              </a:buClr>
              <a:buSzPts val="1200"/>
              <a:buFont typeface="Tahoma"/>
              <a:buNone/>
            </a:pPr>
            <a:r>
              <a:rPr b="1" i="0" lang="en-US" sz="1200" u="none" cap="none" strike="noStrike">
                <a:solidFill>
                  <a:srgbClr val="15110F"/>
                </a:solidFill>
                <a:latin typeface="Tahoma"/>
                <a:ea typeface="Tahoma"/>
                <a:cs typeface="Tahoma"/>
                <a:sym typeface="Tahoma"/>
              </a:rPr>
              <a:t>7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12" name="Google Shape;412;p13"/>
          <p:cNvSpPr txBox="1"/>
          <p:nvPr/>
        </p:nvSpPr>
        <p:spPr>
          <a:xfrm>
            <a:off x="1188720" y="5257800"/>
            <a:ext cx="35661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EFED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F4EFED"/>
                </a:solidFill>
                <a:latin typeface="Tahoma"/>
                <a:ea typeface="Tahoma"/>
                <a:cs typeface="Tahoma"/>
                <a:sym typeface="Tahoma"/>
              </a:rPr>
              <a:t>แก้บั๊ก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13" name="Google Shape;413;p13"/>
          <p:cNvSpPr txBox="1"/>
          <p:nvPr/>
        </p:nvSpPr>
        <p:spPr>
          <a:xfrm>
            <a:off x="4892040" y="5257800"/>
            <a:ext cx="644652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8F8B"/>
              </a:buClr>
              <a:buSzPts val="1200"/>
              <a:buFont typeface="Tahoma"/>
              <a:buNone/>
            </a:pPr>
            <a:r>
              <a:rPr b="0" i="0" lang="en-US" sz="12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Major Bug ไมค์ทำเกมกระตุก, เตะแล้วค้าง, Spectate มองไม่เห็นผู้เล่น</a:t>
            </a:r>
            <a:endParaRPr b="0" i="0" sz="1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14" name="Google Shape;414;p13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400"/>
              <a:buFont typeface="Tahoma"/>
              <a:buNone/>
            </a:pPr>
            <a:r>
              <a:rPr b="1" i="0" lang="en-US" sz="1400" u="none" cap="none" strike="noStrike">
                <a:solidFill>
                  <a:srgbClr val="D9A441"/>
                </a:solidFill>
                <a:latin typeface="Tahoma"/>
                <a:ea typeface="Tahoma"/>
                <a:cs typeface="Tahoma"/>
                <a:sym typeface="Tahoma"/>
              </a:rPr>
              <a:t>รวม 21 commit · 15 สคริปต์ใหม่ · ~210 KB · 7 ระบบใหม่ / ระบบที่ปรับใหญ่</a:t>
            </a:r>
            <a:endParaRPr b="0" i="0" sz="1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15" name="Google Shape;415;p13"/>
          <p:cNvSpPr txBox="1"/>
          <p:nvPr>
            <p:ph idx="4294967295" type="sldNum"/>
          </p:nvPr>
        </p:nvSpPr>
        <p:spPr>
          <a:xfrm>
            <a:off x="11384280" y="640080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9A8F8B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 b="0" i="0" sz="1000" u="none" cap="none" strike="noStrike">
              <a:solidFill>
                <a:srgbClr val="9A8F8B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2026-10-03T12:36:13Z</dcterms:created>
  <dc:creator>Kongkidakorn Chuayjang</dc:creator>
</cp:coreProperties>
</file>