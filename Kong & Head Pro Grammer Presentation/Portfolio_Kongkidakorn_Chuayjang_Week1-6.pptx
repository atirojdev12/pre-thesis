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12192000"/>
  <p:embeddedFontLst>
    <p:embeddedFont>
      <p:font typeface="Tahom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9ACBD5-887A-4A05-A050-9FBEE16A049F}">
  <a:tblStyle styleId="{7C9ACBD5-887A-4A05-A050-9FBEE16A04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bold.fntdata"/><Relationship Id="rId12" Type="http://schemas.openxmlformats.org/officeDocument/2006/relationships/slide" Target="slides/slide7.xml"/><Relationship Id="rId34" Type="http://schemas.openxmlformats.org/officeDocument/2006/relationships/font" Target="fonts/Tahom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Portfolio นี้รวมงานของผมตั้งแต่สัปดาห์แรกจนถึงสัปดาห์ที่ 6 ช่วงแรกคือสัปดาห์ 1 ถึง 5 ที่วางรากฐานระบบออนไลน์ ช่วงที่สองคือสัปดาห์ที่ 6 ที่ทำให้เกมเล่นได้ครบหนึ่งด่าน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ภาพรวมก่อน 6 สัปดาห์ผม commit ไป 50 ครั้ง ช่วงสัปดาห์ 1 ถึง 5 เขียนเองกว่า 9,000 บรรทัด สัปดาห์ที่ 6 เพิ่มสคริปต์ใหม่อีก 15 ไฟล์ งานแบ่งเป็น 2 ช่วง ช่วงแรกวางรากฐานระบบออนไลน์ ช่วงที่สองทำให้เกมเล่นได้ครบหนึ่งด่าน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แยกให้ชัดก่อนว่าอะไรเป็นงานผม ซ้ายคือที่ผมเขียนเองทั้งหมด ตรงกลางคืองานเพื่อนที่ผมรื้อให้เล่นออนไลน์ได้ ขวาคืองานของเพื่อนที่ผมไม่ได้แตะ ที่มีวงเล็บ ส.6 คือของที่เพิ่มในสัปดาห์ที่ 6</a:t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ลำดับงานทั้ง 6 สัปดาห์ แต่ละสัปดาห์ต่อยอดจากสัปดาห์ก่อน สัปดาห์ 1 ถึง 5 คือรากฐาน สัปดาห์ที่ 6 คือการเอาทุกอย่างมาต่อกันเป็นด่านที่เล่นได้จริง</a:t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ช่วงแรกคือสัปดาห์ 1 ถึง 5 เป็นการวางรากฐาน มี 9 ระบบ ผมจะเล่าทีละระบบ</a:t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ระบบแรกคือเซฟ เก็บเป็น JSON แล้วเข้ารหัส AES-256 เป็นแหล่งข้อมูลเดียวของเกม เรื่องที่คิดเยอะที่สุดคือกุญแจ ผมแยกเป็นตัวเลข 4 ก้อนแล้วประกอบตอนรัน เพื่อไม่ให้เปิดไฟล์เกมแล้วเจอทันที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ระบบห้อง ห้องประกาศข้อมูลครบให้คนหาห้องเห็นก่อนกดเข้า จุดสำคัญคือรหัสห้องไม่ได้ประกาศออกไป เพราะใครก็อ่านได้ ระบบตรวจรหัสหลังเข้าห้องแล้วเท่านั้น</a:t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ระบบของเพื่อนเขียนมาแบบเล่นคนเดียว พอมี 6 คนจะพัง ผมไม่ได้เขียนใหม่ แต่รื้อส่วนที่ตัดสินใจให้เซิร์ฟเวอร์เป็นคนตัดสินที่เดียว เช่นการเปิดประตูและการคิดเลือด</a:t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พอเป็นออนไลน์ เพื่อนต้องเปิดห้องทุกครั้งแค่จะเทส ผมทำตัวตรวจว่ามีเซิร์ฟเวอร์ไหม ถ้าไม่มีให้เดินในโหมดคนเดียว เพื่อนกด Play แล้วเทสได้เลย และโค้ดชุดเดียวใช้ได้ทั้งสองโหมด</a:t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MatchDirector คุมหนึ่งรอบทั้งหมด ตั้งค่าด่านจากความยากและจำนวนคน คุมนาฬิกาและเฟส ประตูเปิดตอน 06:00 ถ้าทำโซนครบ และจบเกมได้ 3 ทาง</a:t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ความยากมี 4 ระดับ ทุกระดับ 15 นาที ต่างกันที่จำนวนกฎ Game Design ปรับค่าได้เองจาก Inspector และผมใส่ตัวเตือนไว้กันตั้งค่าผิด</a:t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ระบบผีของนนพัทธ์และมินิเกมของอติโรจน์เขียนมาสำหรับคนเดียว ผมแปลงให้เล่นหลายคน ผีเลือกคนใกล้สุดที่มองเห็น AI รันที่เซิร์ฟเวอร์ Jumpscare ขึ้นเฉพาะคนที่โดน และมินิเกมให้เซิร์ฟเวอร์ตัดสินคะแนน</a:t>
            </a:r>
            <a:endParaRPr/>
          </a:p>
        </p:txBody>
      </p:sp>
      <p:sp>
        <p:nvSpPr>
          <p:cNvPr id="312" name="Google Shape;3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สัปดาห์ที่ 5 ทำเมนูหลัก ห้องรอ และการตั้งค่า เกมออนไลน์หยุดเวลาไม่ได้ เมนู Esc จึงแค่ล็อกการควบคุมของเรา ส่วนรหัสห้องให้ Host ตรวจหลังเชื่อมต่อ</a:t>
            </a:r>
            <a:endParaRPr/>
          </a:p>
        </p:txBody>
      </p:sp>
      <p:sp>
        <p:nvSpPr>
          <p:cNvPr id="341" name="Google Shape;3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เสียงของ Epic เวอร์ชันที่ใช้ไม่ส่งเสียงให้ตัวเกม ผมเลยส่งเสียงผ่าน Mirror เอง Host ตัดสินว่าใครได้ยิน ใกล้ไม่เกิน 25 เมตรหรือพกวิทยุ ระบบนี้เป็นฐานของการลดเสียงรบกวนในสัปดาห์ที่ 6</a:t>
            </a:r>
            <a:endParaRPr/>
          </a:p>
        </p:txBody>
      </p:sp>
      <p:sp>
        <p:nvSpPr>
          <p:cNvPr id="356" name="Google Shape;3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ก่อนตั้งตัวเลขความยาก ผมเขียน TaskTimer วัดก่อน ได้ 4.5 วินาทีต่อ Task แปลว่าตัวเลขที่ตั้งไว้เดิมผิดหมด ในสัปดาห์ที่ 6 ผมเลยปรับบาลานซ์ Task และจังหวะของด่าน Cinema ซึ่งพาไปสู่ช่วงที่ 2</a:t>
            </a:r>
            <a:endParaRPr/>
          </a:p>
        </p:txBody>
      </p:sp>
      <p:sp>
        <p:nvSpPr>
          <p:cNvPr id="374" name="Google Shape;3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ช่วงที่สองคือสัปดาห์ที่ 6 เอาระบบทั้งหมดมาต่อกันให้เล่นได้ครบหนึ่งด่าน มีล็อบบี้ให้ฝึก และมีเครื่องมือช่วยทดสอบ ผม commit 21 ครั้ง เขียนสคริปต์ใหม่ 15 ไฟล์</a:t>
            </a:r>
            <a:endParaRPr/>
          </a:p>
        </p:txBody>
      </p:sp>
      <p:sp>
        <p:nvSpPr>
          <p:cNvPr id="391" name="Google Shape;3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ระบบ Match จากสัปดาห์ที่ 4 ตอนนี้กลายเป็นด่านที่เล่นได้ครบ เริ่ม 00:00 ทำ Task ให้ครบทั้ง 2 โซน พอถึง 06:00 ประตูเรืองแสง มีเวลาหนีอีก 1 ชั่วโมง ถ้า 07:00 ยังอยู่ข้างในก็ตาย จบแล้วมีหน้าสรุปผล รอดได้เงินตาม Task ตายได้ค่าปลอบใจ 10</a:t>
            </a:r>
            <a:endParaRPr/>
          </a:p>
        </p:txBody>
      </p:sp>
      <p:sp>
        <p:nvSpPr>
          <p:cNvPr id="419" name="Google Shape;4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ต่อยอดจากเสียงพูดในสัปดาห์ที่ 5 เพื่อนใช้ไมค์ราคาถูก เสียงคีย์บอร์ดเลยดังจนแถบไมค์แดง ผมทำระบบลดเสียงรบกวนกับ Noise Gate เสียงคลิกสั้นกว่า 30 ms จะไม่ผ่าน และทำมิเตอร์เสียง 2 แถบส่งให้ Server เพื่อให้ผีรู้ว่าใครเสียงดังเกินไป</a:t>
            </a:r>
            <a:endParaRPr/>
          </a:p>
        </p:txBody>
      </p:sp>
      <p:sp>
        <p:nvSpPr>
          <p:cNvPr id="463" name="Google Shape;46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ระบบผีออนไลน์ที่ผมทำในสัปดาห์ที่ 4 พังเพราะไฟล์ผีเวอร์ชันเล่นคนเดียวถูก Pull เข้ามาทับ ผมกู้กลับมาและรวมฟีเจอร์ใหม่ของนนพัทธ์เข้าไป นอกจากนี้ผีเคยไล่คนที่หนีแล้วและคนที่ล้มอยู่ ผมเพิ่มการเช็คว่าล่าได้ไหม ผีจึงไม่เสียรอบไปกับคนที่ทำดาเมจไม่ได้</a:t>
            </a:r>
            <a:endParaRPr/>
          </a:p>
        </p:txBody>
      </p:sp>
      <p:sp>
        <p:nvSpPr>
          <p:cNvPr id="507" name="Google Shape;5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ห้องรอจากสัปดาห์ที่ 5 กลายเป็นล็อบบี้ 3 มิติ ผู้เล่นมีตัวละครเดินได้ ซื้อวิทยุที่ร้านค้า ฝึกมินิเกมป๊อปคอร์นกับขายตั๋วแบบไม่เสียอะไร มีกระดานให้กด Ready, Start หรือเตะผู้เล่น และยังกด M เปิดหน้า Lobby แบบ 2D ได้จากทุกที่</a:t>
            </a:r>
            <a:endParaRPr/>
          </a:p>
        </p:txBody>
      </p:sp>
      <p:sp>
        <p:nvSpPr>
          <p:cNvPr id="536" name="Google Shape;5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ต่อยอดจากกฎในระบบเซฟสัปดาห์แรก ไอเทมถาวรมีได้ 1 ชิ้นต่อชนิด ถ้าตายของจะตกให้เพื่อนเก็บ ถ้ารอดของที่ถือออกมาเป็นของเรา ชิ้นที่สองเป็น Spare มีไว้ส่งให้เพื่อน และวันที่ 3 ปิดช่องโหว่ที่กดออกกลางเกมแล้วไม่เสียของ</a:t>
            </a:r>
            <a:endParaRPr/>
          </a:p>
        </p:txBody>
      </p:sp>
      <p:sp>
        <p:nvSpPr>
          <p:cNvPr id="557" name="Google Shape;55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แนวคิดเดียวกับเครื่องมือทดสอบในสัปดาห์ที่ 3 คือให้ทีมเทสได้เร็ว แผงโกงกด F1 ใช้ข้ามเวลา ทำบอร์ดครบ หรือหยุดผี และโหมด Spectate เข้าไปดูเกมได้โดยไม่ต้องเป็นผู้เล่น ทั้งสองอย่างมีเฉพาะ Development Build</a:t>
            </a:r>
            <a:endParaRPr/>
          </a:p>
        </p:txBody>
      </p:sp>
      <p:sp>
        <p:nvSpPr>
          <p:cNvPr id="595" name="Google Shape;59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บั๊กที่เจอในสัปดาห์ 1 ถึง 5 ทุกตัวหาต้นตอเจอจากการอ่านโค้ด เอกสาร และ log จริง ไม่ได้สุ่มแก้ วิธีเดียวกันนี้ใช้กับบั๊กใหญ่ของสัปดาห์ที่ 6 ในสไลด์ถัดไป</a:t>
            </a:r>
            <a:endParaRPr/>
          </a:p>
        </p:txBody>
      </p:sp>
      <p:sp>
        <p:nvSpPr>
          <p:cNvPr id="610" name="Google Shape;61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บั๊กใหญ่ของสัปดาห์ที่ 6 ทีมจัดเป็น Major Bug ถ้าเครื่องไหนไม่มีไมค์หรือไมค์ถูกบล็อก เกมจะลองเปิดไมค์ใหม่ทุกเฟรม ทำให้กระตุกทั้งด่าน และการอ่านไมค์ยังสร้างขยะหน่วยความจำประมาณ 190 KB ต่อวินาที ผมแก้ให้ลองใหม่ทุก 3 วินาที และใช้ Buffer เดิมซ้ำ ตอนนี้ขยะเป็น 0</a:t>
            </a:r>
            <a:endParaRPr/>
          </a:p>
        </p:txBody>
      </p:sp>
      <p:sp>
        <p:nvSpPr>
          <p:cNvPr id="654" name="Google Shape;65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ปัญหาอื่นที่แก้ในสัปดาห์ที่ 6 ที่ยากคือถูกเตะแล้วตัวละครค้าง เพราะ EOS ไม่บอก Mirror ว่าตัดการเชื่อมต่อ และ Spectate มองไม่เห็นผู้เล่นเพราะ Mirror ส่งของในฉากให้เฉพาะคนที่มีตัวละคร</a:t>
            </a:r>
            <a:endParaRPr/>
          </a:p>
        </p:txBody>
      </p:sp>
      <p:sp>
        <p:nvSpPr>
          <p:cNvPr id="677" name="Google Shape;67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เอาไว้ตอบถ้าอาจารย์อยากเห็นหลักฐานว่าทำอะไรวันไหน</a:t>
            </a:r>
            <a:endParaRPr/>
          </a:p>
        </p:txBody>
      </p:sp>
      <p:sp>
        <p:nvSpPr>
          <p:cNvPr id="686" name="Google Shape;68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งานที่กำลังทำต่อคือคำแนะนำของอาจารย์ ให้ส่งเกมให้คนอื่นเล่นแล้วเก็บ Feedback ตอนนี้ยังทดสอบเต็มรูปแบบไม่ได้เพราะเพื่อนยังไม่ว่าง แต่ได้ Feedback เบื้องต้นแล้ว 4 ข้อ และเตรียมตัวเกมที่ Build แล้วกับโหมด Spectate ไว้แล้ว</a:t>
            </a:r>
            <a:endParaRPr/>
          </a:p>
        </p:txBody>
      </p:sp>
      <p:sp>
        <p:nvSpPr>
          <p:cNvPr id="752" name="Google Shape;75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สรุปทั้งหมด 6 สัปดาห์ ช่วงแรก 9 ระบบที่เป็นรากฐาน ช่วงที่สองอีก 6 ระบบที่ทำให้เกมเล่นได้ครบหนึ่งด่าน รวม 50 commit ขอบคุณครับ</a:t>
            </a:r>
            <a:endParaRPr/>
          </a:p>
        </p:txBody>
      </p:sp>
      <p:sp>
        <p:nvSpPr>
          <p:cNvPr id="770" name="Google Shape;77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15110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15110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4800"/>
              <a:buFont typeface="Tahoma"/>
              <a:buNone/>
            </a:pPr>
            <a:r>
              <a:rPr b="1" i="0" lang="en-US" sz="48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Portfolio</a:t>
            </a:r>
            <a:endParaRPr b="0" i="0" sz="4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5"/>
          <p:cNvSpPr txBox="1"/>
          <p:nvPr/>
        </p:nvSpPr>
        <p:spPr>
          <a:xfrm>
            <a:off x="731520" y="28803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200"/>
              <a:buFont typeface="Tahoma"/>
              <a:buNone/>
            </a:pPr>
            <a:r>
              <a:rPr b="0" i="0" lang="en-US" sz="22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13RoH — ตั้งแต่เริ่มโปรเจกต์จนถึงตอนนี้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6  ·  12 สิงหาคม – 4 ตุลาคม 2026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731520" y="49377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นาย ก้องกิดากร ช่วยแจ้ง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Head Programmer  ·  Unity 6.5 + Mirror + Epic Online Services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ภาพรวมทั้งโปรเจกต์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รวมทุกสัปดาห์ตั้งแต่เริ่มจนถึงวันนี้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548640" y="1417320"/>
            <a:ext cx="19988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548640" y="1527048"/>
            <a:ext cx="19988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50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640080" y="2167128"/>
            <a:ext cx="1815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Commit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2821838" y="1417320"/>
            <a:ext cx="19988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2821838" y="1527048"/>
            <a:ext cx="19988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9,000+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2913278" y="2167128"/>
            <a:ext cx="1815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บรรทัดที่เขียนเอง (ส.1–5)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5095037" y="1417320"/>
            <a:ext cx="19988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5095037" y="1527048"/>
            <a:ext cx="19988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+15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5186477" y="2167128"/>
            <a:ext cx="1815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สคริปต์ใหม่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7368235" y="1417320"/>
            <a:ext cx="19988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7368235" y="1527048"/>
            <a:ext cx="19988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1,460+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7459675" y="2167128"/>
            <a:ext cx="1815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บรรทัดที่รื้อให้เล่นออนไลน์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9641434" y="1417320"/>
            <a:ext cx="1998878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 txBox="1"/>
          <p:nvPr/>
        </p:nvSpPr>
        <p:spPr>
          <a:xfrm>
            <a:off x="9641434" y="1527048"/>
            <a:ext cx="199887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18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9732874" y="2167128"/>
            <a:ext cx="18159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บั๊กใหญ่ที่หาต้นตอเจอ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48640" y="2880360"/>
            <a:ext cx="5440680" cy="3200400"/>
          </a:xfrm>
          <a:prstGeom prst="roundRect">
            <a:avLst>
              <a:gd fmla="val 2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/>
        </p:nvSpPr>
        <p:spPr>
          <a:xfrm>
            <a:off x="777240" y="299923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5 · วางรากฐาน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777240" y="352044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777240" y="3520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1207008" y="349300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777240" y="3941064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777240" y="39410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1207008" y="391363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สร้างห้องและหาห้อง (EOS)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77240" y="4361688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 txBox="1"/>
          <p:nvPr/>
        </p:nvSpPr>
        <p:spPr>
          <a:xfrm>
            <a:off x="777240" y="43616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1207008" y="433425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รื้อระบบของเพื่อนให้เล่นออนไลน์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777240" y="4782312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777240" y="47823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1207008" y="475488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ความยาก และกติกาจบเกม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777240" y="5202936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777240" y="52029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1207008" y="517550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เมนูหลัก ห้องรอ และการตั้งค่า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777240" y="562356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777240" y="56235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1207008" y="559612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เสียงพูด 3D และวิทยุสื่อสาร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199632" y="2880360"/>
            <a:ext cx="5440680" cy="3200400"/>
          </a:xfrm>
          <a:prstGeom prst="roundRect">
            <a:avLst>
              <a:gd fmla="val 2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6428232" y="299923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6 · เล่นได้ครบหนึ่งด่าน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428232" y="352044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 txBox="1"/>
          <p:nvPr/>
        </p:nvSpPr>
        <p:spPr>
          <a:xfrm>
            <a:off x="6428232" y="3520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6858000" y="349300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 00:00 – 07:00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428232" y="3941064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6428232" y="39410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6858000" y="391363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ลดเสียงรบกวน + มิเตอร์เสียงให้ผีใช้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428232" y="4361688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428232" y="43616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858000" y="433425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กู้ผีแบบออนไลน์ที่ถูกไฟล์เก่าทับ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428232" y="4782312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6428232" y="47823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6858000" y="475488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 ร้านค้า และจุดฝึก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428232" y="5202936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6428232" y="52029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6858000" y="517550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กฎของไอเทมและเซฟ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28232" y="562356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6428232" y="56235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6858000" y="559612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แผงโกง F1 และโหมด Spectate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6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อะไรเป็นงานผม อะไรไม่ใช่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แยกให้ชัดตั้งแต่ต้น เพราะโปรเจกต์นี้ทำกัน 5 คน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8640" y="1417320"/>
            <a:ext cx="5257800" cy="4663440"/>
          </a:xfrm>
          <a:prstGeom prst="roundRect">
            <a:avLst>
              <a:gd fmla="val 1569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777240" y="15544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ผมเขียนเองทั้งหมด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31520" y="2057400"/>
            <a:ext cx="23774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สร้างห้อง / หาห้อง / จับคู่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สลับโหมดออฟไลน์–ออนไลน์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และเฟสของรอบ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 4 ระดับ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ทางออกและกติกาจบเกม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PlayerRegistry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3063240" y="2057400"/>
            <a:ext cx="26974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ระบบเสียงพูดในเกม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เมนูหลัก ห้องรอ และการตั้งค่า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วิทยุสื่อสารและ Hotbar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 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ลดเสียงรบกวน + มิเตอร์เสียง 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 และร้านค้า 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กฎของไอเทมและเซฟ 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แผงโกง F1 + Spectate 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943600" y="1417320"/>
            <a:ext cx="2697480" cy="4663440"/>
          </a:xfrm>
          <a:prstGeom prst="roundRect">
            <a:avLst>
              <a:gd fmla="val 271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6172200" y="155448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ผมรื้อให้ออนไลน์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6126480" y="2057400"/>
            <a:ext cx="2331720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การโต้ตอบวัตถุ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ชีวิตและความเสียหาย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การเคลื่อนที่ของตัวละคร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กล้องมุมมองบุคคลที่หนึ่ง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UI หลอดเลือด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ระบบผีพื้นฐาน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ผี: กู้คืนหลังไฟล์เก่าทับ 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778240" y="1417320"/>
            <a:ext cx="2862072" cy="4663440"/>
          </a:xfrm>
          <a:prstGeom prst="roundRect">
            <a:avLst>
              <a:gd fmla="val 255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9006840" y="1554480"/>
            <a:ext cx="2404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งานของเพื่อน ผมไม่ได้แตะ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8961120" y="2057400"/>
            <a:ext cx="2496312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อติโรจน์ — มินิเกมป๊อปคอร์น และเครื่องดื่ม 4 อย่าง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อติโรจน์ — ระบบล้ม/ช่วยเพื่อน การวางและโยนของ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อติโรจน์ — ท่าเดิน/ย่อ และเสียงเดิน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นนพัทธ์ — ระบบผีต้นฉบับ (Enemy, TimedGhost, GhostManager, ไฟ)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นนพัทธ์ — ผีรู้ตัวในที่มืด และผีลงโทษที่จุดขายตั๋ว (ส.6)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มินิเกมป๊อปคอร์นเป็นของอติโรจน์ · ระบบผีเป็นของนนพัทธ์ · ส่วนของผมคือทำให้ทั้งสองระบบเล่นหลายคนได้  ·  (ส.6) = เพิ่มในสัปดาห์ที่ 6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7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ลำดับงานหกสัปดาห์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แต่ละสัปดาห์ต่อยอดจากสัปดาห์ก่อน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48640" y="1463040"/>
            <a:ext cx="11091672" cy="694944"/>
          </a:xfrm>
          <a:prstGeom prst="roundRect">
            <a:avLst>
              <a:gd fmla="val 105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731520" y="161848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 txBox="1"/>
          <p:nvPr/>
        </p:nvSpPr>
        <p:spPr>
          <a:xfrm>
            <a:off x="731520" y="1618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1325880" y="153619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1325880" y="18470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12 – 22 ส.ค.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3474720" y="1463040"/>
            <a:ext cx="7955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วางโครงโปรเจกต์ ระบบเซฟที่เข้ารหัส และเมนูหลัก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2240280"/>
            <a:ext cx="11091672" cy="694944"/>
          </a:xfrm>
          <a:prstGeom prst="roundRect">
            <a:avLst>
              <a:gd fmla="val 105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31520" y="239572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731520" y="23957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1325880" y="231343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2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1325880" y="262432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23 ส.ค. – 5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3474720" y="2240280"/>
            <a:ext cx="7955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ต่อ Epic Online Services สร้างห้อง หาห้อง และล็อกห้องด้วยรหัส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48640" y="3017520"/>
            <a:ext cx="11091672" cy="694944"/>
          </a:xfrm>
          <a:prstGeom prst="roundRect">
            <a:avLst>
              <a:gd fmla="val 105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731520" y="317296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731520" y="3172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1325880" y="309067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3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1325880" y="340156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6 – 12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3474720" y="3017520"/>
            <a:ext cx="7955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รื้อระบบของเพื่อนให้เล่นออนไลน์ได้ และทำเครื่องมือทดสอบแบบไม่ต้องเปิดห้อง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8640" y="3794760"/>
            <a:ext cx="11091672" cy="694944"/>
          </a:xfrm>
          <a:prstGeom prst="roundRect">
            <a:avLst>
              <a:gd fmla="val 105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731520" y="395020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731520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1325880" y="386791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1325880" y="41788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– 19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3474720" y="3794760"/>
            <a:ext cx="7955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 Match ความยาก 4 ระดับ กติกาจบเกม และแปลงผี+มินิเกมเป็นหลายคน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4572000"/>
            <a:ext cx="11091672" cy="694944"/>
          </a:xfrm>
          <a:prstGeom prst="roundRect">
            <a:avLst>
              <a:gd fmla="val 105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731520" y="472744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731520" y="47274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1325880" y="464515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5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325880" y="49560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21 – 27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3474720" y="4572000"/>
            <a:ext cx="7955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เมนูหลักใหม่ ห้องรอ เมนู Esc การตั้งค่า เสียงพูด 3D และวิทยุสื่อสาร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5349240"/>
            <a:ext cx="11091672" cy="694944"/>
          </a:xfrm>
          <a:prstGeom prst="roundRect">
            <a:avLst>
              <a:gd fmla="val 105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31520" y="550468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731520" y="5504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325880" y="542239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6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1325880" y="57332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28 ก.ย. – 4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3474720" y="5349240"/>
            <a:ext cx="7955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 ล็อบบี้ 3 มิติ ร้านค้า กฎไอเทม เครื่องมือทดสอบ และแก้บั๊กใหญ่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9" name="Google Shape;149;p8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731520" y="1600200"/>
            <a:ext cx="73152" cy="1737360"/>
          </a:xfrm>
          <a:prstGeom prst="rect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1005840" y="1554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ช่วงที่ 1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1005840" y="19202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5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005840" y="2743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วางรากฐาน: เซฟ ห้อง และระบบออนไลน์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005840" y="3108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12 สิงหาคม – 27 กันยายน 2026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731520" y="4069080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868680" y="4069080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371600" y="4069080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276344" y="4069080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4413504" y="4069080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4916424" y="4069080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สร้างห้องและหาห้อง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821168" y="4069080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7958328" y="4069080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461248" y="4069080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รื้อระบบเพื่อนให้ออนไลน์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31520" y="4727448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68680" y="4727448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371600" y="4727448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ทดสอบโดยไม่ต้องเปิดห้อง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276344" y="4727448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4413504" y="4727448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5–6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4916424" y="4727448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Match และความยาก 4 ระดับ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7821168" y="4727448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7958328" y="4727448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8461248" y="4727448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ผีและมินิเกมหลายคน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731520" y="5385816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868680" y="5385816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371600" y="5385816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เมนูหลัก ห้องรอ ตั้งค่า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276344" y="5385816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4413504" y="5385816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4916424" y="5385816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เสียงพูด 3D และวิทยุ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821168" y="5385816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7958328" y="5385816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8461248" y="5385816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TaskTimer: วัดก่อนตั้งตัวเลข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1. ระบบเซฟที่เข้ารหัส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2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48640" y="146304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777240" y="16002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สิ่งที่ระบบนี้ทำ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731520" y="2103120"/>
            <a:ext cx="5074920" cy="377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เก็บข้อมูลเป็น JSON แล้วเข้ารหัสด้วย AES-256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โหลดเซฟให้เสร็จก่อนซีนแรกจะเริ่ม ไม่ต้องรอ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เป็นแหล่งข้อมูลเดียวของเกม ทุกระบบอ่านที่เดียวกัน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ของถาวรซื้อซ้ำไม่ได้ ระบบบังคับให้มีได้แค่ชิ้นเดียว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ทำหน้าจอ Inspector เองให้ทีมกดดู/แก้เซฟได้ตอนเทส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199632" y="146304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6428232" y="16002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เรื่องที่คิดเยอะที่สุด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6428232" y="2103120"/>
            <a:ext cx="49834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กุญแจเข้ารหัสถ้าเขียนเป็นข้อความตรง ๆ ในโค้ด เปิดไฟล์เกมก็เจอทันที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ผมเลยแยกกุญแจเป็นชุดตัวเลข 4 ก้อน แล้วประกอบตอนรัน ไม่ได้ปลอดภัยระดับธนาคาร แต่พอสำหรับเกมที่ไม่มีเซิร์ฟเวอร์เก็บข้อมูล และทำให้แก้เซฟไม่ได้ด้วยโปรแกรมแก้ข้อความธรรมดา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347 บรรทัด · 4 ไฟล์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10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2. ระบบสร้างห้องและหาห้อง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2 – 3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8640" y="1463040"/>
            <a:ext cx="11091672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777240" y="160020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ห้องหนึ่งห้องคือข้อตกลงของข้อมูล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731520" y="2103120"/>
            <a:ext cx="1072591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ห้องประกาศออกไปว่า เล่นแผนที่ไหน ความยากอะไร ล็อกรหัสหรือเปล่า และตอนนี้กี่คนจาก 2 – 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คนที่กดหาห้องเห็นข้อมูลครบก่อนกดเข้า ไม่ต้องเข้าไปแล้วค่อยรู้ว่าไม่ใช่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ข้อมูลห้องเป็นตัวกำหนดค่าเริ่มต้นของรอบเล่นจริง ไม่ได้ตั้งซ้ำอีกที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fmla="val 3478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777240" y="40233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จุดที่ตัดสินใจเรื่องความปลอดภัย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777240" y="4526280"/>
            <a:ext cx="10634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รหัสห้องต้องไม่เป็นข้อมูลที่ห้องประกาศออกไป เพราะข้อมูลที่ประกาศ ใครก็อ่านได้จากรายการห้อง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ระบบจึงประกาศแค่ว่า “ห้องนี้ล็อกอยู่” แล้วไปตรวจรหัสจริงหลังจากเข้าห้องแล้วเท่านั้น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450 บรรทัด · 5 ไฟล์ · Mirror + Epic Online Services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11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3. รื้อระบบของเพื่อนให้เล่นออนไลน์ได้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3  ·  โครงเดิมเป็นของอติโรจน์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ระบบเดิมเขียนมาแบบผู้เล่นคนเดียว ทดสอบคนเดียวไม่มีปัญหา แต่พอมี 6 คนพร้อมกันจะพังทันที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48640" y="192024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777240" y="192024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การโต้ตอบ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3017520" y="192024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ทุกคนกดเปิดประตูบานเดียวกัน แต่ละจอเห็นไม่ตรงกัน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6720840" y="192024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ให้เซิร์ฟเวอร์ตัดสินที่เดียว แล้วส่งผลไปทุกเครื่อง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48640" y="292608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777240" y="292608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ชีวิตและความเสียหาย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3017520" y="292608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ไคลเอนต์ลดเลือดตัวเอง แก้ค่าได้ง่าย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6720840" y="292608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ย้ายการคิดเลือดไปที่เซิร์ฟเวอร์ ไคลเอนต์แค่แสดงผล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548640" y="39319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777240" y="393192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การควบคุมตัวละคร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3017520" y="393192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กดปุ่มแล้วขยับทุกตัวในฉาก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6720840" y="393192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ล็อกให้คุมได้เฉพาะตัวของตัวเอง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548640" y="493776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777240" y="493776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คนเข้าห้องทีหลัง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3017520" y="493776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เข้ามาแล้วเห็นสถานะเก่าผิดหมด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6720840" y="49377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ส่งสถานะปัจจุบันให้ตอนเข้าเกม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ผมไม่ได้เขียนระบบพวกนี้ใหม่ — ผมรื้อส่วนที่ตัดสินใจ ให้เซิร์ฟเวอร์เป็นคนตัดสิน โดยไม่พังโครงเดิม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" name="Google Shape;242;p12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4. ให้ทีมทดสอบได้โดยไม่ต้องเปิดห้อง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3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777240" y="16002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ปัญหา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777240" y="2103120"/>
            <a:ext cx="4983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พอเปลี่ยนเป็นออนไลน์ ทุกอย่างต้องมีเซิร์ฟเวอร์ถึงจะทำงาน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เพื่อนที่ทำฉากหรือมินิเกมต้องเปิดห้องทุกครั้งแค่จะกดเทสอย่างเดียว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6199632" y="1463040"/>
            <a:ext cx="5440680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6428232" y="16002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ทางแก้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6428232" y="2103120"/>
            <a:ext cx="4983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ทำตัวตรวจว่าตอนนี้มีเซิร์ฟเวอร์ไหม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ถ้าไม่มี ให้ระบบเดินเองในโหมดคนเดียว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และมีตัวสร้างผู้เล่นสำรองให้ฉากทดสอบ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fmla="val 3478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777240" y="40233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ทำไมถึงคุ้มที่จะเสียเวลาทำ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731520" y="4526280"/>
            <a:ext cx="107259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เพื่อนกด Play แล้วเทสได้เลย ไม่ต้องรู้เรื่อง Mirror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โค้ดชุดเดียวใช้ได้ทั้งออฟไลน์และออนไลน์ ไม่ต้องแยกสองเวอร์ชันให้หลุดกัน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ผมต้องลองถึงสามรอบกว่าจะเจอวิธีที่ไม่พังโหมดออนไลน์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13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5. ระบบ Match และกติกาจบเกม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48640" y="1463040"/>
            <a:ext cx="11091672" cy="2057400"/>
          </a:xfrm>
          <a:prstGeom prst="roundRect">
            <a:avLst>
              <a:gd fmla="val 355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777240" y="160020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MatchDirector — ตัวคุมหนึ่งรอบการเล่นทั้งหมด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731520" y="2103120"/>
            <a:ext cx="1072591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อ่านความยากและจำนวนผู้เล่นตอนเริ่มรอบ แล้วตั้งค่าด่านให้เองทั้งหมด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คุมนาฬิกาในเกม 00:00 – 06:00 และเฟสของรอบ Night / Escape / Overtime / LockedIn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นับโซนที่ทำเสร็จ = เงื่อนไขรอดชีวิตของทีม  ส่วน Task ของแต่ละคน = เงินที่คนนั้นได้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548640" y="3703320"/>
            <a:ext cx="5440680" cy="2286000"/>
          </a:xfrm>
          <a:prstGeom prst="roundRect">
            <a:avLst>
              <a:gd fmla="val 32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 txBox="1"/>
          <p:nvPr/>
        </p:nvSpPr>
        <p:spPr>
          <a:xfrm>
            <a:off x="777240" y="384048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กติกาทางออก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777240" y="4343400"/>
            <a:ext cx="49834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ประตูเปิดตอน 06:00 เท่านั้น และต้องทำโซนครบ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ถ้าไม่ครบ ไม่มีใครออกได้เลย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ทางออก 3 จุด จุดละ 2 คน = ทีมเต็มพอดี ต้องแยกกันออก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6199632" y="3703320"/>
            <a:ext cx="5440680" cy="2286000"/>
          </a:xfrm>
          <a:prstGeom prst="roundRect">
            <a:avLst>
              <a:gd fmla="val 32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6428232" y="384048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จบเกมได้ 3 ทาง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6428232" y="4343400"/>
            <a:ext cx="49834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ทำโซนครบ → ประตูเปิด มีเวลา 1 ชั่วโมงในเกมให้หนี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ไม่ครบ แต่ตายไปแล้ว 2 คน → Overtime ผีแรงขึ้นเรื่อย ๆ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ไม่ครบ และยังอยู่ครบ → ถูกขังในตึก ต้องหากุญแจผี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MatchDirector.cs (51 KB) · MatchState.cs · MatchPhase.cs · PlayerOutcome.cs · ExitPoint.cs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p14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6. ระบบความยาก 4 ระดับ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  ·  ออกแบบให้ Game Design ปรับเองได้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548640" y="1463040"/>
            <a:ext cx="256717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548640" y="1572768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200"/>
              <a:buFont typeface="Tahoma"/>
              <a:buNone/>
            </a:pPr>
            <a:r>
              <a:rPr b="1" i="0" lang="en-US" sz="22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Easy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548640" y="2057400"/>
            <a:ext cx="25671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นาที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548640" y="2423160"/>
            <a:ext cx="25671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ไม่มีกฎสถานที่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390138" y="1463040"/>
            <a:ext cx="256717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3390138" y="1572768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200"/>
              <a:buFont typeface="Tahoma"/>
              <a:buNone/>
            </a:pPr>
            <a:r>
              <a:rPr b="1" i="0" lang="en-US" sz="22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Normal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3390138" y="2057400"/>
            <a:ext cx="25671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นาที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3390138" y="2423160"/>
            <a:ext cx="25671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มีกฎบางข้อ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231636" y="1463040"/>
            <a:ext cx="256717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6231636" y="1572768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200"/>
              <a:buFont typeface="Tahoma"/>
              <a:buNone/>
            </a:pPr>
            <a:r>
              <a:rPr b="1" i="0" lang="en-US" sz="22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Hard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6231636" y="2057400"/>
            <a:ext cx="25671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นาที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6231636" y="2423160"/>
            <a:ext cx="25671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กฎเยอะขึ้น ล้มง่ายขึ้น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9073134" y="1463040"/>
            <a:ext cx="2567178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9073134" y="1572768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200"/>
              <a:buFont typeface="Tahoma"/>
              <a:buNone/>
            </a:pPr>
            <a:r>
              <a:rPr b="1" i="0" lang="en-US" sz="22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Rules</a:t>
            </a:r>
            <a:endParaRPr b="0" i="0" sz="2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9073134" y="2057400"/>
            <a:ext cx="25671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นาที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9073134" y="2423160"/>
            <a:ext cx="25671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กฎครบ 13 ข้อ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ยากขึ้น = คืนยาวขึ้น ไม่ใช่สั้นลง เพราะกลางคืนคือช่วงที่อันตราย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548640" y="361188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777240" y="374904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ค่าที่ปรับได้จาก Inspector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731520" y="4251960"/>
            <a:ext cx="507492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จำนวนกฎสถานที่ (0 – 13 ข้อ)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งานเพิ่มต่อโซน และงานเพิ่มต่อผู้เล่น 1 คน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ความเร็วการลด Sanity และจำนวนผีที่สุ่มเพิ่ม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199632" y="361188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6428232" y="374904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สิ่งที่ผมกันไว้ในโค้ด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6382512" y="4251960"/>
            <a:ext cx="507492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เตือนทันทีถ้าตั้งโหมด 13 Rules แต่กฎไม่ครบ 13 ข้อ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เตือนถ้างานที่สุ่มเพิ่มเกินกว่าที่แผนที่รับได้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กฎของเกม เช่น กลางคืน 6 ชั่วโมง ทำเป็น const แก้ผิดไม่ได้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15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7. แปลงระบบผีและมินิเกมให้เล่นหลายคน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  ·  ระบบผีของนนพัทธ์ มินิเกมของอติโรจน์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713232" y="1805940"/>
            <a:ext cx="365760" cy="365760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713232" y="18059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1234440" y="1554480"/>
            <a:ext cx="5166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ผีไล่ผู้เล่นได้แค่คนเดียว อีก 5 คนผีไม่สนเลย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6720840" y="155448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เขียน PlayerRegistry ให้เลือกคนใกล้สุดที่มองเห็นจริง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548640" y="256032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713232" y="2811780"/>
            <a:ext cx="365760" cy="365760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713232" y="28117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1234440" y="2560320"/>
            <a:ext cx="5166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AI ของผีรันทุกเครื่อง ผีอยู่คนละที่บนแต่ละจอ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6720840" y="256032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ย้าย AI ไปรันที่เซิร์ฟเวอร์ที่เดียว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548640" y="356616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713232" y="3817620"/>
            <a:ext cx="365760" cy="365760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713232" y="38176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1234440" y="3566160"/>
            <a:ext cx="5166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Jumpscare ขึ้นทุกจอพร้อมกัน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6720840" y="35661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ส่งเฉพาะเครื่องของคนที่โดน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fmla="val 84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713232" y="4823460"/>
            <a:ext cx="365760" cy="365760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 txBox="1"/>
          <p:nvPr/>
        </p:nvSpPr>
        <p:spPr>
          <a:xfrm>
            <a:off x="713232" y="48234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1234440" y="4572000"/>
            <a:ext cx="5166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มินิเกมนับคะแนนของตัวเอง 6 เครื่องได้ 6 คะแนน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6720840" y="45720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เขียน PopcornNetSync ให้เซิร์ฟเวอร์ตัดสินที่เดียว ทุกคนเห็นออเดอร์เดียวกัน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ผมไม่ได้เขียนระบบผีหรือมินิเกม — ผมแปลงให้รองรับผู้เล่นหลายคน โดยไม่รื้อโครงเดิมของเจ้าของงาน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16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8. เมนูหลัก ห้องรอ และการตั้งค่า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5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548640" y="1463040"/>
            <a:ext cx="11091672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777240" y="160020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ตั้งแต่เปิดเกมจนเข้าห้องได้เอง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731520" y="2103120"/>
            <a:ext cx="1072591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เมนูหลัก: สร้างห้อง (แผนที่ ความยาก 1 – 6 คน รหัสผ่าน) / ค้นหาห้อง / เข้าห้องด่วน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ห้องรอ: ผู้เล่นกด Ready แล้ว Host กด Start — ออกจากห้องแล้วปิดห้อง EOS ด้วย ไม่มีห้องค้างในรายการ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เมนู Esc และการตั้งค่า: ความสว่าง เสียงแยก 4 หมวด เปลี่ยนปุ่มได้ และต้องกด Apply ถึงจะบันทึก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fmla="val 3478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777240" y="40233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จุดที่ตัดสินใจ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777240" y="4526280"/>
            <a:ext cx="10634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เกมออนไลน์หยุดเวลาไม่ได้ — เมนู Esc จึงแค่ล็อกการควบคุมของเราและปิดไมค์ ไม่หยุดเกมของเพื่อน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รหัสผ่านห้องให้ Host ตรวจหลังเชื่อมต่อ ไม่เก็บไว้บน EOS และบอกเหตุผลชัดเจน: รหัสผิด / ห้องเต็ม / เกมเริ่มไปแล้ว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3,432 บรรทัด · 17 ไฟล์ · สร้างเมนูทั้งหมดได้ในคลิกเดียวจาก Editor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" name="Google Shape;352;p17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9. เสียงพูด 3D และวิทยุสื่อสาร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5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777240" y="16002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ปัญหา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777240" y="2103120"/>
            <a:ext cx="4983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ต่อระบบเสียงของ Epic แล้วทุกคนเข้าห้องเสียงได้ แต่ไม่มีใครได้ยินใคร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EOS SDK เวอร์ชันที่ใช้ไม่ส่งเสียงให้ตัวเกม จึงทำเสียง 3D และวิทยุไม่ได้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6199632" y="146304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6428232" y="16002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ทางแก้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6428232" y="2103120"/>
            <a:ext cx="4983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ส่งเสียงผ่าน Mirror เอง บีบอัดและส่งเฉพาะตอนพูด (~65 kbit/s)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Host ตัดสินว่าใครได้ยิน — อยู่ใกล้ไม่เกิน 25 เมตร หรือพกวิทยุที่เปิดอยู่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548640" y="3657600"/>
            <a:ext cx="11091672" cy="2331720"/>
          </a:xfrm>
          <a:prstGeom prst="roundRect">
            <a:avLst>
              <a:gd fmla="val 313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 txBox="1"/>
          <p:nvPr/>
        </p:nvSpPr>
        <p:spPr>
          <a:xfrm>
            <a:off x="777240" y="37947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สิ่งที่ผู้เล่นได้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731520" y="4297680"/>
            <a:ext cx="10725912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ไมค์เปิดตลอด (ปิดเฉพาะตอนเปิดเมนู Esc) เสียงออกจากปากตัวละคร เบาลงตามระยะ และแยกซ้าย-ขวาได้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วิทยุสื่อสาร: ถือในมือ เปิดเครื่อง แล้วกดเมาส์ซ้ายค้าง ทุกคนที่พกวิทยุที่เปิดอยู่ได้ยิน ไม่จำกัดระยะ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Hotbar 4 ช่อง (ในมือ 1 + กระเป๋า 3) ข้อมูลคุมโดย Server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ทดสอบจริง 3 เครื่องพร้อมกัน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2,725 บรรทัด · 16 ไฟล์ · Mirror + Unity Microphone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" name="Google Shape;370;p18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วัดก่อน แล้วค่อยตั้งตัวเลข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TaskTimer — เครื่องมือที่ผมเขียนขึ้นเพื่อบาลานซ์เกม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548640" y="1463040"/>
            <a:ext cx="5029200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548640" y="17830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4.5 วินาที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548640" y="26517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เวลาเฉลี่ยต่อ 1 Task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(วัดจริงในฉากทดสอบ)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5788152" y="1463040"/>
            <a:ext cx="5852160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6016752" y="160020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แปลว่าอะไร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6016752" y="2103120"/>
            <a:ext cx="53949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รอบ 15 นาที ถ้า Task ละ 4.5 วินาที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ต้องมี Task มากกว่า 600 อัน ซึ่งเป็นไปไม่ได้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9A8F8B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ตัวเลขความยากที่ตั้งไว้ก่อนหน้านี้จึงผิดทั้งหมด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548640" y="3886200"/>
            <a:ext cx="11091672" cy="2103120"/>
          </a:xfrm>
          <a:prstGeom prst="roundRect">
            <a:avLst>
              <a:gd fmla="val 3478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 txBox="1"/>
          <p:nvPr/>
        </p:nvSpPr>
        <p:spPr>
          <a:xfrm>
            <a:off x="777240" y="402336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สิ่งที่วางไว้ → ทำแล้วในสัปดาห์ที่ 6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731520" y="4526280"/>
            <a:ext cx="107259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กลับไปใช้นิยามเดิมใน GDD คือ 1 Task = ทำยอดรวมให้ครบ ไม่ใช่ลูกค้า 1 คน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สร้างฉากโรงหนังจริง แล้ววัดซ้ำ เพราะเวลาเดินในแผนที่จริงคือส่วนที่หายไปจากตัวเลขนี้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6: ปรับบาลานซ์ Task 2 รอบ และปรับเป้าหมาย/จังหวะของด่าน Cinema แล้ว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7" name="Google Shape;387;p19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/>
          <p:nvPr/>
        </p:nvSpPr>
        <p:spPr>
          <a:xfrm>
            <a:off x="731520" y="1600200"/>
            <a:ext cx="73152" cy="1737360"/>
          </a:xfrm>
          <a:prstGeom prst="rect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1005840" y="1554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ช่วงที่ 2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1005840" y="19202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4000"/>
              <a:buFont typeface="Tahoma"/>
              <a:buNone/>
            </a:pPr>
            <a:r>
              <a:rPr b="1" i="0" lang="en-US" sz="40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6</a:t>
            </a:r>
            <a:endParaRPr b="0" i="0" sz="4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1005840" y="2743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จากเกมที่เข้าห้องได้ เป็นเกมที่เล่นครบหนึ่งด่าน</a:t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1005840" y="3108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28 กันยายน – 4 ตุลาคม 2026  ·  21 commit  ·  15 สคริปต์ใหม่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731520" y="4069080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868680" y="4069080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1371600" y="4069080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4276344" y="4069080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4413504" y="4069080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4916424" y="4069080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ลดเสียงรบกวน + มิเตอร์เสียง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7821168" y="4069080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7958328" y="4069080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8461248" y="4069080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ผีแบบออนไลน์กลับมาใช้ได้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731520" y="4727448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868680" y="4727448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1371600" y="4727448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 และร้านค้า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4276344" y="4727448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4413504" y="4727448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14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p20"/>
          <p:cNvSpPr txBox="1"/>
          <p:nvPr/>
        </p:nvSpPr>
        <p:spPr>
          <a:xfrm>
            <a:off x="4916424" y="4727448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กฎของไอเทมและเซฟ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7821168" y="4727448"/>
            <a:ext cx="3361944" cy="512064"/>
          </a:xfrm>
          <a:prstGeom prst="roundRect">
            <a:avLst>
              <a:gd fmla="val 1428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7958328" y="4727448"/>
            <a:ext cx="502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8461248" y="4727448"/>
            <a:ext cx="26304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เครื่องมือสำหรับทดสอบ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10. ลูปการเล่นทั้งด่าน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29 – 30 ก.ย. — เริ่มด่าน ทำ Task หนี แล้วดูผล ครบในรอบเดียว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548640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1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685800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00:00 เริ่มคืน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685800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นาฬิกาเดินในเกม 1 ชม. = 2.5 นาที (ตอนทดสอบตั้งให้สั้นลง)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21"/>
          <p:cNvSpPr/>
          <p:nvPr/>
        </p:nvSpPr>
        <p:spPr>
          <a:xfrm rot="5400000">
            <a:off x="2593238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1"/>
          <p:cNvSpPr/>
          <p:nvPr/>
        </p:nvSpPr>
        <p:spPr>
          <a:xfrm>
            <a:off x="2830982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"/>
          <p:cNvSpPr txBox="1"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2968142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 Task ให้ครบ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2968142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 โซน: บอร์ดป๊อปคอร์น 4 รายการ และบอร์ดตั๋ว 6 รายการ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4" name="Google Shape;434;p21"/>
          <p:cNvSpPr/>
          <p:nvPr/>
        </p:nvSpPr>
        <p:spPr>
          <a:xfrm rot="5400000">
            <a:off x="4875581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1"/>
          <p:cNvSpPr/>
          <p:nvPr/>
        </p:nvSpPr>
        <p:spPr>
          <a:xfrm>
            <a:off x="5113325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1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8" name="Google Shape;438;p21"/>
          <p:cNvSpPr txBox="1"/>
          <p:nvPr/>
        </p:nvSpPr>
        <p:spPr>
          <a:xfrm>
            <a:off x="5250485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06:00 ประตูเรืองแสง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5250485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เปิดเมื่อทุกโซนเสร็จ และถึง 06:00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0" name="Google Shape;440;p21"/>
          <p:cNvSpPr/>
          <p:nvPr/>
        </p:nvSpPr>
        <p:spPr>
          <a:xfrm rot="5400000">
            <a:off x="7157923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7395667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7532827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06:00 – 07:00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5" name="Google Shape;445;p21"/>
          <p:cNvSpPr txBox="1"/>
          <p:nvPr/>
        </p:nvSpPr>
        <p:spPr>
          <a:xfrm>
            <a:off x="7532827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ชั่วโมงสุดท้าย ผีออกล่า 07:00 ใครยังอยู่ข้างใน = ตาย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6" name="Google Shape;446;p21"/>
          <p:cNvSpPr/>
          <p:nvPr/>
        </p:nvSpPr>
        <p:spPr>
          <a:xfrm rot="5400000">
            <a:off x="9440266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9678010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"/>
          <p:cNvSpPr txBox="1"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9815170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หน้าสรุปผล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9815170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หนีรอด / ตาย / ล้มกี่ครั้ง / Task / เงิน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548640" y="3200400"/>
            <a:ext cx="5394960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เงินและหน้าสรุปผล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731520" y="3840480"/>
            <a:ext cx="5029200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รอด: จำนวน Task ของตัวเอง × 10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ตาย: ได้ 10 เป็นค่าปลอบใจ พร้อมข้อความเสียใจด้วย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เงินนับขึ้นจาก 0 แล้วบันทึกลงเซฟครั้งเดียว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รายชื่อผู้เล่น: ยังเล่นอยู่ / หนีแล้ว / ตาย / ออกไป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6245352" y="3200400"/>
            <a:ext cx="5394960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 txBox="1"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หลังจบรอบของตัวเอง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6428232" y="3840480"/>
            <a:ext cx="5029200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คนที่จบแล้วคุยกันได้ (เสียงธรรมดา ไม่ 3D)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คนที่ยังเล่นอยู่ไม่ได้ยินคนที่จบแล้ว และกลับกัน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ผีไม่สนใจคนที่หนีแล้ว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แก้บั๊ก: ร่างคนที่หนีแล้วตกทะลุพื้น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MatchDirector.cs, ZoneTaskList.cs, ExitPoint.cs, MatchHUD.cs, MatchResultsUI.cs · Tools › Pre-Thesis › Setup Gameplay Loop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9" name="Google Shape;459;p21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11. เสียงพูด: ลดเสียงรบกวน + มิเตอร์เสียง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29 ก.ย. — ไมค์ราคาถูกทำให้เสียงคีย์บอร์ดดังจนแถบไมค์ขึ้นแดง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548640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685800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ไมค์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685800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อัดเสียง 48 kHz ทีละ 10 ms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2" name="Google Shape;472;p22"/>
          <p:cNvSpPr/>
          <p:nvPr/>
        </p:nvSpPr>
        <p:spPr>
          <a:xfrm rot="5400000">
            <a:off x="2593238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2"/>
          <p:cNvSpPr/>
          <p:nvPr/>
        </p:nvSpPr>
        <p:spPr>
          <a:xfrm>
            <a:off x="2830982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2968142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ลดเสียงรบกวน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2968142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ตัดเสียงพัดลม / เสียงซ่า ที่ดังคงที่ (ลดได้ ~12 dB ตอนทดสอบ)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22"/>
          <p:cNvSpPr/>
          <p:nvPr/>
        </p:nvSpPr>
        <p:spPr>
          <a:xfrm rot="5400000">
            <a:off x="4875581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5113325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2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2"/>
          <p:cNvSpPr txBox="1"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5250485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Noise Gate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5250485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เปิดเมื่อดังต่อเนื่อง 30 ms — เสียงคลิกคีย์บอร์ดสั้นกว่านั้นจึงไม่ผ่าน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4" name="Google Shape;484;p22"/>
          <p:cNvSpPr/>
          <p:nvPr/>
        </p:nvSpPr>
        <p:spPr>
          <a:xfrm rot="5400000">
            <a:off x="7157923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2"/>
          <p:cNvSpPr/>
          <p:nvPr/>
        </p:nvSpPr>
        <p:spPr>
          <a:xfrm>
            <a:off x="7395667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 txBox="1"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7532827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มิเตอร์เสียง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7532827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MIC + GAME ส่งให้ Server ~10 ครั้ง/วินาที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0" name="Google Shape;490;p22"/>
          <p:cNvSpPr/>
          <p:nvPr/>
        </p:nvSpPr>
        <p:spPr>
          <a:xfrm rot="5400000">
            <a:off x="9440266" y="207568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9678010" y="1463040"/>
            <a:ext cx="1962302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4" name="Google Shape;494;p22"/>
          <p:cNvSpPr txBox="1"/>
          <p:nvPr/>
        </p:nvSpPr>
        <p:spPr>
          <a:xfrm>
            <a:off x="9815170" y="1938528"/>
            <a:ext cx="1687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ให้ผีใช้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9815170" y="2267712"/>
            <a:ext cx="168798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ผีรู้ได้ว่าใคร “ดังเกินไป”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48640" y="3200400"/>
            <a:ext cx="5394960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มิเตอร์ 2 แถบ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8" name="Google Shape;498;p22"/>
          <p:cNvSpPr txBox="1"/>
          <p:nvPr/>
        </p:nvSpPr>
        <p:spPr>
          <a:xfrm>
            <a:off x="731520" y="3840480"/>
            <a:ext cx="5029200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MIC: เสียงพูดจากไมค์จริง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GAME: เสียงในเกม เดิน 0.3 / วิ่ง 0.6 / วิทยุในกระเป๋า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เขียว → เหลือง → แดง พร้อมเส้นบอกระดับ “ดังเกินไป”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ลากย้ายตำแหน่งมิเตอร์บนจอได้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6245352" y="3200400"/>
            <a:ext cx="5394960" cy="2880360"/>
          </a:xfrm>
          <a:prstGeom prst="roundRect">
            <a:avLst>
              <a:gd fmla="val 254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 txBox="1"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หน้าตั้งค่าแบบแท็บ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6428232" y="3840480"/>
            <a:ext cx="5029200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แท็บ: ทั่วไป / การแสดงผล / เสียง / ปุ่มควบคุม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เลือกไมค์, เปิด/ปิด ลดเสียงรบกวน และ Gate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ระดับ Gate ปรับได้ (ค่าเริ่มต้น −45 dB)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แผงทดสอบเสียง F8 มีเฉพาะ Development Build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VoiceNoiseProcessor.cs, PlayerNoise.cs, NoiseMeterHUD.cs, SettingsPanel.cs, VoiceDebugOverlay.cs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3" name="Google Shape;503;p22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12. ผีแบบออนไลน์กลับมาใช้ได้ และผีไล่ตีคนที่ตีไม่ได้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 ต.ค. — หลัง Pull ไฟล์ผีเวอร์ชันเก่า (เล่นคนเดียว) เข้ามาทับ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48640" y="1417320"/>
            <a:ext cx="3566160" cy="1965960"/>
          </a:xfrm>
          <a:prstGeom prst="roundRect">
            <a:avLst>
              <a:gd fmla="val 37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 txBox="1"/>
          <p:nvPr/>
        </p:nvSpPr>
        <p:spPr>
          <a:xfrm>
            <a:off x="777240" y="15544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อาการที่เจอ (ทดสอบ 30 ก.ย.)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731520" y="2057400"/>
            <a:ext cx="320040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Client เห็นผี 2 ตัว และตัวหนึ่งไม่หายไป ขวางทาง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ไฟดับแค่ฝั่ง Host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ผีไม่ทำดาเมจ และไล่แค่ Host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4315968" y="1417320"/>
            <a:ext cx="3566160" cy="1965960"/>
          </a:xfrm>
          <a:prstGeom prst="roundRect">
            <a:avLst>
              <a:gd fmla="val 37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 txBox="1"/>
          <p:nvPr/>
        </p:nvSpPr>
        <p:spPr>
          <a:xfrm>
            <a:off x="4544568" y="15544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วิธีแก้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>
            <a:off x="4498848" y="2057400"/>
            <a:ext cx="320040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กู้ระบบ Multiplayer ของผีจาก Week 4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ผีคิดบน Server เท่านั้น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ภาพตกใจแสดงเฉพาะคนที่โดน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สถานะไฟเหมือนกันทุกเครื่อง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8083296" y="1417320"/>
            <a:ext cx="3557016" cy="1965960"/>
          </a:xfrm>
          <a:prstGeom prst="roundRect">
            <a:avLst>
              <a:gd fmla="val 372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3"/>
          <p:cNvSpPr txBox="1"/>
          <p:nvPr/>
        </p:nvSpPr>
        <p:spPr>
          <a:xfrm>
            <a:off x="8311896" y="1554480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รวมของใหม่ของนนพัทธ์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8266176" y="2057400"/>
            <a:ext cx="3191256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ในที่มืด เข้าใกล้ 3 ม. = ผีรู้ตัว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ในที่มืด เสียงดังเกินไป = ผีรู้ตัว (ทุกคน ไม่ใช่แค่คนเดียว)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548640" y="3520440"/>
            <a:ext cx="3017520" cy="1920240"/>
          </a:xfrm>
          <a:prstGeom prst="roundRect">
            <a:avLst>
              <a:gd fmla="val 381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 txBox="1"/>
          <p:nvPr/>
        </p:nvSpPr>
        <p:spPr>
          <a:xfrm>
            <a:off x="777240" y="36576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ปัญหาอื่นของผี (ไม่เกี่ยวกับออนไลน์)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731520" y="4160520"/>
            <a:ext cx="265176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ผีไล่คนที่หนีไปแล้ว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ผีไล่คนที่ล้มอยู่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3703320" y="3520440"/>
            <a:ext cx="4572000" cy="1920240"/>
          </a:xfrm>
          <a:prstGeom prst="roundRect">
            <a:avLst>
              <a:gd fmla="val 381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3"/>
          <p:cNvSpPr txBox="1"/>
          <p:nvPr/>
        </p:nvSpPr>
        <p:spPr>
          <a:xfrm>
            <a:off x="3931920" y="3657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วิธีแก้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3886200" y="4160520"/>
            <a:ext cx="42062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เช็ค “ยังอยู่ในรอบ” → ไม่ไล่คนที่หนีแล้ว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เช็ค “ล่าได้” (อยู่ในรอบ + ไม่ล้ม) → ไม่ไล่ ไม่ตบคนที่ล้ม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เป้าหมายล้มกลางทาง → ผีเลิกไล่ กลับไปลาดตระเวน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8412480" y="3520440"/>
            <a:ext cx="3227832" cy="1920240"/>
          </a:xfrm>
          <a:prstGeom prst="roundRect">
            <a:avLst>
              <a:gd fmla="val 3810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3"/>
          <p:cNvSpPr txBox="1"/>
          <p:nvPr/>
        </p:nvSpPr>
        <p:spPr>
          <a:xfrm>
            <a:off x="8641080" y="3657600"/>
            <a:ext cx="2770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ผลลัพธ์หลังแก้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8" name="Google Shape;528;p23"/>
          <p:cNvSpPr txBox="1"/>
          <p:nvPr/>
        </p:nvSpPr>
        <p:spPr>
          <a:xfrm>
            <a:off x="8595360" y="4160520"/>
            <a:ext cx="286207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ผีไม่ไล่คนที่หนีไปแล้ว และคนที่ล้มอยู่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ผีไม่เสียรอบไปกับคนที่ทำดาเมจไม่ได้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548640" y="5559552"/>
            <a:ext cx="11091672" cy="548640"/>
          </a:xfrm>
          <a:prstGeom prst="roundRect">
            <a:avLst>
              <a:gd fmla="val 1333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777240" y="555955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บทเรียน: ก่อนแก้ระบบไหน ต้องดูประวัติ Git ก่อนเสมอ — ไฟล์เก่าที่ Pull เข้ามาทับ ทำให้ระบบที่เคยทำเสร็จแล้วพังได้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GhostManager.cs, TimedGhost.cs, Enemy_Abstract_Class.cs, PlayerRegistry.cs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2" name="Google Shape;532;p23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13. ล็อบบี้ 3 มิติ ร้านค้า และจุดฝึก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9" name="Google Shape;539;p24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 – 3 ต.ค. — ผู้เล่นมีตัวละครเดินในล็อบบี้ ก่อนเริ่มเกม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548640" y="1463040"/>
            <a:ext cx="3566160" cy="2788920"/>
          </a:xfrm>
          <a:prstGeom prst="roundRect">
            <a:avLst>
              <a:gd fmla="val 262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ร้านค้า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2" name="Google Shape;542;p24"/>
          <p:cNvSpPr txBox="1"/>
          <p:nvPr/>
        </p:nvSpPr>
        <p:spPr>
          <a:xfrm>
            <a:off x="731520" y="2103120"/>
            <a:ext cx="3200400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กด E ที่เคาน์เตอร์ เปิดหน้าซื้อของ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วิทยุราคา 100 — ไม่ได้ฟรีแล้ว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ซื้อแล้วได้ของในมือทันที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หักเงินจากเซฟของตัวเอง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4315968" y="1463040"/>
            <a:ext cx="3566160" cy="2788920"/>
          </a:xfrm>
          <a:prstGeom prst="roundRect">
            <a:avLst>
              <a:gd fmla="val 262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4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จุดฝึกมินิเกม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5" name="Google Shape;545;p24"/>
          <p:cNvSpPr txBox="1"/>
          <p:nvPr/>
        </p:nvSpPr>
        <p:spPr>
          <a:xfrm>
            <a:off x="4498848" y="2103120"/>
            <a:ext cx="3200400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ป๊อปคอร์น + เครื่องดื่ม และขายตั๋ว ของจริงจากด่าน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ฝึกแล้วไม่ได้เงิน และไม่โดนดาเมจ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ป้ายบอกวิธีเล่นแต่ละโซน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ป้ายวิธีรับมือผี ผีมาใกล้ กด L ปิดไฟ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8083296" y="1463040"/>
            <a:ext cx="3557016" cy="2788920"/>
          </a:xfrm>
          <a:prstGeom prst="roundRect">
            <a:avLst>
              <a:gd fmla="val 2623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4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กระดานล็อบบี้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8" name="Google Shape;548;p24"/>
          <p:cNvSpPr txBox="1"/>
          <p:nvPr/>
        </p:nvSpPr>
        <p:spPr>
          <a:xfrm>
            <a:off x="8266176" y="2103120"/>
            <a:ext cx="3191256" cy="203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ลูกทีมกด E = Ready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Host กด E = Start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Host กด E ค้าง 1.5 วิ ที่ชื่อ = เตะ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Char char="•"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ปุ่ม M เปิดหน้า Lobby แบบ 2D จัดการได้เหมือนกระดาน จากตรงไหนก็ได้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4"/>
          <p:cNvSpPr txBox="1"/>
          <p:nvPr/>
        </p:nvSpPr>
        <p:spPr>
          <a:xfrm>
            <a:off x="777240" y="4572000"/>
            <a:ext cx="10634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อื่น ๆ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1" name="Google Shape;551;p24"/>
          <p:cNvSpPr txBox="1"/>
          <p:nvPr/>
        </p:nvSpPr>
        <p:spPr>
          <a:xfrm>
            <a:off x="731520" y="5074920"/>
            <a:ext cx="10725912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ตั้งชื่อห้องได้ และค้นหาห้องด้วยชื่อใน Room Browser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คนที่ถูกเตะกลับเข้าห้องได้ · ปุ่ม Kick ในเมนู M ด้วย (กดยืนยัน 2 ครั้ง)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LobbyBuilder.cs, LobbyBoard.cs, ShopTerminal.cs, ShopUI.cs, OverlayPanels.cs, RoHRoomManager.cs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3" name="Google Shape;553;p24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14. กฎของไอเทมและเซฟ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0" name="Google Shape;560;p25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– 3 ต.ค. — ของมีค่า ต้องเสียได้ และส่งต่อให้เพื่อนได้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548640" y="1463040"/>
            <a:ext cx="2532888" cy="1325880"/>
          </a:xfrm>
          <a:prstGeom prst="roundRect">
            <a:avLst>
              <a:gd fmla="val 551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5"/>
          <p:cNvSpPr txBox="1"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4" name="Google Shape;564;p25"/>
          <p:cNvSpPr txBox="1"/>
          <p:nvPr/>
        </p:nvSpPr>
        <p:spPr>
          <a:xfrm>
            <a:off x="685800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ซื้อในล็อบบี้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685800" y="2267712"/>
            <a:ext cx="2258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ไอเทมถาวร 1 ชิ้นต่อชนิดในเซฟ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6" name="Google Shape;566;p25"/>
          <p:cNvSpPr/>
          <p:nvPr/>
        </p:nvSpPr>
        <p:spPr>
          <a:xfrm rot="5400000">
            <a:off x="3163824" y="200710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5"/>
          <p:cNvSpPr/>
          <p:nvPr/>
        </p:nvSpPr>
        <p:spPr>
          <a:xfrm>
            <a:off x="3401568" y="1463040"/>
            <a:ext cx="2532888" cy="1325880"/>
          </a:xfrm>
          <a:prstGeom prst="roundRect">
            <a:avLst>
              <a:gd fmla="val 551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5"/>
          <p:cNvSpPr txBox="1"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>
            <a:off x="3538728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พาเข้าด่าน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3538728" y="2267712"/>
            <a:ext cx="2258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เริ่มด่านด้วยของไม่ซ้ำ (สูงสุด 1 ชิ้น/ชนิด)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2" name="Google Shape;572;p25"/>
          <p:cNvSpPr/>
          <p:nvPr/>
        </p:nvSpPr>
        <p:spPr>
          <a:xfrm rot="5400000">
            <a:off x="6016752" y="200710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5"/>
          <p:cNvSpPr/>
          <p:nvPr/>
        </p:nvSpPr>
        <p:spPr>
          <a:xfrm>
            <a:off x="6254496" y="1463040"/>
            <a:ext cx="2532888" cy="1325880"/>
          </a:xfrm>
          <a:prstGeom prst="roundRect">
            <a:avLst>
              <a:gd fmla="val 551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5"/>
          <p:cNvSpPr txBox="1"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6" name="Google Shape;576;p25"/>
          <p:cNvSpPr txBox="1"/>
          <p:nvPr/>
        </p:nvSpPr>
        <p:spPr>
          <a:xfrm>
            <a:off x="6391656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ตาย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7" name="Google Shape;577;p25"/>
          <p:cNvSpPr txBox="1"/>
          <p:nvPr/>
        </p:nvSpPr>
        <p:spPr>
          <a:xfrm>
            <a:off x="6391656" y="2267712"/>
            <a:ext cx="2258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ของทุกชิ้นตกที่พื้น เพื่อนเก็บได้ — เราเสียของ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25"/>
          <p:cNvSpPr/>
          <p:nvPr/>
        </p:nvSpPr>
        <p:spPr>
          <a:xfrm rot="5400000">
            <a:off x="8869680" y="2007108"/>
            <a:ext cx="155448" cy="237744"/>
          </a:xfrm>
          <a:prstGeom prst="rtTriangl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"/>
          <p:cNvSpPr/>
          <p:nvPr/>
        </p:nvSpPr>
        <p:spPr>
          <a:xfrm>
            <a:off x="9107424" y="1463040"/>
            <a:ext cx="2532888" cy="1325880"/>
          </a:xfrm>
          <a:prstGeom prst="roundRect">
            <a:avLst>
              <a:gd fmla="val 5517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5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5"/>
          <p:cNvSpPr txBox="1"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2" name="Google Shape;582;p25"/>
          <p:cNvSpPr txBox="1"/>
          <p:nvPr/>
        </p:nvSpPr>
        <p:spPr>
          <a:xfrm>
            <a:off x="9244584" y="1938528"/>
            <a:ext cx="22585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รอด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3" name="Google Shape;583;p25"/>
          <p:cNvSpPr txBox="1"/>
          <p:nvPr/>
        </p:nvSpPr>
        <p:spPr>
          <a:xfrm>
            <a:off x="9244584" y="2267712"/>
            <a:ext cx="2258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ของที่ถือออกมา = ของเรา (เก็บของเพื่อนได้)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548640" y="3017520"/>
            <a:ext cx="5394960" cy="3063240"/>
          </a:xfrm>
          <a:prstGeom prst="roundRect">
            <a:avLst>
              <a:gd fmla="val 2388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5"/>
          <p:cNvSpPr txBox="1"/>
          <p:nvPr/>
        </p:nvSpPr>
        <p:spPr>
          <a:xfrm>
            <a:off x="777240" y="31546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สำเนาสำรอง (Spare)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6" name="Google Shape;586;p25"/>
          <p:cNvSpPr txBox="1"/>
          <p:nvPr/>
        </p:nvSpPr>
        <p:spPr>
          <a:xfrm>
            <a:off x="731520" y="3657600"/>
            <a:ext cx="5029200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ถือของซ้ำได้ ชิ้นที่ 2 เป็น SPARE ใช้ไม่ได้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มีไว้กด Q ทิ้งให้เพื่อนอย่างเดียว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กลับล็อบบี้แล้ว Spare ยังอยู่ ส่งคืนเพื่อนได้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เริ่มด่านใหม่ = เหลือ 1 ชิ้นต่อชนิด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6245352" y="3017520"/>
            <a:ext cx="5394960" cy="3063240"/>
          </a:xfrm>
          <a:prstGeom prst="roundRect">
            <a:avLst>
              <a:gd fmla="val 2388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 txBox="1"/>
          <p:nvPr/>
        </p:nvSpPr>
        <p:spPr>
          <a:xfrm>
            <a:off x="6473952" y="31546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ปิดช่องโหว่ (3 ต.ค.)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6428232" y="3657600"/>
            <a:ext cx="5029200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กด Leave / Alt-F4 กลางด่าน = เหมือนตาย เสียของที่พามา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ของของคนที่ออก ตกที่พื้นให้เพื่อนเก็บ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Host ออก / เน็ตหลุด / เกมเด้ง = ไม่เสียของ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ซื้อของที่ถืออยู่แล้วไม่ได้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PlayerInventory.cs, PlayerItemThrow.cs, MatchResultsUI.cs, RoHRoomManager.cs, ShopUI.cs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1" name="Google Shape;591;p25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6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15. เครื่องมือสำหรับทดสอบ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8" name="Google Shape;598;p26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– 3 ต.ค. — มีเฉพาะใน Development Build ไม่มีในตัวเกมจริง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548640" y="1463040"/>
            <a:ext cx="5394960" cy="4617720"/>
          </a:xfrm>
          <a:prstGeom prst="roundRect">
            <a:avLst>
              <a:gd fmla="val 158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6"/>
          <p:cNvSpPr txBox="1"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แผงโกง (กด F1)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1" name="Google Shape;601;p26"/>
          <p:cNvSpPr txBox="1"/>
          <p:nvPr/>
        </p:nvSpPr>
        <p:spPr>
          <a:xfrm>
            <a:off x="731520" y="2103120"/>
            <a:ext cx="5029200" cy="3867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เงิน +100 / +1000, รีเซ็ตเซฟ, ให้วิทยุ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อมตะ, เติมเลือด, ล้ม, ตาย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บินทะลุกำแพง (Noclip)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เวลา +1 ชม., ทำบอร์ดครบ, เปิดประตูทันที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เปิด/ปิดไฟ, หยุดผี, วาร์ปไปหาผี, เห็นตำแหน่งผี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คำสั่งที่กระทบทุกคน ส่งให้ Server ตัดสิน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ใช้คำสั่งฝั่ง Server ได้เมื่อ Host เป็น Development Build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6245352" y="1463040"/>
            <a:ext cx="5394960" cy="4617720"/>
          </a:xfrm>
          <a:prstGeom prst="roundRect">
            <a:avLst>
              <a:gd fmla="val 158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6"/>
          <p:cNvSpPr txBox="1"/>
          <p:nvPr/>
        </p:nvSpPr>
        <p:spPr>
          <a:xfrm>
            <a:off x="6473952" y="160020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โหมด Spectate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4" name="Google Shape;604;p26"/>
          <p:cNvSpPr txBox="1"/>
          <p:nvPr/>
        </p:nvSpPr>
        <p:spPr>
          <a:xfrm>
            <a:off x="6428232" y="2103120"/>
            <a:ext cx="5029200" cy="3867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ปุ่ม Spectate ใน Room Browser เข้าดูห้องได้แม้ห้องเต็มหรือกำลังเล่น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ไม่มีตัวละคร ไม่มีใครเห็น ผีไม่สนใจ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บินอิสระ หรือกด E / Q ตามผู้เล่น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กล้องตามผู้เล่นเองหลังเปลี่ยนฉาก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กดเมาส์ซ้ายค้างพูด: ผู้เล่นใกล้ ๆ ได้ยินแบบ 3D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ห้อง 6 คนรับ Spectate เพิ่มได้ 3 คน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5" name="Google Shape;605;p26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ไฟล์: DevCheatPanel.cs, DevSpectatorCamera.cs, SpectatorSession.cs, RoomPasswordAuthenticator.cs, VoiceNetwork.cs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6" name="Google Shape;606;p26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7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บั๊กที่เจอจากการอ่านโค้ด ไม่ใช่การเดา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3" name="Google Shape;613;p27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5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548640" y="1417320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713232" y="1504188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7"/>
          <p:cNvSpPr txBox="1"/>
          <p:nvPr/>
        </p:nvSpPr>
        <p:spPr>
          <a:xfrm>
            <a:off x="713232" y="15041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1234440" y="1417320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ผีไล่ได้แค่คนเดียว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8" name="Google Shape;618;p27"/>
          <p:cNvSpPr txBox="1"/>
          <p:nvPr/>
        </p:nvSpPr>
        <p:spPr>
          <a:xfrm>
            <a:off x="4617720" y="1417320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โค้ดหาผู้เล่นด้วยการค้นหาแท็ก ซึ่งคืนค่าแค่ตัวแรกที่เจอเสมอ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548640" y="2002536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713232" y="2089404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7"/>
          <p:cNvSpPr txBox="1"/>
          <p:nvPr/>
        </p:nvSpPr>
        <p:spPr>
          <a:xfrm>
            <a:off x="713232" y="20894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1234440" y="2002536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มินิเกมดับทั้งระบบ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3" name="Google Shape;623;p27"/>
          <p:cNvSpPr txBox="1"/>
          <p:nvPr/>
        </p:nvSpPr>
        <p:spPr>
          <a:xfrm>
            <a:off x="4617720" y="2002536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Mirror ปิดวัตถุในฉากที่มี NetworkIdentity ตอนโหลด ถ้าไม่มีเซิร์ฟเวอร์ก็ไม่ถูกเปิดกลับ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548640" y="2587752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13232" y="2674620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7"/>
          <p:cNvSpPr txBox="1"/>
          <p:nvPr/>
        </p:nvSpPr>
        <p:spPr>
          <a:xfrm>
            <a:off x="713232" y="26746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7" name="Google Shape;627;p27"/>
          <p:cNvSpPr txBox="1"/>
          <p:nvPr/>
        </p:nvSpPr>
        <p:spPr>
          <a:xfrm>
            <a:off x="1234440" y="2587752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ค่าที่ซิงก์ไม่อัปเดตบนเครื่องโฮสต์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4617720" y="2587752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Mirror ไม่เรียก hook บนเครื่องที่เป็นคนแก้ค่าเอง ต้องสั่งเองเพิ่ม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548640" y="3172968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713232" y="3259836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7"/>
          <p:cNvSpPr txBox="1"/>
          <p:nvPr/>
        </p:nvSpPr>
        <p:spPr>
          <a:xfrm>
            <a:off x="713232" y="32598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2" name="Google Shape;632;p27"/>
          <p:cNvSpPr txBox="1"/>
          <p:nvPr/>
        </p:nvSpPr>
        <p:spPr>
          <a:xfrm>
            <a:off x="1234440" y="3172968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Editor ขึ้น error ทุกครั้งที่เพิ่มคอมโพเนนต์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3" name="Google Shape;633;p27"/>
          <p:cNvSpPr txBox="1"/>
          <p:nvPr/>
        </p:nvSpPr>
        <p:spPr>
          <a:xfrm>
            <a:off x="4617720" y="3172968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ตั้งชื่อเมธอด static ว่า Reset ซึ่งชนกับชื่อที่ Unity จองไว้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548640" y="3758184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713232" y="3845052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7"/>
          <p:cNvSpPr txBox="1"/>
          <p:nvPr/>
        </p:nvSpPr>
        <p:spPr>
          <a:xfrm>
            <a:off x="713232" y="38450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7" name="Google Shape;637;p27"/>
          <p:cNvSpPr txBox="1"/>
          <p:nvPr/>
        </p:nvSpPr>
        <p:spPr>
          <a:xfrm>
            <a:off x="1234440" y="3758184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 ไม่บันทึกอะไรเลย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8" name="Google Shape;638;p27"/>
          <p:cNvSpPr txBox="1"/>
          <p:nvPr/>
        </p:nvSpPr>
        <p:spPr>
          <a:xfrm>
            <a:off x="4617720" y="3758184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จุดเก็บเวลาอยู่ในโค้ดฝั่งออนไลน์อย่างเดียว ฉากทดสอบจึงไม่เคยเรียกถึง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548640" y="4343400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713232" y="4430268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7"/>
          <p:cNvSpPr txBox="1"/>
          <p:nvPr/>
        </p:nvSpPr>
        <p:spPr>
          <a:xfrm>
            <a:off x="713232" y="44302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2" name="Google Shape;642;p27"/>
          <p:cNvSpPr txBox="1"/>
          <p:nvPr/>
        </p:nvSpPr>
        <p:spPr>
          <a:xfrm>
            <a:off x="1234440" y="4343400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Unity ค้างตอน Host กดจบเกม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3" name="Google Shape;643;p27"/>
          <p:cNvSpPr txBox="1"/>
          <p:nvPr/>
        </p:nvSpPr>
        <p:spPr>
          <a:xfrm>
            <a:off x="4617720" y="4343400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หยุดเซิร์ฟเวอร์กับโหลดเมนูในเฟรมเดียวกัน — หาเจอจากการไล่ log ทีละขั้น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4" name="Google Shape;644;p27"/>
          <p:cNvSpPr/>
          <p:nvPr/>
        </p:nvSpPr>
        <p:spPr>
          <a:xfrm>
            <a:off x="548640" y="4928616"/>
            <a:ext cx="11091672" cy="521208"/>
          </a:xfrm>
          <a:prstGeom prst="roundRect">
            <a:avLst>
              <a:gd fmla="val 1403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713232" y="5015484"/>
            <a:ext cx="347472" cy="347472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7"/>
          <p:cNvSpPr txBox="1"/>
          <p:nvPr/>
        </p:nvSpPr>
        <p:spPr>
          <a:xfrm>
            <a:off x="713232" y="50154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7" name="Google Shape;647;p27"/>
          <p:cNvSpPr txBox="1"/>
          <p:nvPr/>
        </p:nvSpPr>
        <p:spPr>
          <a:xfrm>
            <a:off x="1234440" y="4928616"/>
            <a:ext cx="33375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เข้าห้องเสียงได้ แต่ไม่มีใครได้ยิน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8" name="Google Shape;648;p27"/>
          <p:cNvSpPr txBox="1"/>
          <p:nvPr/>
        </p:nvSpPr>
        <p:spPr>
          <a:xfrm>
            <a:off x="4617720" y="4928616"/>
            <a:ext cx="68580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EOS SDK เวอร์ชันที่ใช้ไม่ส่งเสียงให้ตัวเกม — เปลี่ยนไปส่งเสียงผ่าน Mirror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9" name="Google Shape;649;p27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ทุกตัวหาเจอด้วยการไล่อ่านโค้ด เอกสาร และ log จริง ไม่ได้ลองสุ่มแก้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0" name="Google Shape;650;p27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8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บั๊กใหญ่สัปดาห์ที่ 6: ไมค์ทำเกมกระตุก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7" name="Google Shape;657;p28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เป็น Major Bug — เจอตอนตรวจโค้ดทั้งโปรเจค 2 ต.ค. แก้แล้ว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548640" y="14630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ผู้เล่นเจออะไร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0" name="Google Shape;660;p28"/>
          <p:cNvSpPr txBox="1"/>
          <p:nvPr/>
        </p:nvSpPr>
        <p:spPr>
          <a:xfrm>
            <a:off x="731520" y="2103120"/>
            <a:ext cx="320040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ไม่มีไมค์ / ไมค์ถูก Windows บล็อก / แอปอื่นใช้ไมค์อยู่ → เกมกระตุกทั้งด่าน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มีไมค์ปกติก็ยังสะดุดเป็นพัก ๆ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4315968" y="146304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 txBox="1"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สาเหตุ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3" name="Google Shape;663;p28"/>
          <p:cNvSpPr txBox="1"/>
          <p:nvPr/>
        </p:nvSpPr>
        <p:spPr>
          <a:xfrm>
            <a:off x="4498848" y="2103120"/>
            <a:ext cx="3200400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เปิดไมค์ไม่ติด → ลองใหม่ทุกเฟรม (60+ ครั้ง/วินาที) และถาม Windows ทุกครั้ง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อ่านไมค์ทีไรสร้าง Array ใหม่ ~190 KB/วินาที → Garbage Collector หยุดเกม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8083296" y="1463040"/>
            <a:ext cx="3557016" cy="3017520"/>
          </a:xfrm>
          <a:prstGeom prst="roundRect">
            <a:avLst>
              <a:gd fmla="val 2424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 txBox="1"/>
          <p:nvPr/>
        </p:nvSpPr>
        <p:spPr>
          <a:xfrm>
            <a:off x="8311896" y="1600200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วิธีแก้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6" name="Google Shape;666;p28"/>
          <p:cNvSpPr txBox="1"/>
          <p:nvPr/>
        </p:nvSpPr>
        <p:spPr>
          <a:xfrm>
            <a:off x="8266176" y="2103120"/>
            <a:ext cx="3191256" cy="226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ลองเปิดไมค์ใหม่ทุก 3 วินาที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อ่านไมค์ทีละ 256 ค่า ใช้ Buffer เดิมซ้ำ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ผล: ขยะหน่วยความจำ 0 byte ต่อเฟรม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548640" y="4709160"/>
            <a:ext cx="5408676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"/>
          <p:cNvSpPr txBox="1"/>
          <p:nvPr/>
        </p:nvSpPr>
        <p:spPr>
          <a:xfrm>
            <a:off x="548640" y="4818888"/>
            <a:ext cx="54086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60+ → 0.33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9" name="Google Shape;669;p28"/>
          <p:cNvSpPr txBox="1"/>
          <p:nvPr/>
        </p:nvSpPr>
        <p:spPr>
          <a:xfrm>
            <a:off x="640080" y="5458968"/>
            <a:ext cx="52257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ครั้งที่ลองเปิดไมค์ / วินาที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6231636" y="4709160"/>
            <a:ext cx="5408676" cy="1234440"/>
          </a:xfrm>
          <a:prstGeom prst="roundRect">
            <a:avLst>
              <a:gd fmla="val 5926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 txBox="1"/>
          <p:nvPr/>
        </p:nvSpPr>
        <p:spPr>
          <a:xfrm>
            <a:off x="6231636" y="4818888"/>
            <a:ext cx="54086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~190 KB → 0</a:t>
            </a:r>
            <a:endParaRPr b="0" i="0" sz="3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2" name="Google Shape;672;p28"/>
          <p:cNvSpPr txBox="1"/>
          <p:nvPr/>
        </p:nvSpPr>
        <p:spPr>
          <a:xfrm>
            <a:off x="6323076" y="5458968"/>
            <a:ext cx="52257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ขยะหน่วยความจำ / วินาที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3" name="Google Shape;673;p28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9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ปัญหาอื่นที่เจอสัปดาห์ที่ 6 และวิธีแก้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0" name="Google Shape;680;p29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หาสาเหตุให้เจอก่อน แล้วค่อยแก้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681" name="Google Shape;681;p29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{7C9ACBD5-887A-4A05-A050-9FBEE16A049F}</a:tableStyleId>
              </a:tblPr>
              <a:tblGrid>
                <a:gridCol w="3931925"/>
                <a:gridCol w="3566150"/>
                <a:gridCol w="35936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A441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A44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ปัญหา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A441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A44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สาเหตุ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A441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A44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วิธีแก้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1C1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ถูกเตะแล้วตัวละครค้าง เข้าใหม่มีผู้เล่นซ้ำ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EOS ตัดการเชื่อมต่อแต่ไม่แจ้ง Mirror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แก้ EOS Transport ให้แจ้ง Mirror ทุกครั้ง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Spectate มองไม่เห็นผู้เล่น แต่ได้ยินเสียง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Mirror ส่งของในฉากให้เฉพาะคนที่มีตัวละคร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ส่งของทั้งหมดให้ Spectate ตอนโหลดฉากเสร็จ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ร่างคนที่หนีแล้วตกทะลุพื้น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ปิด Collider ของร่างที่ยังมีแรงโน้มถ่วง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หยุดร่างไว้กับที่แทน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ผีตบคนที่ล้ม ไม่มีดาเมจ เสียรอบผีฟรี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ผีเช็คแค่คนตาย ไม่เช็คคนล้ม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ผีไม่ไล่ / ไม่ตบคนที่ล้ม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EFED"/>
                        </a:buClr>
                        <a:buSzPts val="1400"/>
                        <a:buFont typeface="Tahom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4EFE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Host กด Start ตอนเพื่อนยังโหลดไม่เสร็จ เพื่อนหลุด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เช็คแค่คนที่มีที่นั่งแล้ว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8F8B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u="none" cap="none" strike="noStrike">
                          <a:solidFill>
                            <a:srgbClr val="9A8F8B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รอทุกคนโหลดเสร็จก่อนถึงเริ่มได้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2F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  <p:sp>
        <p:nvSpPr>
          <p:cNvPr id="682" name="Google Shape;682;p29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Commit สัปดาห์ที่ 6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28 กันยายน – 4 ตุลาคม 2026  ·  สัปดาห์ที่ 1 – 5 รวม 29 commit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548640" y="141732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685800" y="141732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29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2" name="Google Shape;692;p30"/>
          <p:cNvSpPr txBox="1"/>
          <p:nvPr/>
        </p:nvSpPr>
        <p:spPr>
          <a:xfrm>
            <a:off x="1508760" y="141732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เสียง: มิเตอร์เสียง, ลดเสียงรบกวน + Gate, ตั้งค่าแบบแท็บ, F8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548640" y="189280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0"/>
          <p:cNvSpPr txBox="1"/>
          <p:nvPr/>
        </p:nvSpPr>
        <p:spPr>
          <a:xfrm>
            <a:off x="685800" y="1892808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29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5" name="Google Shape;695;p30"/>
          <p:cNvSpPr txBox="1"/>
          <p:nvPr/>
        </p:nvSpPr>
        <p:spPr>
          <a:xfrm>
            <a:off x="1508760" y="1892808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ปรับเสียงรบกวน: Gate −45 dB, แถบ MIC +8 dB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548640" y="236829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0"/>
          <p:cNvSpPr txBox="1"/>
          <p:nvPr/>
        </p:nvSpPr>
        <p:spPr>
          <a:xfrm>
            <a:off x="685800" y="2368296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29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1508760" y="2368296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Prototype gameplay loop and match flow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548640" y="2843784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0"/>
          <p:cNvSpPr txBox="1"/>
          <p:nvPr/>
        </p:nvSpPr>
        <p:spPr>
          <a:xfrm>
            <a:off x="685800" y="2843784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30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1" name="Google Shape;701;p30"/>
          <p:cNvSpPr txBox="1"/>
          <p:nvPr/>
        </p:nvSpPr>
        <p:spPr>
          <a:xfrm>
            <a:off x="1508760" y="2843784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หลังจบด่าน: รายชื่อผู้เล่น, เสียงตอนจบ, แก้ตกทะลุพื้น, บอร์ดตั๋ว 6 บรรทัด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548640" y="331927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"/>
          <p:cNvSpPr txBox="1"/>
          <p:nvPr/>
        </p:nvSpPr>
        <p:spPr>
          <a:xfrm>
            <a:off x="685800" y="3319272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30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4" name="Google Shape;704;p30"/>
          <p:cNvSpPr txBox="1"/>
          <p:nvPr/>
        </p:nvSpPr>
        <p:spPr>
          <a:xfrm>
            <a:off x="1508760" y="3319272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Tune Cinema gameplay objectives and pacing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548640" y="379476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0"/>
          <p:cNvSpPr txBox="1"/>
          <p:nvPr/>
        </p:nvSpPr>
        <p:spPr>
          <a:xfrm>
            <a:off x="685800" y="379476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30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7" name="Google Shape;707;p30"/>
          <p:cNvSpPr txBox="1"/>
          <p:nvPr/>
        </p:nvSpPr>
        <p:spPr>
          <a:xfrm>
            <a:off x="1508760" y="379476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Enable SSAO and clean URP settings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548640" y="427024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685800" y="4270248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30 ก.ย.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0" name="Google Shape;710;p30"/>
          <p:cNvSpPr txBox="1"/>
          <p:nvPr/>
        </p:nvSpPr>
        <p:spPr>
          <a:xfrm>
            <a:off x="1508760" y="4270248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ปรับบาลานซ์ Task (2 commit)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548640" y="474573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0"/>
          <p:cNvSpPr txBox="1"/>
          <p:nvPr/>
        </p:nvSpPr>
        <p:spPr>
          <a:xfrm>
            <a:off x="685800" y="4745736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3" name="Google Shape;713;p30"/>
          <p:cNvSpPr txBox="1"/>
          <p:nvPr/>
        </p:nvSpPr>
        <p:spPr>
          <a:xfrm>
            <a:off x="1508760" y="4745736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Ghost: กู้ Multiplayer ของ Week 4 + รวมฟีเจอร์ของนนพัทธ์ + แก้บัคผี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548640" y="5221224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0"/>
          <p:cNvSpPr txBox="1"/>
          <p:nvPr/>
        </p:nvSpPr>
        <p:spPr>
          <a:xfrm>
            <a:off x="685800" y="5221224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6" name="Google Shape;716;p30"/>
          <p:cNvSpPr txBox="1"/>
          <p:nvPr/>
        </p:nvSpPr>
        <p:spPr>
          <a:xfrm>
            <a:off x="1508760" y="5221224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มิติ, ร้านค้า, จุดฝึก, ชื่อห้อง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548640" y="569671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0"/>
          <p:cNvSpPr txBox="1"/>
          <p:nvPr/>
        </p:nvSpPr>
        <p:spPr>
          <a:xfrm>
            <a:off x="685800" y="5696712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9" name="Google Shape;719;p30"/>
          <p:cNvSpPr txBox="1"/>
          <p:nvPr/>
        </p:nvSpPr>
        <p:spPr>
          <a:xfrm>
            <a:off x="1508760" y="5696712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Lobby: สร้างจุดฝึกป๊อปคอร์นใหม่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6199632" y="141732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 txBox="1"/>
          <p:nvPr/>
        </p:nvSpPr>
        <p:spPr>
          <a:xfrm>
            <a:off x="6336792" y="141732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2" name="Google Shape;722;p30"/>
          <p:cNvSpPr txBox="1"/>
          <p:nvPr/>
        </p:nvSpPr>
        <p:spPr>
          <a:xfrm>
            <a:off x="7159752" y="141732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แก้แมทวิทยุ (สีม่วงใน Build)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6199632" y="189280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0"/>
          <p:cNvSpPr txBox="1"/>
          <p:nvPr/>
        </p:nvSpPr>
        <p:spPr>
          <a:xfrm>
            <a:off x="6336792" y="1892808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5" name="Google Shape;725;p30"/>
          <p:cNvSpPr txBox="1"/>
          <p:nvPr/>
        </p:nvSpPr>
        <p:spPr>
          <a:xfrm>
            <a:off x="7159752" y="1892808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เตะผู้เล่น, ของตกเมื่อตาย, แก้หลุดตอนถูกเตะ (EOS)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6199632" y="236829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0"/>
          <p:cNvSpPr txBox="1"/>
          <p:nvPr/>
        </p:nvSpPr>
        <p:spPr>
          <a:xfrm>
            <a:off x="6336792" y="2368296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8" name="Google Shape;728;p30"/>
          <p:cNvSpPr txBox="1"/>
          <p:nvPr/>
        </p:nvSpPr>
        <p:spPr>
          <a:xfrm>
            <a:off x="7159752" y="2368296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ปรับความยากสำหรับเทส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6199632" y="2843784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 txBox="1"/>
          <p:nvPr/>
        </p:nvSpPr>
        <p:spPr>
          <a:xfrm>
            <a:off x="6336792" y="2843784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1" name="Google Shape;731;p30"/>
          <p:cNvSpPr txBox="1"/>
          <p:nvPr/>
        </p:nvSpPr>
        <p:spPr>
          <a:xfrm>
            <a:off x="7159752" y="2843784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แผงโกง F1, สำเนาสำรอง, แก้ร้านค้า/หยิบของ/เตะ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6199632" y="331927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0"/>
          <p:cNvSpPr txBox="1"/>
          <p:nvPr/>
        </p:nvSpPr>
        <p:spPr>
          <a:xfrm>
            <a:off x="6336792" y="3319272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4" name="Google Shape;734;p30"/>
          <p:cNvSpPr txBox="1"/>
          <p:nvPr/>
        </p:nvSpPr>
        <p:spPr>
          <a:xfrm>
            <a:off x="7159752" y="3319272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Spectator + แก้บั๊ก (ออกกลางด่าน, ล้ม, ผี, ไมค์, ล็อบบี้)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6199632" y="379476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"/>
          <p:cNvSpPr txBox="1"/>
          <p:nvPr/>
        </p:nvSpPr>
        <p:spPr>
          <a:xfrm>
            <a:off x="6336792" y="3794760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7" name="Google Shape;737;p30"/>
          <p:cNvSpPr txBox="1"/>
          <p:nvPr/>
        </p:nvSpPr>
        <p:spPr>
          <a:xfrm>
            <a:off x="7159752" y="3794760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ใส่ Shop กลับ (หายตอนแก้บั๊กซื้อของ)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6199632" y="427024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0"/>
          <p:cNvSpPr txBox="1"/>
          <p:nvPr/>
        </p:nvSpPr>
        <p:spPr>
          <a:xfrm>
            <a:off x="6336792" y="4270248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0" name="Google Shape;740;p30"/>
          <p:cNvSpPr txBox="1"/>
          <p:nvPr/>
        </p:nvSpPr>
        <p:spPr>
          <a:xfrm>
            <a:off x="7159752" y="4270248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ป้ายบอกวิธีกันผีไล่ (กด L)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6199632" y="474573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0"/>
          <p:cNvSpPr txBox="1"/>
          <p:nvPr/>
        </p:nvSpPr>
        <p:spPr>
          <a:xfrm>
            <a:off x="6336792" y="4745736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3" name="Google Shape;743;p30"/>
          <p:cNvSpPr txBox="1"/>
          <p:nvPr/>
        </p:nvSpPr>
        <p:spPr>
          <a:xfrm>
            <a:off x="7159752" y="4745736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แก้ Spectate ไม่เห็นผู้เล่นที่เข้าก่อน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4" name="Google Shape;744;p30"/>
          <p:cNvSpPr/>
          <p:nvPr/>
        </p:nvSpPr>
        <p:spPr>
          <a:xfrm>
            <a:off x="6199632" y="5221224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0"/>
          <p:cNvSpPr txBox="1"/>
          <p:nvPr/>
        </p:nvSpPr>
        <p:spPr>
          <a:xfrm>
            <a:off x="6336792" y="5221224"/>
            <a:ext cx="822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100"/>
              <a:buFont typeface="Tahoma"/>
              <a:buNone/>
            </a:pPr>
            <a:r>
              <a:rPr b="1" i="0" lang="en-US" sz="11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3 ต.ค.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6" name="Google Shape;746;p30"/>
          <p:cNvSpPr txBox="1"/>
          <p:nvPr/>
        </p:nvSpPr>
        <p:spPr>
          <a:xfrm>
            <a:off x="7159752" y="5221224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แก้บั๊กโหมด Spectate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7" name="Google Shape;747;p30"/>
          <p:cNvSpPr txBox="1"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6 รวม 21 commit (ไม่นับ merge 2 ครั้ง) · ปรับบาลานซ์ Task นับเป็น 2 · มี 1 commit ชื่อ “.”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8" name="Google Shape;748;p30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คำแนะนำจากอาจารย์สัปดาห์ที่ 5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5" name="Google Shape;755;p3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ส่งเกมให้คนอื่นลองเล่น แล้วเก็บ Feedback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9555480" y="411480"/>
            <a:ext cx="2103120" cy="36576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1"/>
          <p:cNvSpPr txBox="1"/>
          <p:nvPr/>
        </p:nvSpPr>
        <p:spPr>
          <a:xfrm>
            <a:off x="9555480" y="411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กำลังทำ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fmla="val 941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1"/>
          <p:cNvSpPr txBox="1"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“ให้ส่งเกมให้คนอื่นทดลองเล่น และเก็บ Feedback จากผู้เล่น”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548640" y="2468880"/>
            <a:ext cx="5394960" cy="3611880"/>
          </a:xfrm>
          <a:prstGeom prst="roundRect">
            <a:avLst>
              <a:gd fmla="val 202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1"/>
          <p:cNvSpPr txBox="1"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สถานะตอนนี้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2" name="Google Shape;762;p31"/>
          <p:cNvSpPr txBox="1"/>
          <p:nvPr/>
        </p:nvSpPr>
        <p:spPr>
          <a:xfrm>
            <a:off x="731520" y="3108960"/>
            <a:ext cx="5029200" cy="2862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ยังทดสอบเต็มรูปแบบไม่ได้ — เพื่อนที่จะมาเล่นยังไม่ว่าง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ได้ผลเบื้องต้นจากการลองให้เล่นแล้ว (ขวามือ)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เตรียมไว้แล้ว: ตัวเกมที่ Build แล้วให้เพื่อนเปิดเล่นได้เลย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เตรียมไว้แล้ว: โหมด Spectate ดูผู้ทดสอบเล่นได้โดยไม่ต้องเข้าไปเป็นผู้เล่น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6245352" y="2468880"/>
            <a:ext cx="5394960" cy="3611880"/>
          </a:xfrm>
          <a:prstGeom prst="roundRect">
            <a:avLst>
              <a:gd fmla="val 2025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1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Feedback ที่ได้แล้ว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5" name="Google Shape;765;p31"/>
          <p:cNvSpPr txBox="1"/>
          <p:nvPr/>
        </p:nvSpPr>
        <p:spPr>
          <a:xfrm>
            <a:off x="6428232" y="3108960"/>
            <a:ext cx="5029200" cy="2862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25400" wrap="square" tIns="254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ดูแค่ในล็อบบี้ ยังเข้าใจยากว่าต้องทำอะไร และอะไรคืออะไร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โซนจำลองในล็อบบี้ยังอธิบายไม่พอ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รสชาติป๊อปคอร์นไม่มีอะไรบอกว่าอันไหนคืออันไหน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Char char="•"/>
            </a:pPr>
            <a:r>
              <a:rPr b="0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ไม่มีภาษาไทยเลย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6" name="Google Shape;766;p31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2600"/>
              <a:buFont typeface="Tahoma"/>
              <a:buNone/>
            </a:pPr>
            <a:r>
              <a:rPr b="1" i="0" lang="en-US" sz="26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สรุปงานทั้งหมดตั้งแต่เริ่มจนถึงตอนนี้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3" name="Google Shape;773;p32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6  ·  12 สิงหาคม – 4 ตุลาคม 2026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4" name="Google Shape;774;p32"/>
          <p:cNvSpPr txBox="1"/>
          <p:nvPr/>
        </p:nvSpPr>
        <p:spPr>
          <a:xfrm>
            <a:off x="548640" y="13716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5 · วางรากฐาน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548640" y="175564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2"/>
          <p:cNvSpPr/>
          <p:nvPr/>
        </p:nvSpPr>
        <p:spPr>
          <a:xfrm>
            <a:off x="658368" y="1810512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2"/>
          <p:cNvSpPr txBox="1"/>
          <p:nvPr/>
        </p:nvSpPr>
        <p:spPr>
          <a:xfrm>
            <a:off x="658368" y="18105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8" name="Google Shape;778;p32"/>
          <p:cNvSpPr txBox="1"/>
          <p:nvPr/>
        </p:nvSpPr>
        <p:spPr>
          <a:xfrm>
            <a:off x="1051560" y="175564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3383280" y="175564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AES-256 แหล่งข้อมูลเดียวของเกม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548640" y="222199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2"/>
          <p:cNvSpPr/>
          <p:nvPr/>
        </p:nvSpPr>
        <p:spPr>
          <a:xfrm>
            <a:off x="658368" y="2276856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2"/>
          <p:cNvSpPr txBox="1"/>
          <p:nvPr/>
        </p:nvSpPr>
        <p:spPr>
          <a:xfrm>
            <a:off x="658368" y="2276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3" name="Google Shape;783;p32"/>
          <p:cNvSpPr txBox="1"/>
          <p:nvPr/>
        </p:nvSpPr>
        <p:spPr>
          <a:xfrm>
            <a:off x="1051560" y="222199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ห้องและการจับคู่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3383280" y="2221992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สร้าง / หา / ล็อกรหัส ผ่าน EOS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5" name="Google Shape;785;p32"/>
          <p:cNvSpPr/>
          <p:nvPr/>
        </p:nvSpPr>
        <p:spPr>
          <a:xfrm>
            <a:off x="548640" y="268833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2"/>
          <p:cNvSpPr/>
          <p:nvPr/>
        </p:nvSpPr>
        <p:spPr>
          <a:xfrm>
            <a:off x="658368" y="274320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2"/>
          <p:cNvSpPr txBox="1"/>
          <p:nvPr/>
        </p:nvSpPr>
        <p:spPr>
          <a:xfrm>
            <a:off x="658368" y="2743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8" name="Google Shape;788;p32"/>
          <p:cNvSpPr txBox="1"/>
          <p:nvPr/>
        </p:nvSpPr>
        <p:spPr>
          <a:xfrm>
            <a:off x="1051560" y="268833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รื้อระบบเพื่อนให้ออนไลน์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9" name="Google Shape;789;p32"/>
          <p:cNvSpPr txBox="1"/>
          <p:nvPr/>
        </p:nvSpPr>
        <p:spPr>
          <a:xfrm>
            <a:off x="3383280" y="2688336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ให้เซิร์ฟเวอร์เป็นคนตัดสิน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0" name="Google Shape;790;p32"/>
          <p:cNvSpPr/>
          <p:nvPr/>
        </p:nvSpPr>
        <p:spPr>
          <a:xfrm>
            <a:off x="548640" y="315468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658368" y="3209544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2"/>
          <p:cNvSpPr txBox="1"/>
          <p:nvPr/>
        </p:nvSpPr>
        <p:spPr>
          <a:xfrm>
            <a:off x="658368" y="3209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3" name="Google Shape;793;p32"/>
          <p:cNvSpPr txBox="1"/>
          <p:nvPr/>
        </p:nvSpPr>
        <p:spPr>
          <a:xfrm>
            <a:off x="1051560" y="315468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ทดสอบไม่ต้องเปิดห้อง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4" name="Google Shape;794;p32"/>
          <p:cNvSpPr txBox="1"/>
          <p:nvPr/>
        </p:nvSpPr>
        <p:spPr>
          <a:xfrm>
            <a:off x="3383280" y="315468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โค้ดชุดเดียว ใช้ได้ทั้งสองโหมด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548640" y="3621024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658368" y="3675888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2"/>
          <p:cNvSpPr txBox="1"/>
          <p:nvPr/>
        </p:nvSpPr>
        <p:spPr>
          <a:xfrm>
            <a:off x="658368" y="36758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8" name="Google Shape;798;p32"/>
          <p:cNvSpPr txBox="1"/>
          <p:nvPr/>
        </p:nvSpPr>
        <p:spPr>
          <a:xfrm>
            <a:off x="1051560" y="362102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9" name="Google Shape;799;p32"/>
          <p:cNvSpPr txBox="1"/>
          <p:nvPr/>
        </p:nvSpPr>
        <p:spPr>
          <a:xfrm>
            <a:off x="3383280" y="3621024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เฟส นาฬิกา ทางออก จบเกม 3 ทาง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0" name="Google Shape;800;p32"/>
          <p:cNvSpPr/>
          <p:nvPr/>
        </p:nvSpPr>
        <p:spPr>
          <a:xfrm>
            <a:off x="548640" y="408736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2"/>
          <p:cNvSpPr/>
          <p:nvPr/>
        </p:nvSpPr>
        <p:spPr>
          <a:xfrm>
            <a:off x="658368" y="4142232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2"/>
          <p:cNvSpPr txBox="1"/>
          <p:nvPr/>
        </p:nvSpPr>
        <p:spPr>
          <a:xfrm>
            <a:off x="658368" y="41422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3" name="Google Shape;803;p32"/>
          <p:cNvSpPr txBox="1"/>
          <p:nvPr/>
        </p:nvSpPr>
        <p:spPr>
          <a:xfrm>
            <a:off x="1051560" y="408736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ความยาก 4 ระดับ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4" name="Google Shape;804;p32"/>
          <p:cNvSpPr txBox="1"/>
          <p:nvPr/>
        </p:nvSpPr>
        <p:spPr>
          <a:xfrm>
            <a:off x="3383280" y="408736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ปรับได้จาก Inspector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5" name="Google Shape;805;p32"/>
          <p:cNvSpPr/>
          <p:nvPr/>
        </p:nvSpPr>
        <p:spPr>
          <a:xfrm>
            <a:off x="548640" y="455371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2"/>
          <p:cNvSpPr/>
          <p:nvPr/>
        </p:nvSpPr>
        <p:spPr>
          <a:xfrm>
            <a:off x="658368" y="4608576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2"/>
          <p:cNvSpPr txBox="1"/>
          <p:nvPr/>
        </p:nvSpPr>
        <p:spPr>
          <a:xfrm>
            <a:off x="658368" y="46085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8" name="Google Shape;808;p32"/>
          <p:cNvSpPr txBox="1"/>
          <p:nvPr/>
        </p:nvSpPr>
        <p:spPr>
          <a:xfrm>
            <a:off x="1051560" y="455371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ผีและมินิเกมหลายคน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9" name="Google Shape;809;p32"/>
          <p:cNvSpPr txBox="1"/>
          <p:nvPr/>
        </p:nvSpPr>
        <p:spPr>
          <a:xfrm>
            <a:off x="3383280" y="4553712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เล่นพร้อมกัน 6 คนได้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548640" y="502005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658368" y="507492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2"/>
          <p:cNvSpPr txBox="1"/>
          <p:nvPr/>
        </p:nvSpPr>
        <p:spPr>
          <a:xfrm>
            <a:off x="658368" y="50749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3" name="Google Shape;813;p32"/>
          <p:cNvSpPr txBox="1"/>
          <p:nvPr/>
        </p:nvSpPr>
        <p:spPr>
          <a:xfrm>
            <a:off x="1051560" y="502005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เมนูหลัก ห้องรอ ตั้งค่า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4" name="Google Shape;814;p32"/>
          <p:cNvSpPr txBox="1"/>
          <p:nvPr/>
        </p:nvSpPr>
        <p:spPr>
          <a:xfrm>
            <a:off x="3383280" y="5020056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Ready – Start, เมนู Esc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5" name="Google Shape;815;p32"/>
          <p:cNvSpPr/>
          <p:nvPr/>
        </p:nvSpPr>
        <p:spPr>
          <a:xfrm>
            <a:off x="548640" y="548640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2"/>
          <p:cNvSpPr/>
          <p:nvPr/>
        </p:nvSpPr>
        <p:spPr>
          <a:xfrm>
            <a:off x="658368" y="5541264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2"/>
          <p:cNvSpPr txBox="1"/>
          <p:nvPr/>
        </p:nvSpPr>
        <p:spPr>
          <a:xfrm>
            <a:off x="658368" y="55412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8" name="Google Shape;818;p32"/>
          <p:cNvSpPr txBox="1"/>
          <p:nvPr/>
        </p:nvSpPr>
        <p:spPr>
          <a:xfrm>
            <a:off x="1051560" y="548640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เสียงพูด 3D และวิทยุ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9" name="Google Shape;819;p32"/>
          <p:cNvSpPr txBox="1"/>
          <p:nvPr/>
        </p:nvSpPr>
        <p:spPr>
          <a:xfrm>
            <a:off x="3383280" y="548640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25 เมตร + วิทยุไม่จำกัดระยะ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0" name="Google Shape;820;p32"/>
          <p:cNvSpPr txBox="1"/>
          <p:nvPr/>
        </p:nvSpPr>
        <p:spPr>
          <a:xfrm>
            <a:off x="6199632" y="13716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6 · เล่นได้ครบหนึ่งด่าน</a:t>
            </a:r>
            <a:endParaRPr b="0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1" name="Google Shape;821;p32"/>
          <p:cNvSpPr/>
          <p:nvPr/>
        </p:nvSpPr>
        <p:spPr>
          <a:xfrm>
            <a:off x="6199632" y="175564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2"/>
          <p:cNvSpPr/>
          <p:nvPr/>
        </p:nvSpPr>
        <p:spPr>
          <a:xfrm>
            <a:off x="6309360" y="1810512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2"/>
          <p:cNvSpPr txBox="1"/>
          <p:nvPr/>
        </p:nvSpPr>
        <p:spPr>
          <a:xfrm>
            <a:off x="6309360" y="18105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4" name="Google Shape;824;p32"/>
          <p:cNvSpPr txBox="1"/>
          <p:nvPr/>
        </p:nvSpPr>
        <p:spPr>
          <a:xfrm>
            <a:off x="6702552" y="175564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ลูปการเล่นทั้งด่าน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5" name="Google Shape;825;p32"/>
          <p:cNvSpPr txBox="1"/>
          <p:nvPr/>
        </p:nvSpPr>
        <p:spPr>
          <a:xfrm>
            <a:off x="9034272" y="175564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00:00 – 07:00 หน้าสรุปผลและเงิน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6199632" y="222199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>
            <a:off x="6309360" y="2276856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2"/>
          <p:cNvSpPr txBox="1"/>
          <p:nvPr/>
        </p:nvSpPr>
        <p:spPr>
          <a:xfrm>
            <a:off x="6309360" y="22768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9" name="Google Shape;829;p32"/>
          <p:cNvSpPr txBox="1"/>
          <p:nvPr/>
        </p:nvSpPr>
        <p:spPr>
          <a:xfrm>
            <a:off x="6702552" y="222199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ลดเสียงรบกวน + มิเตอร์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0" name="Google Shape;830;p32"/>
          <p:cNvSpPr txBox="1"/>
          <p:nvPr/>
        </p:nvSpPr>
        <p:spPr>
          <a:xfrm>
            <a:off x="9034272" y="2221992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Noise Gate, MIC/GAME ให้ผีใช้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6199632" y="2688336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2"/>
          <p:cNvSpPr/>
          <p:nvPr/>
        </p:nvSpPr>
        <p:spPr>
          <a:xfrm>
            <a:off x="6309360" y="2743200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 txBox="1"/>
          <p:nvPr/>
        </p:nvSpPr>
        <p:spPr>
          <a:xfrm>
            <a:off x="6309360" y="2743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4" name="Google Shape;834;p32"/>
          <p:cNvSpPr txBox="1"/>
          <p:nvPr/>
        </p:nvSpPr>
        <p:spPr>
          <a:xfrm>
            <a:off x="6702552" y="268833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ผีแบบออนไลน์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5" name="Google Shape;835;p32"/>
          <p:cNvSpPr txBox="1"/>
          <p:nvPr/>
        </p:nvSpPr>
        <p:spPr>
          <a:xfrm>
            <a:off x="9034272" y="2688336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กู้คืน + ผีไม่ไล่คนที่ล้ม/หนีแล้ว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6199632" y="3154680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2"/>
          <p:cNvSpPr/>
          <p:nvPr/>
        </p:nvSpPr>
        <p:spPr>
          <a:xfrm>
            <a:off x="6309360" y="3209544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2"/>
          <p:cNvSpPr txBox="1"/>
          <p:nvPr/>
        </p:nvSpPr>
        <p:spPr>
          <a:xfrm>
            <a:off x="6309360" y="3209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9" name="Google Shape;839;p32"/>
          <p:cNvSpPr txBox="1"/>
          <p:nvPr/>
        </p:nvSpPr>
        <p:spPr>
          <a:xfrm>
            <a:off x="6702552" y="315468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ล็อบบี้ 3 มิติ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0" name="Google Shape;840;p32"/>
          <p:cNvSpPr txBox="1"/>
          <p:nvPr/>
        </p:nvSpPr>
        <p:spPr>
          <a:xfrm>
            <a:off x="9034272" y="3154680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ร้านค้า จุดฝึก กระดาน เตะผู้เล่น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6199632" y="3621024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2"/>
          <p:cNvSpPr/>
          <p:nvPr/>
        </p:nvSpPr>
        <p:spPr>
          <a:xfrm>
            <a:off x="6309360" y="3675888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2"/>
          <p:cNvSpPr txBox="1"/>
          <p:nvPr/>
        </p:nvSpPr>
        <p:spPr>
          <a:xfrm>
            <a:off x="6309360" y="36758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4" name="Google Shape;844;p32"/>
          <p:cNvSpPr txBox="1"/>
          <p:nvPr/>
        </p:nvSpPr>
        <p:spPr>
          <a:xfrm>
            <a:off x="6702552" y="362102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กฎของไอเทมและเซฟ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5" name="Google Shape;845;p32"/>
          <p:cNvSpPr txBox="1"/>
          <p:nvPr/>
        </p:nvSpPr>
        <p:spPr>
          <a:xfrm>
            <a:off x="9034272" y="3621024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ของตกเมื่อตาย, Spare, ออก = เสียของ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6" name="Google Shape;846;p32"/>
          <p:cNvSpPr/>
          <p:nvPr/>
        </p:nvSpPr>
        <p:spPr>
          <a:xfrm>
            <a:off x="6199632" y="4087368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2"/>
          <p:cNvSpPr/>
          <p:nvPr/>
        </p:nvSpPr>
        <p:spPr>
          <a:xfrm>
            <a:off x="6309360" y="4142232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2"/>
          <p:cNvSpPr txBox="1"/>
          <p:nvPr/>
        </p:nvSpPr>
        <p:spPr>
          <a:xfrm>
            <a:off x="6309360" y="41422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9" name="Google Shape;849;p32"/>
          <p:cNvSpPr txBox="1"/>
          <p:nvPr/>
        </p:nvSpPr>
        <p:spPr>
          <a:xfrm>
            <a:off x="6702552" y="408736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เครื่องมือทดสอบ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0" name="Google Shape;850;p32"/>
          <p:cNvSpPr txBox="1"/>
          <p:nvPr/>
        </p:nvSpPr>
        <p:spPr>
          <a:xfrm>
            <a:off x="9034272" y="408736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แผงโกง F1 และโหมด Spectate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1" name="Google Shape;851;p32"/>
          <p:cNvSpPr/>
          <p:nvPr/>
        </p:nvSpPr>
        <p:spPr>
          <a:xfrm>
            <a:off x="6199632" y="4553712"/>
            <a:ext cx="5440680" cy="402336"/>
          </a:xfrm>
          <a:prstGeom prst="roundRect">
            <a:avLst>
              <a:gd fmla="val 18182" name="adj"/>
            </a:avLst>
          </a:prstGeom>
          <a:solidFill>
            <a:srgbClr val="241C1A"/>
          </a:solidFill>
          <a:ln cap="flat" cmpd="sng" w="9525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2"/>
          <p:cNvSpPr/>
          <p:nvPr/>
        </p:nvSpPr>
        <p:spPr>
          <a:xfrm>
            <a:off x="6309360" y="4608576"/>
            <a:ext cx="292608" cy="29260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2"/>
          <p:cNvSpPr txBox="1"/>
          <p:nvPr/>
        </p:nvSpPr>
        <p:spPr>
          <a:xfrm>
            <a:off x="6309360" y="46085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!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4" name="Google Shape;854;p32"/>
          <p:cNvSpPr txBox="1"/>
          <p:nvPr/>
        </p:nvSpPr>
        <p:spPr>
          <a:xfrm>
            <a:off x="6702552" y="455371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แก้บั๊ก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5" name="Google Shape;855;p32"/>
          <p:cNvSpPr txBox="1"/>
          <p:nvPr/>
        </p:nvSpPr>
        <p:spPr>
          <a:xfrm>
            <a:off x="9034272" y="4553712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Major Bug ไมค์ทำเกมกระตุก + อีก 5 ตัว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6" name="Google Shape;856;p32"/>
          <p:cNvSpPr txBox="1"/>
          <p:nvPr/>
        </p:nvSpPr>
        <p:spPr>
          <a:xfrm>
            <a:off x="548640" y="59893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300"/>
              <a:buFont typeface="Tahoma"/>
              <a:buNone/>
            </a:pPr>
            <a:r>
              <a:rPr b="1" i="0" lang="en-US" sz="13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 50 commit · เขียนเอง 9,000+ บรรทัด + 15 สคริปต์ใหม่ · รื้อให้ออนไลน์ 1,460+ บรรทัด · บั๊กใหญ่ที่หาต้นตอเจอ 18 ตัว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7" name="Google Shape;857;p32"/>
          <p:cNvSpPr txBox="1"/>
          <p:nvPr>
            <p:ph idx="4294967295" type="sldNum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rgbClr val="9A8F8B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