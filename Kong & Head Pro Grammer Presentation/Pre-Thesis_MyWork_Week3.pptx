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next slide sets the boundary between my work and my teammate's before anything is claimed.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" name="Google Shape;26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If the room remembers one slide, it is this one. Left = mine. Right = Atiroj's. Middle = his idea, my multiplayer rewrite.</a:t>
            </a:r>
            <a:endParaRPr/>
          </a:p>
        </p:txBody>
      </p:sp>
      <p:sp>
        <p:nvSpPr>
          <p:cNvPr id="27" name="Google Shape;27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" name="Google Shape;5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" name="Google Shape;74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Say this out loud: I did not invent these features. I made them safe to run over a network.</a:t>
            </a:r>
            <a:endParaRPr/>
          </a:p>
        </p:txBody>
      </p:sp>
      <p:sp>
        <p:nvSpPr>
          <p:cNvPr id="106" name="Google Shape;106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6" name="Google Shape;136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6" name="Google Shape;15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Play the three recordings here if there is time. The frames on this slide are pulled from them.</a:t>
            </a:r>
            <a:endParaRPr/>
          </a:p>
        </p:txBody>
      </p:sp>
      <p:sp>
        <p:nvSpPr>
          <p:cNvPr id="157" name="Google Shape;157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9" name="Google Shape;179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2" name="Google Shape;252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Close on this. The rewrite column is the harder half — changing working code so it behaves identically for one player and correctly for six, without breaking what Atiroj built. None of this is visible in a screenshot of the game; all of it is the reason there is a game to screenshot.</a:t>
            </a:r>
            <a:endParaRPr/>
          </a:p>
        </p:txBody>
      </p:sp>
      <p:sp>
        <p:nvSpPr>
          <p:cNvPr id="253" name="Google Shape;253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D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/>
        </p:nvSpPr>
        <p:spPr>
          <a:xfrm>
            <a:off x="658368" y="2048256"/>
            <a:ext cx="110578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8A28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D08A28"/>
                </a:solidFill>
                <a:latin typeface="Calibri"/>
                <a:ea typeface="Calibri"/>
                <a:cs typeface="Calibri"/>
                <a:sym typeface="Calibri"/>
              </a:rPr>
              <a:t>PERSONAL WORK REPORT  ·  WEEK 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3"/>
          <p:cNvSpPr txBox="1"/>
          <p:nvPr/>
        </p:nvSpPr>
        <p:spPr>
          <a:xfrm>
            <a:off x="658368" y="2395728"/>
            <a:ext cx="11057839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4600"/>
              <a:buFont typeface="Cambria"/>
              <a:buNone/>
            </a:pPr>
            <a:r>
              <a:rPr b="1" i="0" lang="en-US" sz="4600" u="none" cap="none" strike="noStrike">
                <a:solidFill>
                  <a:srgbClr val="F0EBE4"/>
                </a:solidFill>
                <a:latin typeface="Cambria"/>
                <a:ea typeface="Cambria"/>
                <a:cs typeface="Cambria"/>
                <a:sym typeface="Cambria"/>
              </a:rPr>
              <a:t>My work on the Pre-Thesis Demo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3"/>
          <p:cNvSpPr txBox="1"/>
          <p:nvPr/>
        </p:nvSpPr>
        <p:spPr>
          <a:xfrm>
            <a:off x="658368" y="3328416"/>
            <a:ext cx="86868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95A2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9B95A2"/>
                </a:solidFill>
                <a:latin typeface="Calibri"/>
                <a:ea typeface="Calibri"/>
                <a:cs typeface="Calibri"/>
                <a:sym typeface="Calibri"/>
              </a:rPr>
              <a:t>Mr. Kongkidakorn Chuayjang  ·  Head Programmer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 txBox="1"/>
          <p:nvPr/>
        </p:nvSpPr>
        <p:spPr>
          <a:xfrm>
            <a:off x="658368" y="4425696"/>
            <a:ext cx="35204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8A28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D08A28"/>
                </a:solidFill>
                <a:latin typeface="Calibri"/>
                <a:ea typeface="Calibri"/>
                <a:cs typeface="Calibri"/>
                <a:sym typeface="Calibri"/>
              </a:rPr>
              <a:t>REPORTING WEEK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 txBox="1"/>
          <p:nvPr/>
        </p:nvSpPr>
        <p:spPr>
          <a:xfrm>
            <a:off x="658368" y="4663440"/>
            <a:ext cx="35204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Week 3  · 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 txBox="1"/>
          <p:nvPr/>
        </p:nvSpPr>
        <p:spPr>
          <a:xfrm>
            <a:off x="4361688" y="4425696"/>
            <a:ext cx="35204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8A28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D08A28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 txBox="1"/>
          <p:nvPr/>
        </p:nvSpPr>
        <p:spPr>
          <a:xfrm>
            <a:off x="4361688" y="4663440"/>
            <a:ext cx="35204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Pre-Thesis Demo  ·  Unity 6.5 + Mirror + EOS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 txBox="1"/>
          <p:nvPr/>
        </p:nvSpPr>
        <p:spPr>
          <a:xfrm>
            <a:off x="658368" y="5650992"/>
            <a:ext cx="86868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876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6E6876"/>
                </a:solidFill>
                <a:latin typeface="Calibri"/>
                <a:ea typeface="Calibri"/>
                <a:cs typeface="Calibri"/>
                <a:sym typeface="Calibri"/>
              </a:rPr>
              <a:t>Every claim in this deck is traceable to a commit in the team repository.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216"/>
        </a:solid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8A28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D08A28"/>
                </a:solidFill>
                <a:latin typeface="Calibri"/>
                <a:ea typeface="Calibri"/>
                <a:cs typeface="Calibri"/>
                <a:sym typeface="Calibri"/>
              </a:rPr>
              <a:t>BEFORE ANYTHING ELSE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4"/>
          <p:cNvSpPr txBox="1"/>
          <p:nvPr/>
        </p:nvSpPr>
        <p:spPr>
          <a:xfrm>
            <a:off x="566928" y="640080"/>
            <a:ext cx="11057839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F0EBE4"/>
                </a:solidFill>
                <a:latin typeface="Cambria"/>
                <a:ea typeface="Cambria"/>
                <a:cs typeface="Cambria"/>
                <a:sym typeface="Cambria"/>
              </a:rPr>
              <a:t>What is mine, and what is not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4"/>
          <p:cNvSpPr txBox="1"/>
          <p:nvPr/>
        </p:nvSpPr>
        <p:spPr>
          <a:xfrm>
            <a:off x="566928" y="1481328"/>
            <a:ext cx="11057839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95A2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9B95A2"/>
                </a:solidFill>
                <a:latin typeface="Calibri"/>
                <a:ea typeface="Calibri"/>
                <a:cs typeface="Calibri"/>
                <a:sym typeface="Calibri"/>
              </a:rPr>
              <a:t>This project has two programmers. This slide draws the line so nothing later is ambiguous.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4"/>
          <p:cNvSpPr/>
          <p:nvPr/>
        </p:nvSpPr>
        <p:spPr>
          <a:xfrm>
            <a:off x="566928" y="1920240"/>
            <a:ext cx="3611880" cy="3785616"/>
          </a:xfrm>
          <a:prstGeom prst="roundRect">
            <a:avLst>
              <a:gd fmla="val 1519" name="adj"/>
            </a:avLst>
          </a:prstGeom>
          <a:solidFill>
            <a:srgbClr val="1E1E26"/>
          </a:solidFill>
          <a:ln cap="flat" cmpd="sng" w="9525">
            <a:solidFill>
              <a:srgbClr val="2A2A3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4"/>
          <p:cNvSpPr/>
          <p:nvPr/>
        </p:nvSpPr>
        <p:spPr>
          <a:xfrm>
            <a:off x="877824" y="2139696"/>
            <a:ext cx="1371600" cy="274320"/>
          </a:xfrm>
          <a:prstGeom prst="roundRect">
            <a:avLst>
              <a:gd fmla="val 46667" name="adj"/>
            </a:avLst>
          </a:prstGeom>
          <a:solidFill>
            <a:srgbClr val="D08A28"/>
          </a:solidFill>
          <a:ln cap="flat" cmpd="sng" w="12700">
            <a:solidFill>
              <a:srgbClr val="D08A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4"/>
          <p:cNvSpPr txBox="1"/>
          <p:nvPr/>
        </p:nvSpPr>
        <p:spPr>
          <a:xfrm>
            <a:off x="877824" y="213969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MY WORK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4"/>
          <p:cNvSpPr txBox="1"/>
          <p:nvPr/>
        </p:nvSpPr>
        <p:spPr>
          <a:xfrm>
            <a:off x="877824" y="2523744"/>
            <a:ext cx="30175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F0EBE4"/>
                </a:solidFill>
                <a:latin typeface="Cambria"/>
                <a:ea typeface="Cambria"/>
                <a:cs typeface="Cambria"/>
                <a:sym typeface="Cambria"/>
              </a:rPr>
              <a:t>Written by me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 txBox="1"/>
          <p:nvPr/>
        </p:nvSpPr>
        <p:spPr>
          <a:xfrm>
            <a:off x="877824" y="2962656"/>
            <a:ext cx="301752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Save system (encrypted)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0EBE4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Room creation &amp; matchmaking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0EBE4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Room browser data layer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0EBE4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Offline / online mode switch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0EBE4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Scene-persistence utilities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0EBE4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Editor tooling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0EBE4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Persistent HUD root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4471416" y="1920240"/>
            <a:ext cx="3611880" cy="3785616"/>
          </a:xfrm>
          <a:prstGeom prst="roundRect">
            <a:avLst>
              <a:gd fmla="val 1519" name="adj"/>
            </a:avLst>
          </a:prstGeom>
          <a:solidFill>
            <a:srgbClr val="1E1E26"/>
          </a:solidFill>
          <a:ln cap="flat" cmpd="sng" w="9525">
            <a:solidFill>
              <a:srgbClr val="2A2A3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4"/>
          <p:cNvSpPr/>
          <p:nvPr/>
        </p:nvSpPr>
        <p:spPr>
          <a:xfrm>
            <a:off x="4782312" y="2139696"/>
            <a:ext cx="2286000" cy="274320"/>
          </a:xfrm>
          <a:prstGeom prst="roundRect">
            <a:avLst>
              <a:gd fmla="val 46667" name="adj"/>
            </a:avLst>
          </a:prstGeom>
          <a:solidFill>
            <a:srgbClr val="6E6876"/>
          </a:solidFill>
          <a:ln cap="flat" cmpd="sng" w="12700">
            <a:solidFill>
              <a:srgbClr val="6E687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4"/>
          <p:cNvSpPr txBox="1"/>
          <p:nvPr/>
        </p:nvSpPr>
        <p:spPr>
          <a:xfrm>
            <a:off x="4782312" y="2139696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THEIRS, REWRITTEN BY ME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 txBox="1"/>
          <p:nvPr/>
        </p:nvSpPr>
        <p:spPr>
          <a:xfrm>
            <a:off x="4782312" y="2523744"/>
            <a:ext cx="30175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F0EBE4"/>
                </a:solidFill>
                <a:latin typeface="Cambria"/>
                <a:ea typeface="Cambria"/>
                <a:cs typeface="Cambria"/>
                <a:sym typeface="Cambria"/>
              </a:rPr>
              <a:t>Shared ownership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 txBox="1"/>
          <p:nvPr/>
        </p:nvSpPr>
        <p:spPr>
          <a:xfrm>
            <a:off x="4782312" y="2926080"/>
            <a:ext cx="3017520" cy="8595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95A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B95A2"/>
                </a:solidFill>
                <a:latin typeface="Calibri"/>
                <a:ea typeface="Calibri"/>
                <a:cs typeface="Calibri"/>
                <a:sym typeface="Calibri"/>
              </a:rPr>
              <a:t>Atiroj designed and wrote these as single-player systems. I rewrote them to run under server authority for six players.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4"/>
          <p:cNvSpPr txBox="1"/>
          <p:nvPr/>
        </p:nvSpPr>
        <p:spPr>
          <a:xfrm>
            <a:off x="4782312" y="3858768"/>
            <a:ext cx="30175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Interaction system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0EBE4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Health &amp; damage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0EBE4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Player movement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0EBE4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First-person camera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0EBE4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Health bar UI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8375904" y="1920240"/>
            <a:ext cx="3227832" cy="3785616"/>
          </a:xfrm>
          <a:prstGeom prst="roundRect">
            <a:avLst>
              <a:gd fmla="val 1700" name="adj"/>
            </a:avLst>
          </a:prstGeom>
          <a:solidFill>
            <a:srgbClr val="1E1E26"/>
          </a:solidFill>
          <a:ln cap="flat" cmpd="sng" w="9525">
            <a:solidFill>
              <a:srgbClr val="2A2A3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4"/>
          <p:cNvSpPr/>
          <p:nvPr/>
        </p:nvSpPr>
        <p:spPr>
          <a:xfrm>
            <a:off x="8686800" y="2139696"/>
            <a:ext cx="2103120" cy="274320"/>
          </a:xfrm>
          <a:prstGeom prst="roundRect">
            <a:avLst>
              <a:gd fmla="val 46667" name="adj"/>
            </a:avLst>
          </a:prstGeom>
          <a:solidFill>
            <a:srgbClr val="5487B0"/>
          </a:solidFill>
          <a:ln cap="flat" cmpd="sng" w="12700">
            <a:solidFill>
              <a:srgbClr val="5487B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4"/>
          <p:cNvSpPr txBox="1"/>
          <p:nvPr/>
        </p:nvSpPr>
        <p:spPr>
          <a:xfrm>
            <a:off x="8686800" y="2139696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ATIROJ'S WORK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4"/>
          <p:cNvSpPr txBox="1"/>
          <p:nvPr/>
        </p:nvSpPr>
        <p:spPr>
          <a:xfrm>
            <a:off x="8686800" y="2523744"/>
            <a:ext cx="27432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F0EBE4"/>
                </a:solidFill>
                <a:latin typeface="Cambria"/>
                <a:ea typeface="Cambria"/>
                <a:cs typeface="Cambria"/>
                <a:sym typeface="Cambria"/>
              </a:rPr>
              <a:t>Not mine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 txBox="1"/>
          <p:nvPr/>
        </p:nvSpPr>
        <p:spPr>
          <a:xfrm>
            <a:off x="8686800" y="2926080"/>
            <a:ext cx="2651760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95A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B95A2"/>
                </a:solidFill>
                <a:latin typeface="Calibri"/>
                <a:ea typeface="Calibri"/>
                <a:cs typeface="Calibri"/>
                <a:sym typeface="Calibri"/>
              </a:rPr>
              <a:t>Written by Atiroj and merged into my branch. I am not claiming any of it.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4"/>
          <p:cNvSpPr txBox="1"/>
          <p:nvPr/>
        </p:nvSpPr>
        <p:spPr>
          <a:xfrm>
            <a:off x="8686800" y="3712464"/>
            <a:ext cx="265176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Original single-player design of the systems in the middle column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0EBE4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Downed / revive feature</a:t>
            </a:r>
            <a:endParaRPr sz="1250">
              <a:solidFill>
                <a:srgbClr val="F0EBE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0EBE4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Gameplay prop setup in test scenes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4"/>
          <p:cNvSpPr txBox="1"/>
          <p:nvPr/>
        </p:nvSpPr>
        <p:spPr>
          <a:xfrm>
            <a:off x="566928" y="5888736"/>
            <a:ext cx="11057839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876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6E6876"/>
                </a:solidFill>
                <a:latin typeface="Calibri"/>
                <a:ea typeface="Calibri"/>
                <a:cs typeface="Calibri"/>
                <a:sym typeface="Calibri"/>
              </a:rPr>
              <a:t>Evidence for this split: my own commits versus the three merges that brought Atiroj's work in.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4"/>
          <p:cNvSpPr txBox="1"/>
          <p:nvPr/>
        </p:nvSpPr>
        <p:spPr>
          <a:xfrm>
            <a:off x="566928" y="6382512"/>
            <a:ext cx="609584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876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6E6876"/>
                </a:solidFill>
                <a:latin typeface="Calibri"/>
                <a:ea typeface="Calibri"/>
                <a:cs typeface="Calibri"/>
                <a:sym typeface="Calibri"/>
              </a:rPr>
              <a:t>Personal Work Report  |  Kongkidakorn Chuayjang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4"/>
          <p:cNvSpPr txBox="1"/>
          <p:nvPr/>
        </p:nvSpPr>
        <p:spPr>
          <a:xfrm>
            <a:off x="6095848" y="6382512"/>
            <a:ext cx="5528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08A28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8A28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216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5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8A28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D08A28"/>
                </a:solidFill>
                <a:latin typeface="Calibri"/>
                <a:ea typeface="Calibri"/>
                <a:cs typeface="Calibri"/>
                <a:sym typeface="Calibri"/>
              </a:rPr>
              <a:t>MY WORK  ·  01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5"/>
          <p:cNvSpPr txBox="1"/>
          <p:nvPr/>
        </p:nvSpPr>
        <p:spPr>
          <a:xfrm>
            <a:off x="566928" y="640080"/>
            <a:ext cx="11057839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F0EBE4"/>
                </a:solidFill>
                <a:latin typeface="Cambria"/>
                <a:ea typeface="Cambria"/>
                <a:cs typeface="Cambria"/>
                <a:sym typeface="Cambria"/>
              </a:rPr>
              <a:t>Encrypted save system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5"/>
          <p:cNvSpPr/>
          <p:nvPr/>
        </p:nvSpPr>
        <p:spPr>
          <a:xfrm>
            <a:off x="10253167" y="365760"/>
            <a:ext cx="1371600" cy="274320"/>
          </a:xfrm>
          <a:prstGeom prst="roundRect">
            <a:avLst>
              <a:gd fmla="val 46667" name="adj"/>
            </a:avLst>
          </a:prstGeom>
          <a:solidFill>
            <a:srgbClr val="D08A28"/>
          </a:solidFill>
          <a:ln cap="flat" cmpd="sng" w="12700">
            <a:solidFill>
              <a:srgbClr val="D08A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5"/>
          <p:cNvSpPr txBox="1"/>
          <p:nvPr/>
        </p:nvSpPr>
        <p:spPr>
          <a:xfrm>
            <a:off x="10253167" y="3657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100% MINE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5"/>
          <p:cNvSpPr/>
          <p:nvPr/>
        </p:nvSpPr>
        <p:spPr>
          <a:xfrm>
            <a:off x="566928" y="1627632"/>
            <a:ext cx="5760720" cy="3931920"/>
          </a:xfrm>
          <a:prstGeom prst="roundRect">
            <a:avLst>
              <a:gd fmla="val 1395" name="adj"/>
            </a:avLst>
          </a:prstGeom>
          <a:solidFill>
            <a:srgbClr val="1E1E26"/>
          </a:solidFill>
          <a:ln cap="flat" cmpd="sng" w="9525">
            <a:solidFill>
              <a:srgbClr val="2A2A3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5"/>
          <p:cNvSpPr txBox="1"/>
          <p:nvPr/>
        </p:nvSpPr>
        <p:spPr>
          <a:xfrm>
            <a:off x="896112" y="1847088"/>
            <a:ext cx="51206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F0EBE4"/>
                </a:solidFill>
                <a:latin typeface="Cambria"/>
                <a:ea typeface="Cambria"/>
                <a:cs typeface="Cambria"/>
                <a:sym typeface="Cambria"/>
              </a:rPr>
              <a:t>What it does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5"/>
          <p:cNvSpPr txBox="1"/>
          <p:nvPr/>
        </p:nvSpPr>
        <p:spPr>
          <a:xfrm>
            <a:off x="896112" y="2286000"/>
            <a:ext cx="5120640" cy="3108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Writes progression as AES-256 encrypted JSON — not readable or editable in a text editor.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0EBE4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Loads automatically before the first scene, so no system has to ask whether a save exists.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0EBE4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One static source of truth — no component keeps its own copy to drift out of sync.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0EBE4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Permanent items capped at one copy, removed on drop, trade or death.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0EBE4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Custom Inspector shows live save contents during Play, so progression bugs are visible without a debugger.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5"/>
          <p:cNvSpPr/>
          <p:nvPr/>
        </p:nvSpPr>
        <p:spPr>
          <a:xfrm>
            <a:off x="6620256" y="1627632"/>
            <a:ext cx="4983480" cy="3931920"/>
          </a:xfrm>
          <a:prstGeom prst="roundRect">
            <a:avLst>
              <a:gd fmla="val 1395" name="adj"/>
            </a:avLst>
          </a:prstGeom>
          <a:solidFill>
            <a:srgbClr val="1E1E26"/>
          </a:solidFill>
          <a:ln cap="flat" cmpd="sng" w="9525">
            <a:solidFill>
              <a:srgbClr val="2A2A3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5"/>
          <p:cNvSpPr txBox="1"/>
          <p:nvPr/>
        </p:nvSpPr>
        <p:spPr>
          <a:xfrm>
            <a:off x="6949440" y="1847088"/>
            <a:ext cx="43891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F0EBE4"/>
                </a:solidFill>
                <a:latin typeface="Cambria"/>
                <a:ea typeface="Cambria"/>
                <a:cs typeface="Cambria"/>
                <a:sym typeface="Cambria"/>
              </a:rPr>
              <a:t>A decision I want to defend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5"/>
          <p:cNvSpPr txBox="1"/>
          <p:nvPr/>
        </p:nvSpPr>
        <p:spPr>
          <a:xfrm>
            <a:off x="6949440" y="2286000"/>
            <a:ext cx="4389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95A2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9B95A2"/>
                </a:solidFill>
                <a:latin typeface="Calibri"/>
                <a:ea typeface="Calibri"/>
                <a:cs typeface="Calibri"/>
                <a:sym typeface="Calibri"/>
              </a:rPr>
              <a:t>The encryption key is not stored as one string. It is split into four byte arrays and assembled at runtime.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5"/>
          <p:cNvSpPr txBox="1"/>
          <p:nvPr/>
        </p:nvSpPr>
        <p:spPr>
          <a:xfrm>
            <a:off x="6949440" y="2999232"/>
            <a:ext cx="43891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E9E6E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5E9E6E"/>
                </a:solidFill>
                <a:latin typeface="Courier New"/>
                <a:ea typeface="Courier New"/>
                <a:cs typeface="Courier New"/>
                <a:sym typeface="Courier New"/>
              </a:rPr>
              <a:t>// no single string to grep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E9E6E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5E9E6E"/>
                </a:solidFill>
                <a:latin typeface="Courier New"/>
                <a:ea typeface="Courier New"/>
                <a:cs typeface="Courier New"/>
                <a:sym typeface="Courier New"/>
              </a:rPr>
              <a:t>// out of the binary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E9E6E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5E9E6E"/>
                </a:solidFill>
                <a:latin typeface="Courier New"/>
                <a:ea typeface="Courier New"/>
                <a:cs typeface="Courier New"/>
                <a:sym typeface="Courier New"/>
              </a:rPr>
              <a:t>keyPart1 … keyPart4 → GetKey()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5"/>
          <p:cNvSpPr txBox="1"/>
          <p:nvPr/>
        </p:nvSpPr>
        <p:spPr>
          <a:xfrm>
            <a:off x="6949440" y="3913632"/>
            <a:ext cx="43891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95A2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B95A2"/>
                </a:solidFill>
                <a:latin typeface="Calibri"/>
                <a:ea typeface="Calibri"/>
                <a:cs typeface="Calibri"/>
                <a:sym typeface="Calibri"/>
              </a:rPr>
              <a:t>A determined attacker with the binary still wins — true of any client-side save. The achievable goal is narrower: make casual save editing not worth the effort, which is what damages a co-op economy.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5"/>
          <p:cNvSpPr txBox="1"/>
          <p:nvPr/>
        </p:nvSpPr>
        <p:spPr>
          <a:xfrm>
            <a:off x="566928" y="5760720"/>
            <a:ext cx="11057839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876"/>
              </a:buClr>
              <a:buSzPts val="1150"/>
              <a:buFont typeface="Calibri"/>
              <a:buNone/>
            </a:pPr>
            <a:r>
              <a:rPr b="0" i="1" lang="en-US" sz="1150" u="none" cap="none" strike="noStrike">
                <a:solidFill>
                  <a:srgbClr val="6E6876"/>
                </a:solidFill>
                <a:latin typeface="Calibri"/>
                <a:ea typeface="Calibri"/>
                <a:cs typeface="Calibri"/>
                <a:sym typeface="Calibri"/>
              </a:rPr>
              <a:t>347 lines  ·  4 files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5"/>
          <p:cNvSpPr txBox="1"/>
          <p:nvPr/>
        </p:nvSpPr>
        <p:spPr>
          <a:xfrm>
            <a:off x="566928" y="6382512"/>
            <a:ext cx="609584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876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6E6876"/>
                </a:solidFill>
                <a:latin typeface="Calibri"/>
                <a:ea typeface="Calibri"/>
                <a:cs typeface="Calibri"/>
                <a:sym typeface="Calibri"/>
              </a:rPr>
              <a:t>Personal Work Report  |  Kongkidakorn Chuayjang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5"/>
          <p:cNvSpPr txBox="1"/>
          <p:nvPr/>
        </p:nvSpPr>
        <p:spPr>
          <a:xfrm>
            <a:off x="6095848" y="6382512"/>
            <a:ext cx="5528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08A28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8A28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216"/>
        </a:solid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6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8A28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D08A28"/>
                </a:solidFill>
                <a:latin typeface="Calibri"/>
                <a:ea typeface="Calibri"/>
                <a:cs typeface="Calibri"/>
                <a:sym typeface="Calibri"/>
              </a:rPr>
              <a:t>MY WORK  ·  02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6"/>
          <p:cNvSpPr txBox="1"/>
          <p:nvPr/>
        </p:nvSpPr>
        <p:spPr>
          <a:xfrm>
            <a:off x="566928" y="640080"/>
            <a:ext cx="11057839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F0EBE4"/>
                </a:solidFill>
                <a:latin typeface="Cambria"/>
                <a:ea typeface="Cambria"/>
                <a:cs typeface="Cambria"/>
                <a:sym typeface="Cambria"/>
              </a:rPr>
              <a:t>Room creation &amp; matchmaking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6"/>
          <p:cNvSpPr/>
          <p:nvPr/>
        </p:nvSpPr>
        <p:spPr>
          <a:xfrm>
            <a:off x="10253167" y="365760"/>
            <a:ext cx="1371600" cy="274320"/>
          </a:xfrm>
          <a:prstGeom prst="roundRect">
            <a:avLst>
              <a:gd fmla="val 46667" name="adj"/>
            </a:avLst>
          </a:prstGeom>
          <a:solidFill>
            <a:srgbClr val="D08A28"/>
          </a:solidFill>
          <a:ln cap="flat" cmpd="sng" w="12700">
            <a:solidFill>
              <a:srgbClr val="D08A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6"/>
          <p:cNvSpPr txBox="1"/>
          <p:nvPr/>
        </p:nvSpPr>
        <p:spPr>
          <a:xfrm>
            <a:off x="10253167" y="3657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100% MINE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6"/>
          <p:cNvSpPr/>
          <p:nvPr/>
        </p:nvSpPr>
        <p:spPr>
          <a:xfrm>
            <a:off x="566928" y="1627632"/>
            <a:ext cx="4572000" cy="3931920"/>
          </a:xfrm>
          <a:prstGeom prst="roundRect">
            <a:avLst>
              <a:gd fmla="val 1395" name="adj"/>
            </a:avLst>
          </a:prstGeom>
          <a:solidFill>
            <a:srgbClr val="1E1E26"/>
          </a:solidFill>
          <a:ln cap="flat" cmpd="sng" w="9525">
            <a:solidFill>
              <a:srgbClr val="2A2A3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tmp/claude-0/-home-claude/1390a9ce-40b9-5e21-8a81-99b2e23edd0b/scratchpad/img/ev_menu_buttons.png" id="82" name="Google Shape;82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408" y="1883664"/>
            <a:ext cx="3749040" cy="2157984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6"/>
          <p:cNvSpPr txBox="1"/>
          <p:nvPr/>
        </p:nvSpPr>
        <p:spPr>
          <a:xfrm>
            <a:off x="896112" y="4114800"/>
            <a:ext cx="4023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876"/>
              </a:buClr>
              <a:buSzPts val="1050"/>
              <a:buFont typeface="Calibri"/>
              <a:buNone/>
            </a:pPr>
            <a:r>
              <a:rPr b="0" i="1" lang="en-US" sz="1050" u="none" cap="none" strike="noStrike">
                <a:solidFill>
                  <a:srgbClr val="6E6876"/>
                </a:solidFill>
                <a:latin typeface="Calibri"/>
                <a:ea typeface="Calibri"/>
                <a:cs typeface="Calibri"/>
                <a:sym typeface="Calibri"/>
              </a:rPr>
              <a:t>From my playtest recording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6"/>
          <p:cNvSpPr txBox="1"/>
          <p:nvPr/>
        </p:nvSpPr>
        <p:spPr>
          <a:xfrm>
            <a:off x="896112" y="4443984"/>
            <a:ext cx="39319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95A2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B95A2"/>
                </a:solidFill>
                <a:latin typeface="Calibri"/>
                <a:ea typeface="Calibri"/>
                <a:cs typeface="Calibri"/>
                <a:sym typeface="Calibri"/>
              </a:rPr>
              <a:t>Create Room opens a lobby on Epic's service and starts hosting. Find Room searches and returns every open room.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6"/>
          <p:cNvSpPr/>
          <p:nvPr/>
        </p:nvSpPr>
        <p:spPr>
          <a:xfrm>
            <a:off x="5431536" y="1627632"/>
            <a:ext cx="6172200" cy="1207008"/>
          </a:xfrm>
          <a:prstGeom prst="roundRect">
            <a:avLst>
              <a:gd fmla="val 4545" name="adj"/>
            </a:avLst>
          </a:prstGeom>
          <a:solidFill>
            <a:srgbClr val="1E1E26"/>
          </a:solidFill>
          <a:ln cap="flat" cmpd="sng" w="9525">
            <a:solidFill>
              <a:srgbClr val="2A2A3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6"/>
          <p:cNvSpPr/>
          <p:nvPr/>
        </p:nvSpPr>
        <p:spPr>
          <a:xfrm>
            <a:off x="5705856" y="1847088"/>
            <a:ext cx="365760" cy="365760"/>
          </a:xfrm>
          <a:prstGeom prst="ellipse">
            <a:avLst/>
          </a:prstGeom>
          <a:solidFill>
            <a:srgbClr val="D08A28"/>
          </a:solidFill>
          <a:ln cap="flat" cmpd="sng" w="12700">
            <a:solidFill>
              <a:srgbClr val="D08A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6"/>
          <p:cNvSpPr txBox="1"/>
          <p:nvPr/>
        </p:nvSpPr>
        <p:spPr>
          <a:xfrm>
            <a:off x="5705856" y="1847088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A0D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A0A0D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6"/>
          <p:cNvSpPr txBox="1"/>
          <p:nvPr/>
        </p:nvSpPr>
        <p:spPr>
          <a:xfrm>
            <a:off x="6181344" y="1755648"/>
            <a:ext cx="53035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F0EBE4"/>
                </a:solidFill>
                <a:latin typeface="Cambria"/>
                <a:ea typeface="Cambria"/>
                <a:cs typeface="Cambria"/>
                <a:sym typeface="Cambria"/>
              </a:rPr>
              <a:t>A room is a data contract, not a button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6"/>
          <p:cNvSpPr txBox="1"/>
          <p:nvPr/>
        </p:nvSpPr>
        <p:spPr>
          <a:xfrm>
            <a:off x="6181344" y="2103120"/>
            <a:ext cx="53035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95A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B95A2"/>
                </a:solidFill>
                <a:latin typeface="Calibri"/>
                <a:ea typeface="Calibri"/>
                <a:cs typeface="Calibri"/>
                <a:sym typeface="Calibri"/>
              </a:rPr>
              <a:t>Map, difficulty, player limit and privacy live in one validated structure. The UI cannot create a room the join path can't read.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6"/>
          <p:cNvSpPr/>
          <p:nvPr/>
        </p:nvSpPr>
        <p:spPr>
          <a:xfrm>
            <a:off x="5431536" y="2980944"/>
            <a:ext cx="6172200" cy="1207008"/>
          </a:xfrm>
          <a:prstGeom prst="roundRect">
            <a:avLst>
              <a:gd fmla="val 4545" name="adj"/>
            </a:avLst>
          </a:prstGeom>
          <a:solidFill>
            <a:srgbClr val="1E1E26"/>
          </a:solidFill>
          <a:ln cap="flat" cmpd="sng" w="9525">
            <a:solidFill>
              <a:srgbClr val="2A2A3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6"/>
          <p:cNvSpPr/>
          <p:nvPr/>
        </p:nvSpPr>
        <p:spPr>
          <a:xfrm>
            <a:off x="5705856" y="3200400"/>
            <a:ext cx="365760" cy="365760"/>
          </a:xfrm>
          <a:prstGeom prst="ellipse">
            <a:avLst/>
          </a:prstGeom>
          <a:solidFill>
            <a:srgbClr val="D08A28"/>
          </a:solidFill>
          <a:ln cap="flat" cmpd="sng" w="12700">
            <a:solidFill>
              <a:srgbClr val="D08A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6"/>
          <p:cNvSpPr txBox="1"/>
          <p:nvPr/>
        </p:nvSpPr>
        <p:spPr>
          <a:xfrm>
            <a:off x="5705856" y="320040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A0D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A0A0D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6"/>
          <p:cNvSpPr txBox="1"/>
          <p:nvPr/>
        </p:nvSpPr>
        <p:spPr>
          <a:xfrm>
            <a:off x="6181344" y="3108960"/>
            <a:ext cx="53035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F0EBE4"/>
                </a:solidFill>
                <a:latin typeface="Cambria"/>
                <a:ea typeface="Cambria"/>
                <a:cs typeface="Cambria"/>
                <a:sym typeface="Cambria"/>
              </a:rPr>
              <a:t>The browser knows before you join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6"/>
          <p:cNvSpPr txBox="1"/>
          <p:nvPr/>
        </p:nvSpPr>
        <p:spPr>
          <a:xfrm>
            <a:off x="6181344" y="3456432"/>
            <a:ext cx="53035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95A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B95A2"/>
                </a:solidFill>
                <a:latin typeface="Calibri"/>
                <a:ea typeface="Calibri"/>
                <a:cs typeface="Calibri"/>
                <a:sym typeface="Calibri"/>
              </a:rPr>
              <a:t>Each room advertises map, difficulty, lock state and a live 2/6 player count — so a player picks a room instead of gambling.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6"/>
          <p:cNvSpPr/>
          <p:nvPr/>
        </p:nvSpPr>
        <p:spPr>
          <a:xfrm>
            <a:off x="5431536" y="4334256"/>
            <a:ext cx="6172200" cy="1207008"/>
          </a:xfrm>
          <a:prstGeom prst="roundRect">
            <a:avLst>
              <a:gd fmla="val 4545" name="adj"/>
            </a:avLst>
          </a:prstGeom>
          <a:solidFill>
            <a:srgbClr val="1E1E26"/>
          </a:solidFill>
          <a:ln cap="flat" cmpd="sng" w="9525">
            <a:solidFill>
              <a:srgbClr val="2A2A3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6"/>
          <p:cNvSpPr/>
          <p:nvPr/>
        </p:nvSpPr>
        <p:spPr>
          <a:xfrm>
            <a:off x="5705856" y="4553712"/>
            <a:ext cx="365760" cy="365760"/>
          </a:xfrm>
          <a:prstGeom prst="ellipse">
            <a:avLst/>
          </a:prstGeom>
          <a:solidFill>
            <a:srgbClr val="D08A28"/>
          </a:solidFill>
          <a:ln cap="flat" cmpd="sng" w="12700">
            <a:solidFill>
              <a:srgbClr val="D08A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6"/>
          <p:cNvSpPr txBox="1"/>
          <p:nvPr/>
        </p:nvSpPr>
        <p:spPr>
          <a:xfrm>
            <a:off x="5705856" y="4553712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A0D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A0A0D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6"/>
          <p:cNvSpPr txBox="1"/>
          <p:nvPr/>
        </p:nvSpPr>
        <p:spPr>
          <a:xfrm>
            <a:off x="6181344" y="4462272"/>
            <a:ext cx="53035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F0EBE4"/>
                </a:solidFill>
                <a:latin typeface="Cambria"/>
                <a:ea typeface="Cambria"/>
                <a:cs typeface="Cambria"/>
                <a:sym typeface="Cambria"/>
              </a:rPr>
              <a:t>Passwords are never a room attribute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6"/>
          <p:cNvSpPr txBox="1"/>
          <p:nvPr/>
        </p:nvSpPr>
        <p:spPr>
          <a:xfrm>
            <a:off x="6181344" y="4809744"/>
            <a:ext cx="53035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95A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B95A2"/>
                </a:solidFill>
                <a:latin typeface="Calibri"/>
                <a:ea typeface="Calibri"/>
                <a:cs typeface="Calibri"/>
                <a:sym typeface="Calibri"/>
              </a:rPr>
              <a:t>I read Epic's lobby API: attributes marked private are still readable by anyone searching. So the password is verified after joining.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6"/>
          <p:cNvSpPr txBox="1"/>
          <p:nvPr/>
        </p:nvSpPr>
        <p:spPr>
          <a:xfrm>
            <a:off x="566928" y="5760720"/>
            <a:ext cx="11057839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876"/>
              </a:buClr>
              <a:buSzPts val="1150"/>
              <a:buFont typeface="Calibri"/>
              <a:buNone/>
            </a:pPr>
            <a:r>
              <a:rPr b="0" i="1" lang="en-US" sz="1150" u="none" cap="none" strike="noStrike">
                <a:solidFill>
                  <a:srgbClr val="6E6876"/>
                </a:solidFill>
                <a:latin typeface="Calibri"/>
                <a:ea typeface="Calibri"/>
                <a:cs typeface="Calibri"/>
                <a:sym typeface="Calibri"/>
              </a:rPr>
              <a:t>450 lines  ·  5 files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6"/>
          <p:cNvSpPr txBox="1"/>
          <p:nvPr/>
        </p:nvSpPr>
        <p:spPr>
          <a:xfrm>
            <a:off x="566928" y="6382512"/>
            <a:ext cx="609584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876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6E6876"/>
                </a:solidFill>
                <a:latin typeface="Calibri"/>
                <a:ea typeface="Calibri"/>
                <a:cs typeface="Calibri"/>
                <a:sym typeface="Calibri"/>
              </a:rPr>
              <a:t>Personal Work Report  |  Kongkidakorn Chuayjang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6"/>
          <p:cNvSpPr txBox="1"/>
          <p:nvPr/>
        </p:nvSpPr>
        <p:spPr>
          <a:xfrm>
            <a:off x="6095848" y="6382512"/>
            <a:ext cx="5528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08A28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8A28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216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7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8A28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D08A28"/>
                </a:solidFill>
                <a:latin typeface="Calibri"/>
                <a:ea typeface="Calibri"/>
                <a:cs typeface="Calibri"/>
                <a:sym typeface="Calibri"/>
              </a:rPr>
              <a:t>MY WORK  ·  03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7"/>
          <p:cNvSpPr txBox="1"/>
          <p:nvPr/>
        </p:nvSpPr>
        <p:spPr>
          <a:xfrm>
            <a:off x="566928" y="640080"/>
            <a:ext cx="11057839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F0EBE4"/>
                </a:solidFill>
                <a:latin typeface="Cambria"/>
                <a:ea typeface="Cambria"/>
                <a:cs typeface="Cambria"/>
                <a:sym typeface="Cambria"/>
              </a:rPr>
              <a:t>Making Atiroj's systems multiplayer-safe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7"/>
          <p:cNvSpPr/>
          <p:nvPr/>
        </p:nvSpPr>
        <p:spPr>
          <a:xfrm>
            <a:off x="9247327" y="365760"/>
            <a:ext cx="2377440" cy="274320"/>
          </a:xfrm>
          <a:prstGeom prst="roundRect">
            <a:avLst>
              <a:gd fmla="val 46667" name="adj"/>
            </a:avLst>
          </a:prstGeom>
          <a:solidFill>
            <a:srgbClr val="6E6876"/>
          </a:solidFill>
          <a:ln cap="flat" cmpd="sng" w="12700">
            <a:solidFill>
              <a:srgbClr val="6E687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7"/>
          <p:cNvSpPr txBox="1"/>
          <p:nvPr/>
        </p:nvSpPr>
        <p:spPr>
          <a:xfrm>
            <a:off x="9247327" y="36576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HIS DESIGN · MY REWRITE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7"/>
          <p:cNvSpPr txBox="1"/>
          <p:nvPr/>
        </p:nvSpPr>
        <p:spPr>
          <a:xfrm>
            <a:off x="566928" y="1444752"/>
            <a:ext cx="11057839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95A2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9B95A2"/>
                </a:solidFill>
                <a:latin typeface="Calibri"/>
                <a:ea typeface="Calibri"/>
                <a:cs typeface="Calibri"/>
                <a:sym typeface="Calibri"/>
              </a:rPr>
              <a:t>Atiroj wrote the interaction and health systems as single-player code, which is the right way to write them. My job was the rewrite that makes them survive six players and a hostile client.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7"/>
          <p:cNvSpPr txBox="1"/>
          <p:nvPr/>
        </p:nvSpPr>
        <p:spPr>
          <a:xfrm>
            <a:off x="3218688" y="1993392"/>
            <a:ext cx="38404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95A2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9B95A2"/>
                </a:solidFill>
                <a:latin typeface="Calibri"/>
                <a:ea typeface="Calibri"/>
                <a:cs typeface="Calibri"/>
                <a:sym typeface="Calibri"/>
              </a:rPr>
              <a:t>BEFORE — single-player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7"/>
          <p:cNvSpPr txBox="1"/>
          <p:nvPr/>
        </p:nvSpPr>
        <p:spPr>
          <a:xfrm>
            <a:off x="7333488" y="1993392"/>
            <a:ext cx="42062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8A28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D08A28"/>
                </a:solidFill>
                <a:latin typeface="Calibri"/>
                <a:ea typeface="Calibri"/>
                <a:cs typeface="Calibri"/>
                <a:sym typeface="Calibri"/>
              </a:rPr>
              <a:t>AFTER — server-authoritative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7"/>
          <p:cNvSpPr/>
          <p:nvPr/>
        </p:nvSpPr>
        <p:spPr>
          <a:xfrm>
            <a:off x="566928" y="2304288"/>
            <a:ext cx="11057839" cy="804672"/>
          </a:xfrm>
          <a:prstGeom prst="roundRect">
            <a:avLst>
              <a:gd fmla="val 6818" name="adj"/>
            </a:avLst>
          </a:prstGeom>
          <a:solidFill>
            <a:srgbClr val="1E1E26"/>
          </a:solidFill>
          <a:ln cap="flat" cmpd="sng" w="9525">
            <a:solidFill>
              <a:srgbClr val="2A2A3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7"/>
          <p:cNvSpPr txBox="1"/>
          <p:nvPr/>
        </p:nvSpPr>
        <p:spPr>
          <a:xfrm>
            <a:off x="841248" y="2304288"/>
            <a:ext cx="228600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1450"/>
              <a:buFont typeface="Cambria"/>
              <a:buNone/>
            </a:pPr>
            <a:r>
              <a:rPr b="1" i="0" lang="en-US" sz="1450" u="none" cap="none" strike="noStrike">
                <a:solidFill>
                  <a:srgbClr val="F0EBE4"/>
                </a:solidFill>
                <a:latin typeface="Cambria"/>
                <a:ea typeface="Cambria"/>
                <a:cs typeface="Cambria"/>
                <a:sym typeface="Cambria"/>
              </a:rPr>
              <a:t>Interaction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7"/>
          <p:cNvSpPr txBox="1"/>
          <p:nvPr/>
        </p:nvSpPr>
        <p:spPr>
          <a:xfrm>
            <a:off x="3218688" y="2304288"/>
            <a:ext cx="374904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95A2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B95A2"/>
                </a:solidFill>
                <a:latin typeface="Calibri"/>
                <a:ea typeface="Calibri"/>
                <a:cs typeface="Calibri"/>
                <a:sym typeface="Calibri"/>
              </a:rPr>
              <a:t>Pressing E ran the door's code directly on the machine that pressed it.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7"/>
          <p:cNvSpPr txBox="1"/>
          <p:nvPr/>
        </p:nvSpPr>
        <p:spPr>
          <a:xfrm>
            <a:off x="7333488" y="2304288"/>
            <a:ext cx="402336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The client asks the server which object it wants. The server re-checks distance before opening anything.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7"/>
          <p:cNvSpPr/>
          <p:nvPr/>
        </p:nvSpPr>
        <p:spPr>
          <a:xfrm>
            <a:off x="566928" y="3200400"/>
            <a:ext cx="11057839" cy="804672"/>
          </a:xfrm>
          <a:prstGeom prst="roundRect">
            <a:avLst>
              <a:gd fmla="val 6818" name="adj"/>
            </a:avLst>
          </a:prstGeom>
          <a:solidFill>
            <a:srgbClr val="1E1E26"/>
          </a:solidFill>
          <a:ln cap="flat" cmpd="sng" w="9525">
            <a:solidFill>
              <a:srgbClr val="2A2A3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7"/>
          <p:cNvSpPr txBox="1"/>
          <p:nvPr/>
        </p:nvSpPr>
        <p:spPr>
          <a:xfrm>
            <a:off x="841248" y="3200400"/>
            <a:ext cx="228600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1450"/>
              <a:buFont typeface="Cambria"/>
              <a:buNone/>
            </a:pPr>
            <a:r>
              <a:rPr b="1" i="0" lang="en-US" sz="1450" u="none" cap="none" strike="noStrike">
                <a:solidFill>
                  <a:srgbClr val="F0EBE4"/>
                </a:solidFill>
                <a:latin typeface="Cambria"/>
                <a:ea typeface="Cambria"/>
                <a:cs typeface="Cambria"/>
                <a:sym typeface="Cambria"/>
              </a:rPr>
              <a:t>Health &amp; damage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7"/>
          <p:cNvSpPr txBox="1"/>
          <p:nvPr/>
        </p:nvSpPr>
        <p:spPr>
          <a:xfrm>
            <a:off x="3218688" y="3200400"/>
            <a:ext cx="374904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95A2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B95A2"/>
                </a:solidFill>
                <a:latin typeface="Calibri"/>
                <a:ea typeface="Calibri"/>
                <a:cs typeface="Calibri"/>
                <a:sym typeface="Calibri"/>
              </a:rPr>
              <a:t>A collider applied damage locally, so each machine saw a different health value.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7"/>
          <p:cNvSpPr txBox="1"/>
          <p:nvPr/>
        </p:nvSpPr>
        <p:spPr>
          <a:xfrm>
            <a:off x="7333488" y="3200400"/>
            <a:ext cx="402336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Only the server applies damage; health syncs outward. Every player sees the same number.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7"/>
          <p:cNvSpPr/>
          <p:nvPr/>
        </p:nvSpPr>
        <p:spPr>
          <a:xfrm>
            <a:off x="566928" y="4096512"/>
            <a:ext cx="11057839" cy="804672"/>
          </a:xfrm>
          <a:prstGeom prst="roundRect">
            <a:avLst>
              <a:gd fmla="val 6818" name="adj"/>
            </a:avLst>
          </a:prstGeom>
          <a:solidFill>
            <a:srgbClr val="1E1E26"/>
          </a:solidFill>
          <a:ln cap="flat" cmpd="sng" w="9525">
            <a:solidFill>
              <a:srgbClr val="2A2A3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7"/>
          <p:cNvSpPr txBox="1"/>
          <p:nvPr/>
        </p:nvSpPr>
        <p:spPr>
          <a:xfrm>
            <a:off x="841248" y="4096512"/>
            <a:ext cx="228600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1450"/>
              <a:buFont typeface="Cambria"/>
              <a:buNone/>
            </a:pPr>
            <a:r>
              <a:rPr b="1" i="0" lang="en-US" sz="1450" u="none" cap="none" strike="noStrike">
                <a:solidFill>
                  <a:srgbClr val="F0EBE4"/>
                </a:solidFill>
                <a:latin typeface="Cambria"/>
                <a:ea typeface="Cambria"/>
                <a:cs typeface="Cambria"/>
                <a:sym typeface="Cambria"/>
              </a:rPr>
              <a:t>Player control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7"/>
          <p:cNvSpPr txBox="1"/>
          <p:nvPr/>
        </p:nvSpPr>
        <p:spPr>
          <a:xfrm>
            <a:off x="3218688" y="4096512"/>
            <a:ext cx="374904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95A2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B95A2"/>
                </a:solidFill>
                <a:latin typeface="Calibri"/>
                <a:ea typeface="Calibri"/>
                <a:cs typeface="Calibri"/>
                <a:sym typeface="Calibri"/>
              </a:rPr>
              <a:t>Every copy of the player prefab read the keyboard — one key press moved all of them.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7"/>
          <p:cNvSpPr txBox="1"/>
          <p:nvPr/>
        </p:nvSpPr>
        <p:spPr>
          <a:xfrm>
            <a:off x="7333488" y="4096512"/>
            <a:ext cx="402336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Only the locally owned player reads input. Remote copies are driven by the network.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7"/>
          <p:cNvSpPr/>
          <p:nvPr/>
        </p:nvSpPr>
        <p:spPr>
          <a:xfrm>
            <a:off x="566928" y="4992624"/>
            <a:ext cx="11057839" cy="804672"/>
          </a:xfrm>
          <a:prstGeom prst="roundRect">
            <a:avLst>
              <a:gd fmla="val 6818" name="adj"/>
            </a:avLst>
          </a:prstGeom>
          <a:solidFill>
            <a:srgbClr val="1E1E26"/>
          </a:solidFill>
          <a:ln cap="flat" cmpd="sng" w="9525">
            <a:solidFill>
              <a:srgbClr val="2A2A3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7"/>
          <p:cNvSpPr txBox="1"/>
          <p:nvPr/>
        </p:nvSpPr>
        <p:spPr>
          <a:xfrm>
            <a:off x="841248" y="4992624"/>
            <a:ext cx="228600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1450"/>
              <a:buFont typeface="Cambria"/>
              <a:buNone/>
            </a:pPr>
            <a:r>
              <a:rPr b="1" i="0" lang="en-US" sz="1450" u="none" cap="none" strike="noStrike">
                <a:solidFill>
                  <a:srgbClr val="F0EBE4"/>
                </a:solidFill>
                <a:latin typeface="Cambria"/>
                <a:ea typeface="Cambria"/>
                <a:cs typeface="Cambria"/>
                <a:sym typeface="Cambria"/>
              </a:rPr>
              <a:t>Late joiners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7"/>
          <p:cNvSpPr txBox="1"/>
          <p:nvPr/>
        </p:nvSpPr>
        <p:spPr>
          <a:xfrm>
            <a:off x="3218688" y="4992624"/>
            <a:ext cx="374904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95A2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B95A2"/>
                </a:solidFill>
                <a:latin typeface="Calibri"/>
                <a:ea typeface="Calibri"/>
                <a:cs typeface="Calibri"/>
                <a:sym typeface="Calibri"/>
              </a:rPr>
              <a:t>A player joining after a door opened saw it closed.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7"/>
          <p:cNvSpPr txBox="1"/>
          <p:nvPr/>
        </p:nvSpPr>
        <p:spPr>
          <a:xfrm>
            <a:off x="7333488" y="4992624"/>
            <a:ext cx="402336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State is re-applied on connect, so the world is consistent mid-run.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7"/>
          <p:cNvSpPr txBox="1"/>
          <p:nvPr/>
        </p:nvSpPr>
        <p:spPr>
          <a:xfrm>
            <a:off x="566928" y="5925312"/>
            <a:ext cx="11057839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8A28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D08A28"/>
                </a:solidFill>
                <a:latin typeface="Calibri"/>
                <a:ea typeface="Calibri"/>
                <a:cs typeface="Calibri"/>
                <a:sym typeface="Calibri"/>
              </a:rPr>
              <a:t>Credit where it is due: the features are Atiroj's. The networking model they now run on is mine.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7"/>
          <p:cNvSpPr txBox="1"/>
          <p:nvPr/>
        </p:nvSpPr>
        <p:spPr>
          <a:xfrm>
            <a:off x="566928" y="6382512"/>
            <a:ext cx="609584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876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6E6876"/>
                </a:solidFill>
                <a:latin typeface="Calibri"/>
                <a:ea typeface="Calibri"/>
                <a:cs typeface="Calibri"/>
                <a:sym typeface="Calibri"/>
              </a:rPr>
              <a:t>Personal Work Report  |  Kongkidakorn Chuayjang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7"/>
          <p:cNvSpPr txBox="1"/>
          <p:nvPr/>
        </p:nvSpPr>
        <p:spPr>
          <a:xfrm>
            <a:off x="6095848" y="6382512"/>
            <a:ext cx="5528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08A28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8A28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216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8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8A28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D08A28"/>
                </a:solidFill>
                <a:latin typeface="Calibri"/>
                <a:ea typeface="Calibri"/>
                <a:cs typeface="Calibri"/>
                <a:sym typeface="Calibri"/>
              </a:rPr>
              <a:t>MY WORK  ·  04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8"/>
          <p:cNvSpPr txBox="1"/>
          <p:nvPr/>
        </p:nvSpPr>
        <p:spPr>
          <a:xfrm>
            <a:off x="566928" y="640080"/>
            <a:ext cx="11057839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F0EBE4"/>
                </a:solidFill>
                <a:latin typeface="Cambria"/>
                <a:ea typeface="Cambria"/>
                <a:cs typeface="Cambria"/>
                <a:sym typeface="Cambria"/>
              </a:rPr>
              <a:t>Letting the team test without hosting a match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8"/>
          <p:cNvSpPr/>
          <p:nvPr/>
        </p:nvSpPr>
        <p:spPr>
          <a:xfrm>
            <a:off x="10253167" y="365760"/>
            <a:ext cx="1371600" cy="274320"/>
          </a:xfrm>
          <a:prstGeom prst="roundRect">
            <a:avLst>
              <a:gd fmla="val 46667" name="adj"/>
            </a:avLst>
          </a:prstGeom>
          <a:solidFill>
            <a:srgbClr val="D08A28"/>
          </a:solidFill>
          <a:ln cap="flat" cmpd="sng" w="12700">
            <a:solidFill>
              <a:srgbClr val="D08A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8"/>
          <p:cNvSpPr txBox="1"/>
          <p:nvPr/>
        </p:nvSpPr>
        <p:spPr>
          <a:xfrm>
            <a:off x="10253167" y="3657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100% MINE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8"/>
          <p:cNvSpPr/>
          <p:nvPr/>
        </p:nvSpPr>
        <p:spPr>
          <a:xfrm>
            <a:off x="566928" y="1627632"/>
            <a:ext cx="3977640" cy="3931920"/>
          </a:xfrm>
          <a:prstGeom prst="roundRect">
            <a:avLst>
              <a:gd fmla="val 1395" name="adj"/>
            </a:avLst>
          </a:prstGeom>
          <a:solidFill>
            <a:srgbClr val="1E1E26"/>
          </a:solidFill>
          <a:ln cap="flat" cmpd="sng" w="9525">
            <a:solidFill>
              <a:srgbClr val="2A2A3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tmp/claude-0/-home-claude/1390a9ce-40b9-5e21-8a81-99b2e23edd0b/scratchpad/img/ev_offline_hierarchy.png" id="144" name="Google Shape;14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61288" y="1865376"/>
            <a:ext cx="2788920" cy="2542032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8"/>
          <p:cNvSpPr txBox="1"/>
          <p:nvPr/>
        </p:nvSpPr>
        <p:spPr>
          <a:xfrm>
            <a:off x="896112" y="4498848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876"/>
              </a:buClr>
              <a:buSzPts val="1050"/>
              <a:buFont typeface="Calibri"/>
              <a:buNone/>
            </a:pPr>
            <a:r>
              <a:rPr b="0" i="1" lang="en-US" sz="1050" u="none" cap="none" strike="noStrike">
                <a:solidFill>
                  <a:srgbClr val="6E6876"/>
                </a:solidFill>
                <a:latin typeface="Calibri"/>
                <a:ea typeface="Calibri"/>
                <a:cs typeface="Calibri"/>
                <a:sym typeface="Calibri"/>
              </a:rPr>
              <a:t>TestWalk in Play mode — props still present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8"/>
          <p:cNvSpPr/>
          <p:nvPr/>
        </p:nvSpPr>
        <p:spPr>
          <a:xfrm>
            <a:off x="4837176" y="1627632"/>
            <a:ext cx="6766560" cy="3931920"/>
          </a:xfrm>
          <a:prstGeom prst="roundRect">
            <a:avLst>
              <a:gd fmla="val 1395" name="adj"/>
            </a:avLst>
          </a:prstGeom>
          <a:solidFill>
            <a:srgbClr val="1E1E26"/>
          </a:solidFill>
          <a:ln cap="flat" cmpd="sng" w="9525">
            <a:solidFill>
              <a:srgbClr val="2A2A3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8"/>
          <p:cNvSpPr txBox="1"/>
          <p:nvPr/>
        </p:nvSpPr>
        <p:spPr>
          <a:xfrm>
            <a:off x="5166360" y="1847088"/>
            <a:ext cx="61264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F0EBE4"/>
                </a:solidFill>
                <a:latin typeface="Cambria"/>
                <a:ea typeface="Cambria"/>
                <a:cs typeface="Cambria"/>
                <a:sym typeface="Cambria"/>
              </a:rPr>
              <a:t>The problem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8"/>
          <p:cNvSpPr txBox="1"/>
          <p:nvPr/>
        </p:nvSpPr>
        <p:spPr>
          <a:xfrm>
            <a:off x="5166360" y="2212848"/>
            <a:ext cx="612648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95A2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9B95A2"/>
                </a:solidFill>
                <a:latin typeface="Calibri"/>
                <a:ea typeface="Calibri"/>
                <a:cs typeface="Calibri"/>
                <a:sym typeface="Calibri"/>
              </a:rPr>
              <a:t>Mirror switches off every scene object carrying a network identity so the server controls when it appears. Correct in a match — and it means a teammate pressing Play in a test scene watches every prop vanish.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8"/>
          <p:cNvSpPr txBox="1"/>
          <p:nvPr/>
        </p:nvSpPr>
        <p:spPr>
          <a:xfrm>
            <a:off x="5166360" y="3072384"/>
            <a:ext cx="61264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F0EBE4"/>
                </a:solidFill>
                <a:latin typeface="Cambria"/>
                <a:ea typeface="Cambria"/>
                <a:cs typeface="Cambria"/>
                <a:sym typeface="Cambria"/>
              </a:rPr>
              <a:t>What I built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8"/>
          <p:cNvSpPr txBox="1"/>
          <p:nvPr/>
        </p:nvSpPr>
        <p:spPr>
          <a:xfrm>
            <a:off x="5166360" y="3493008"/>
            <a:ext cx="612648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One offline check every system consults, so gameplay code is written once and behaves correctly with or without a server.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0EBE4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A spawner that places a test player and restores the objects Mirror disabled — and does nothing once a match is running.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0EBE4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Persistence helpers so the Epic manager and HUD survive scene changes instead of being destroyed mid-match.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8"/>
          <p:cNvSpPr txBox="1"/>
          <p:nvPr/>
        </p:nvSpPr>
        <p:spPr>
          <a:xfrm>
            <a:off x="566928" y="5742432"/>
            <a:ext cx="11057839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876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6E6876"/>
                </a:solidFill>
                <a:latin typeface="Calibri"/>
                <a:ea typeface="Calibri"/>
                <a:cs typeface="Calibri"/>
                <a:sym typeface="Calibri"/>
              </a:rPr>
              <a:t>Honest note: this took three attempts. The first two assumed Mirror disables objects before Awake — it does not.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8"/>
          <p:cNvSpPr txBox="1"/>
          <p:nvPr/>
        </p:nvSpPr>
        <p:spPr>
          <a:xfrm>
            <a:off x="566928" y="6382512"/>
            <a:ext cx="609584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876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6E6876"/>
                </a:solidFill>
                <a:latin typeface="Calibri"/>
                <a:ea typeface="Calibri"/>
                <a:cs typeface="Calibri"/>
                <a:sym typeface="Calibri"/>
              </a:rPr>
              <a:t>Personal Work Report  |  Kongkidakorn Chuayjang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8"/>
          <p:cNvSpPr txBox="1"/>
          <p:nvPr/>
        </p:nvSpPr>
        <p:spPr>
          <a:xfrm>
            <a:off x="6095848" y="6382512"/>
            <a:ext cx="5528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08A28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8A28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216"/>
        </a:solidFill>
      </p:bgPr>
    </p:bg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9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8A28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D08A28"/>
                </a:solidFill>
                <a:latin typeface="Calibri"/>
                <a:ea typeface="Calibri"/>
                <a:cs typeface="Calibri"/>
                <a:sym typeface="Calibri"/>
              </a:rPr>
              <a:t>EVIDENCE  ·  12 SEP 2026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9"/>
          <p:cNvSpPr txBox="1"/>
          <p:nvPr/>
        </p:nvSpPr>
        <p:spPr>
          <a:xfrm>
            <a:off x="566928" y="640080"/>
            <a:ext cx="11057839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F0EBE4"/>
                </a:solidFill>
                <a:latin typeface="Cambria"/>
                <a:ea typeface="Cambria"/>
                <a:cs typeface="Cambria"/>
                <a:sym typeface="Cambria"/>
              </a:rPr>
              <a:t>Playtest — two machines, one world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9"/>
          <p:cNvSpPr/>
          <p:nvPr/>
        </p:nvSpPr>
        <p:spPr>
          <a:xfrm>
            <a:off x="566928" y="1572768"/>
            <a:ext cx="3200400" cy="3200400"/>
          </a:xfrm>
          <a:prstGeom prst="roundRect">
            <a:avLst>
              <a:gd fmla="val 1714" name="adj"/>
            </a:avLst>
          </a:prstGeom>
          <a:solidFill>
            <a:srgbClr val="1E1E26"/>
          </a:solidFill>
          <a:ln cap="flat" cmpd="sng" w="9525">
            <a:solidFill>
              <a:srgbClr val="2A2A3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tmp/claude-0/-home-claude/1390a9ce-40b9-5e21-8a81-99b2e23edd0b/scratchpad/img/ev_hierarchy_2players.png" id="162" name="Google Shape;162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4128" y="1792224"/>
            <a:ext cx="2286000" cy="1773936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9"/>
          <p:cNvSpPr txBox="1"/>
          <p:nvPr/>
        </p:nvSpPr>
        <p:spPr>
          <a:xfrm>
            <a:off x="841248" y="3639312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876"/>
              </a:buClr>
              <a:buSzPts val="1050"/>
              <a:buFont typeface="Calibri"/>
              <a:buNone/>
            </a:pPr>
            <a:r>
              <a:rPr b="0" i="1" lang="en-US" sz="1050" u="none" cap="none" strike="noStrike">
                <a:solidFill>
                  <a:srgbClr val="6E6876"/>
                </a:solidFill>
                <a:latin typeface="Calibri"/>
                <a:ea typeface="Calibri"/>
                <a:cs typeface="Calibri"/>
                <a:sym typeface="Calibri"/>
              </a:rPr>
              <a:t>Two Player(Clone) in one scene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9"/>
          <p:cNvSpPr txBox="1"/>
          <p:nvPr/>
        </p:nvSpPr>
        <p:spPr>
          <a:xfrm>
            <a:off x="841248" y="3931920"/>
            <a:ext cx="26517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95A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B95A2"/>
                </a:solidFill>
                <a:latin typeface="Calibri"/>
                <a:ea typeface="Calibri"/>
                <a:cs typeface="Calibri"/>
                <a:sym typeface="Calibri"/>
              </a:rPr>
              <a:t>Host and joined client both present.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9"/>
          <p:cNvSpPr/>
          <p:nvPr/>
        </p:nvSpPr>
        <p:spPr>
          <a:xfrm>
            <a:off x="4059936" y="1572768"/>
            <a:ext cx="4206240" cy="3200400"/>
          </a:xfrm>
          <a:prstGeom prst="roundRect">
            <a:avLst>
              <a:gd fmla="val 1714" name="adj"/>
            </a:avLst>
          </a:prstGeom>
          <a:solidFill>
            <a:srgbClr val="1E1E26"/>
          </a:solidFill>
          <a:ln cap="flat" cmpd="sng" w="9525">
            <a:solidFill>
              <a:srgbClr val="2A2A3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tmp/claude-0/-home-claude/1390a9ce-40b9-5e21-8a81-99b2e23edd0b/scratchpad/img/ev_gameview_remote.png" id="166" name="Google Shape;166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270248" y="1792224"/>
            <a:ext cx="3785616" cy="2139696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9"/>
          <p:cNvSpPr txBox="1"/>
          <p:nvPr/>
        </p:nvSpPr>
        <p:spPr>
          <a:xfrm>
            <a:off x="4270248" y="4005072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876"/>
              </a:buClr>
              <a:buSzPts val="1050"/>
              <a:buFont typeface="Calibri"/>
              <a:buNone/>
            </a:pPr>
            <a:r>
              <a:rPr b="0" i="1" lang="en-US" sz="1050" u="none" cap="none" strike="noStrike">
                <a:solidFill>
                  <a:srgbClr val="6E6876"/>
                </a:solidFill>
                <a:latin typeface="Calibri"/>
                <a:ea typeface="Calibri"/>
                <a:cs typeface="Calibri"/>
                <a:sym typeface="Calibri"/>
              </a:rPr>
              <a:t>The other player, seen from my client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9"/>
          <p:cNvSpPr/>
          <p:nvPr/>
        </p:nvSpPr>
        <p:spPr>
          <a:xfrm>
            <a:off x="8558784" y="1572768"/>
            <a:ext cx="3044952" cy="3200400"/>
          </a:xfrm>
          <a:prstGeom prst="roundRect">
            <a:avLst>
              <a:gd fmla="val 1802" name="adj"/>
            </a:avLst>
          </a:prstGeom>
          <a:solidFill>
            <a:srgbClr val="1E1E26"/>
          </a:solidFill>
          <a:ln cap="flat" cmpd="sng" w="9525">
            <a:solidFill>
              <a:srgbClr val="2A2A3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tmp/claude-0/-home-claude/1390a9ce-40b9-5e21-8a81-99b2e23edd0b/scratchpad/img/ev_console_join.png" id="169" name="Google Shape;169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778240" y="1792224"/>
            <a:ext cx="2606040" cy="1124712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9"/>
          <p:cNvSpPr txBox="1"/>
          <p:nvPr/>
        </p:nvSpPr>
        <p:spPr>
          <a:xfrm>
            <a:off x="8778240" y="301752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876"/>
              </a:buClr>
              <a:buSzPts val="1050"/>
              <a:buFont typeface="Calibri"/>
              <a:buNone/>
            </a:pPr>
            <a:r>
              <a:rPr b="0" i="1" lang="en-US" sz="1050" u="none" cap="none" strike="noStrike">
                <a:solidFill>
                  <a:srgbClr val="6E6876"/>
                </a:solidFill>
                <a:latin typeface="Calibri"/>
                <a:ea typeface="Calibri"/>
                <a:cs typeface="Calibri"/>
                <a:sym typeface="Calibri"/>
              </a:rPr>
              <a:t>Connection established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9"/>
          <p:cNvSpPr txBox="1"/>
          <p:nvPr/>
        </p:nvSpPr>
        <p:spPr>
          <a:xfrm>
            <a:off x="8778240" y="3328416"/>
            <a:ext cx="260604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95A2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9B95A2"/>
                </a:solidFill>
                <a:latin typeface="Calibri"/>
                <a:ea typeface="Calibri"/>
                <a:cs typeface="Calibri"/>
                <a:sym typeface="Calibri"/>
              </a:rPr>
              <a:t>The client resolved the host's Epic user ID and connected through it — no IP address involved.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9"/>
          <p:cNvSpPr/>
          <p:nvPr/>
        </p:nvSpPr>
        <p:spPr>
          <a:xfrm>
            <a:off x="566928" y="4956048"/>
            <a:ext cx="11057839" cy="1207008"/>
          </a:xfrm>
          <a:prstGeom prst="roundRect">
            <a:avLst>
              <a:gd fmla="val 4545" name="adj"/>
            </a:avLst>
          </a:prstGeom>
          <a:solidFill>
            <a:srgbClr val="1E1E26"/>
          </a:solidFill>
          <a:ln cap="flat" cmpd="sng" w="9525">
            <a:solidFill>
              <a:srgbClr val="2A2A3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9"/>
          <p:cNvSpPr txBox="1"/>
          <p:nvPr/>
        </p:nvSpPr>
        <p:spPr>
          <a:xfrm>
            <a:off x="896112" y="5120640"/>
            <a:ext cx="50292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8A28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D08A28"/>
                </a:solidFill>
                <a:latin typeface="Calibri"/>
                <a:ea typeface="Calibri"/>
                <a:cs typeface="Calibri"/>
                <a:sym typeface="Calibri"/>
              </a:rPr>
              <a:t>Recordings supplied with this deck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9"/>
          <p:cNvSpPr txBox="1"/>
          <p:nvPr/>
        </p:nvSpPr>
        <p:spPr>
          <a:xfrm>
            <a:off x="896112" y="5413248"/>
            <a:ext cx="1060704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95A2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B95A2"/>
                </a:solidFill>
                <a:latin typeface="Calibri"/>
                <a:ea typeface="Calibri"/>
                <a:cs typeface="Calibri"/>
                <a:sym typeface="Calibri"/>
              </a:rPr>
              <a:t>13-48-04.mp4  (0:54)  — offline sandbox: interactables stay present, damage trigger fires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95A2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B95A2"/>
                </a:solidFill>
                <a:latin typeface="Calibri"/>
                <a:ea typeface="Calibri"/>
                <a:cs typeface="Calibri"/>
                <a:sym typeface="Calibri"/>
              </a:rPr>
              <a:t>15-35-02.mp4  (1:18)  — creating a room on Epic and starting the host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95A2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B95A2"/>
                </a:solidFill>
                <a:latin typeface="Calibri"/>
                <a:ea typeface="Calibri"/>
                <a:cs typeface="Calibri"/>
                <a:sym typeface="Calibri"/>
              </a:rPr>
              <a:t>15-35-42.mp4  (0:40)  — second client finds the room, joins, both players appear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9"/>
          <p:cNvSpPr txBox="1"/>
          <p:nvPr/>
        </p:nvSpPr>
        <p:spPr>
          <a:xfrm>
            <a:off x="566928" y="6382512"/>
            <a:ext cx="609584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876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6E6876"/>
                </a:solidFill>
                <a:latin typeface="Calibri"/>
                <a:ea typeface="Calibri"/>
                <a:cs typeface="Calibri"/>
                <a:sym typeface="Calibri"/>
              </a:rPr>
              <a:t>Personal Work Report  |  Kongkidakorn Chuayjang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9"/>
          <p:cNvSpPr txBox="1"/>
          <p:nvPr/>
        </p:nvSpPr>
        <p:spPr>
          <a:xfrm>
            <a:off x="6095848" y="6382512"/>
            <a:ext cx="5528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08A28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8A28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216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0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8A28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D08A28"/>
                </a:solidFill>
                <a:latin typeface="Calibri"/>
                <a:ea typeface="Calibri"/>
                <a:cs typeface="Calibri"/>
                <a:sym typeface="Calibri"/>
              </a:rPr>
              <a:t>MY WORK  ·  05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0"/>
          <p:cNvSpPr txBox="1"/>
          <p:nvPr/>
        </p:nvSpPr>
        <p:spPr>
          <a:xfrm>
            <a:off x="566928" y="640080"/>
            <a:ext cx="11057839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F0EBE4"/>
                </a:solidFill>
                <a:latin typeface="Cambria"/>
                <a:ea typeface="Cambria"/>
                <a:cs typeface="Cambria"/>
                <a:sym typeface="Cambria"/>
              </a:rPr>
              <a:t>Bugs I found by reading, not guessing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0"/>
          <p:cNvSpPr txBox="1"/>
          <p:nvPr/>
        </p:nvSpPr>
        <p:spPr>
          <a:xfrm>
            <a:off x="566928" y="1444752"/>
            <a:ext cx="11057839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95A2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9B95A2"/>
                </a:solidFill>
                <a:latin typeface="Calibri"/>
                <a:ea typeface="Calibri"/>
                <a:cs typeface="Calibri"/>
                <a:sym typeface="Calibri"/>
              </a:rPr>
              <a:t>Each had a plausible wrong explanation that would have cost days. I found the real cause in the library's own source.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0"/>
          <p:cNvSpPr txBox="1"/>
          <p:nvPr/>
        </p:nvSpPr>
        <p:spPr>
          <a:xfrm>
            <a:off x="1389888" y="1956816"/>
            <a:ext cx="3108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876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6E6876"/>
                </a:solidFill>
                <a:latin typeface="Calibri"/>
                <a:ea typeface="Calibri"/>
                <a:cs typeface="Calibri"/>
                <a:sym typeface="Calibri"/>
              </a:rPr>
              <a:t>SYMPTOM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0"/>
          <p:cNvSpPr txBox="1"/>
          <p:nvPr/>
        </p:nvSpPr>
        <p:spPr>
          <a:xfrm>
            <a:off x="4133088" y="1956816"/>
            <a:ext cx="3108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876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6E6876"/>
                </a:solidFill>
                <a:latin typeface="Calibri"/>
                <a:ea typeface="Calibri"/>
                <a:cs typeface="Calibri"/>
                <a:sym typeface="Calibri"/>
              </a:rPr>
              <a:t>REAL CAUSE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0"/>
          <p:cNvSpPr txBox="1"/>
          <p:nvPr/>
        </p:nvSpPr>
        <p:spPr>
          <a:xfrm>
            <a:off x="8193024" y="1956816"/>
            <a:ext cx="3108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876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6E6876"/>
                </a:solidFill>
                <a:latin typeface="Calibri"/>
                <a:ea typeface="Calibri"/>
                <a:cs typeface="Calibri"/>
                <a:sym typeface="Calibri"/>
              </a:rPr>
              <a:t>WHAT I DID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0"/>
          <p:cNvSpPr/>
          <p:nvPr/>
        </p:nvSpPr>
        <p:spPr>
          <a:xfrm>
            <a:off x="566928" y="2267712"/>
            <a:ext cx="11057839" cy="694944"/>
          </a:xfrm>
          <a:prstGeom prst="roundRect">
            <a:avLst>
              <a:gd fmla="val 7895" name="adj"/>
            </a:avLst>
          </a:prstGeom>
          <a:solidFill>
            <a:srgbClr val="1E1E26"/>
          </a:solidFill>
          <a:ln cap="flat" cmpd="sng" w="9525">
            <a:solidFill>
              <a:srgbClr val="2A2A3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0"/>
          <p:cNvSpPr/>
          <p:nvPr/>
        </p:nvSpPr>
        <p:spPr>
          <a:xfrm>
            <a:off x="822960" y="2414016"/>
            <a:ext cx="402336" cy="402336"/>
          </a:xfrm>
          <a:prstGeom prst="ellipse">
            <a:avLst/>
          </a:prstGeom>
          <a:solidFill>
            <a:srgbClr val="7D5316"/>
          </a:solidFill>
          <a:ln cap="flat" cmpd="sng" w="12700">
            <a:solidFill>
              <a:srgbClr val="7D531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0"/>
          <p:cNvSpPr txBox="1"/>
          <p:nvPr/>
        </p:nvSpPr>
        <p:spPr>
          <a:xfrm>
            <a:off x="822960" y="2414016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0"/>
          <p:cNvSpPr txBox="1"/>
          <p:nvPr/>
        </p:nvSpPr>
        <p:spPr>
          <a:xfrm>
            <a:off x="1389888" y="2267712"/>
            <a:ext cx="265176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Build would not compile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0"/>
          <p:cNvSpPr txBox="1"/>
          <p:nvPr/>
        </p:nvSpPr>
        <p:spPr>
          <a:xfrm>
            <a:off x="4133088" y="2267712"/>
            <a:ext cx="393192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95A2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B95A2"/>
                </a:solidFill>
                <a:latin typeface="Calibri"/>
                <a:ea typeface="Calibri"/>
                <a:cs typeface="Calibri"/>
                <a:sym typeface="Calibri"/>
              </a:rPr>
              <a:t>Two Epic SDKs installed at once, colliding on the same native library.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0"/>
          <p:cNvSpPr txBox="1"/>
          <p:nvPr/>
        </p:nvSpPr>
        <p:spPr>
          <a:xfrm>
            <a:off x="8193024" y="2267712"/>
            <a:ext cx="31546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E9E6E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5E9E6E"/>
                </a:solidFill>
                <a:latin typeface="Calibri"/>
                <a:ea typeface="Calibri"/>
                <a:cs typeface="Calibri"/>
                <a:sym typeface="Calibri"/>
              </a:rPr>
              <a:t>Removed the unused one. 0 errors, 0 warnings.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0"/>
          <p:cNvSpPr/>
          <p:nvPr/>
        </p:nvSpPr>
        <p:spPr>
          <a:xfrm>
            <a:off x="566928" y="3035808"/>
            <a:ext cx="11057839" cy="694944"/>
          </a:xfrm>
          <a:prstGeom prst="roundRect">
            <a:avLst>
              <a:gd fmla="val 7895" name="adj"/>
            </a:avLst>
          </a:prstGeom>
          <a:solidFill>
            <a:srgbClr val="1E1E26"/>
          </a:solidFill>
          <a:ln cap="flat" cmpd="sng" w="9525">
            <a:solidFill>
              <a:srgbClr val="2A2A3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10"/>
          <p:cNvSpPr/>
          <p:nvPr/>
        </p:nvSpPr>
        <p:spPr>
          <a:xfrm>
            <a:off x="822960" y="3182112"/>
            <a:ext cx="402336" cy="402336"/>
          </a:xfrm>
          <a:prstGeom prst="ellipse">
            <a:avLst/>
          </a:prstGeom>
          <a:solidFill>
            <a:srgbClr val="7D5316"/>
          </a:solidFill>
          <a:ln cap="flat" cmpd="sng" w="12700">
            <a:solidFill>
              <a:srgbClr val="7D531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0"/>
          <p:cNvSpPr txBox="1"/>
          <p:nvPr/>
        </p:nvSpPr>
        <p:spPr>
          <a:xfrm>
            <a:off x="822960" y="3182112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0"/>
          <p:cNvSpPr txBox="1"/>
          <p:nvPr/>
        </p:nvSpPr>
        <p:spPr>
          <a:xfrm>
            <a:off x="1389888" y="3035808"/>
            <a:ext cx="265176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Client joined an empty world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0"/>
          <p:cNvSpPr txBox="1"/>
          <p:nvPr/>
        </p:nvSpPr>
        <p:spPr>
          <a:xfrm>
            <a:off x="4133088" y="3035808"/>
            <a:ext cx="393192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95A2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B95A2"/>
                </a:solidFill>
                <a:latin typeface="Calibri"/>
                <a:ea typeface="Calibri"/>
                <a:cs typeface="Calibri"/>
                <a:sym typeface="Calibri"/>
              </a:rPr>
              <a:t>A server can spawn a prefab it references; a client can only spawn one that is registered.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0"/>
          <p:cNvSpPr txBox="1"/>
          <p:nvPr/>
        </p:nvSpPr>
        <p:spPr>
          <a:xfrm>
            <a:off x="8193024" y="3035808"/>
            <a:ext cx="31546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E9E6E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5E9E6E"/>
                </a:solidFill>
                <a:latin typeface="Calibri"/>
                <a:ea typeface="Calibri"/>
                <a:cs typeface="Calibri"/>
                <a:sym typeface="Calibri"/>
              </a:rPr>
              <a:t>Identified the checkout mismatch.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0"/>
          <p:cNvSpPr/>
          <p:nvPr/>
        </p:nvSpPr>
        <p:spPr>
          <a:xfrm>
            <a:off x="566928" y="3803904"/>
            <a:ext cx="11057839" cy="694944"/>
          </a:xfrm>
          <a:prstGeom prst="roundRect">
            <a:avLst>
              <a:gd fmla="val 7895" name="adj"/>
            </a:avLst>
          </a:prstGeom>
          <a:solidFill>
            <a:srgbClr val="1E1E26"/>
          </a:solidFill>
          <a:ln cap="flat" cmpd="sng" w="9525">
            <a:solidFill>
              <a:srgbClr val="2A2A3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10"/>
          <p:cNvSpPr/>
          <p:nvPr/>
        </p:nvSpPr>
        <p:spPr>
          <a:xfrm>
            <a:off x="822960" y="3950208"/>
            <a:ext cx="402336" cy="402336"/>
          </a:xfrm>
          <a:prstGeom prst="ellipse">
            <a:avLst/>
          </a:prstGeom>
          <a:solidFill>
            <a:srgbClr val="7D5316"/>
          </a:solidFill>
          <a:ln cap="flat" cmpd="sng" w="12700">
            <a:solidFill>
              <a:srgbClr val="7D531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0"/>
          <p:cNvSpPr txBox="1"/>
          <p:nvPr/>
        </p:nvSpPr>
        <p:spPr>
          <a:xfrm>
            <a:off x="822960" y="3950208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0"/>
          <p:cNvSpPr txBox="1"/>
          <p:nvPr/>
        </p:nvSpPr>
        <p:spPr>
          <a:xfrm>
            <a:off x="1389888" y="3803904"/>
            <a:ext cx="265176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Props disappeared on Play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0"/>
          <p:cNvSpPr txBox="1"/>
          <p:nvPr/>
        </p:nvSpPr>
        <p:spPr>
          <a:xfrm>
            <a:off x="4133088" y="3803904"/>
            <a:ext cx="393192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95A2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B95A2"/>
                </a:solidFill>
                <a:latin typeface="Calibri"/>
                <a:ea typeface="Calibri"/>
                <a:cs typeface="Calibri"/>
                <a:sym typeface="Calibri"/>
              </a:rPr>
              <a:t>Mirror disables scene objects after Awake, so an Awake-time fix runs too early.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0"/>
          <p:cNvSpPr txBox="1"/>
          <p:nvPr/>
        </p:nvSpPr>
        <p:spPr>
          <a:xfrm>
            <a:off x="8193024" y="3803904"/>
            <a:ext cx="31546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E9E6E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5E9E6E"/>
                </a:solidFill>
                <a:latin typeface="Calibri"/>
                <a:ea typeface="Calibri"/>
                <a:cs typeface="Calibri"/>
                <a:sym typeface="Calibri"/>
              </a:rPr>
              <a:t>Rewrote the fix to watch across frames.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0"/>
          <p:cNvSpPr/>
          <p:nvPr/>
        </p:nvSpPr>
        <p:spPr>
          <a:xfrm>
            <a:off x="566928" y="4572000"/>
            <a:ext cx="11057839" cy="694944"/>
          </a:xfrm>
          <a:prstGeom prst="roundRect">
            <a:avLst>
              <a:gd fmla="val 7895" name="adj"/>
            </a:avLst>
          </a:prstGeom>
          <a:solidFill>
            <a:srgbClr val="1E1E26"/>
          </a:solidFill>
          <a:ln cap="flat" cmpd="sng" w="9525">
            <a:solidFill>
              <a:srgbClr val="2A2A3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10"/>
          <p:cNvSpPr/>
          <p:nvPr/>
        </p:nvSpPr>
        <p:spPr>
          <a:xfrm>
            <a:off x="822960" y="4718304"/>
            <a:ext cx="402336" cy="402336"/>
          </a:xfrm>
          <a:prstGeom prst="ellipse">
            <a:avLst/>
          </a:prstGeom>
          <a:solidFill>
            <a:srgbClr val="7D5316"/>
          </a:solidFill>
          <a:ln cap="flat" cmpd="sng" w="12700">
            <a:solidFill>
              <a:srgbClr val="7D531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10"/>
          <p:cNvSpPr txBox="1"/>
          <p:nvPr/>
        </p:nvSpPr>
        <p:spPr>
          <a:xfrm>
            <a:off x="822960" y="4718304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0"/>
          <p:cNvSpPr txBox="1"/>
          <p:nvPr/>
        </p:nvSpPr>
        <p:spPr>
          <a:xfrm>
            <a:off x="1389888" y="4572000"/>
            <a:ext cx="265176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Rooms rejected with InvalidUser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0"/>
          <p:cNvSpPr txBox="1"/>
          <p:nvPr/>
        </p:nvSpPr>
        <p:spPr>
          <a:xfrm>
            <a:off x="4133088" y="4572000"/>
            <a:ext cx="393192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95A2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B95A2"/>
                </a:solidFill>
                <a:latin typeface="Calibri"/>
                <a:ea typeface="Calibri"/>
                <a:cs typeface="Calibri"/>
                <a:sym typeface="Calibri"/>
              </a:rPr>
              <a:t>Epic login is asynchronous; the button could be pressed before login finished.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0"/>
          <p:cNvSpPr txBox="1"/>
          <p:nvPr/>
        </p:nvSpPr>
        <p:spPr>
          <a:xfrm>
            <a:off x="8193024" y="4572000"/>
            <a:ext cx="31546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E9E6E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5E9E6E"/>
                </a:solidFill>
                <a:latin typeface="Calibri"/>
                <a:ea typeface="Calibri"/>
                <a:cs typeface="Calibri"/>
                <a:sym typeface="Calibri"/>
              </a:rPr>
              <a:t>Gated room creation on login state.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0"/>
          <p:cNvSpPr/>
          <p:nvPr/>
        </p:nvSpPr>
        <p:spPr>
          <a:xfrm>
            <a:off x="566928" y="5340096"/>
            <a:ext cx="11057839" cy="694944"/>
          </a:xfrm>
          <a:prstGeom prst="roundRect">
            <a:avLst>
              <a:gd fmla="val 7895" name="adj"/>
            </a:avLst>
          </a:prstGeom>
          <a:solidFill>
            <a:srgbClr val="1E1E26"/>
          </a:solidFill>
          <a:ln cap="flat" cmpd="sng" w="9525">
            <a:solidFill>
              <a:srgbClr val="2A2A3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10"/>
          <p:cNvSpPr/>
          <p:nvPr/>
        </p:nvSpPr>
        <p:spPr>
          <a:xfrm>
            <a:off x="822960" y="5486400"/>
            <a:ext cx="402336" cy="402336"/>
          </a:xfrm>
          <a:prstGeom prst="ellipse">
            <a:avLst/>
          </a:prstGeom>
          <a:solidFill>
            <a:srgbClr val="7D5316"/>
          </a:solidFill>
          <a:ln cap="flat" cmpd="sng" w="12700">
            <a:solidFill>
              <a:srgbClr val="7D531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10"/>
          <p:cNvSpPr txBox="1"/>
          <p:nvPr/>
        </p:nvSpPr>
        <p:spPr>
          <a:xfrm>
            <a:off x="822960" y="5486400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0"/>
          <p:cNvSpPr txBox="1"/>
          <p:nvPr/>
        </p:nvSpPr>
        <p:spPr>
          <a:xfrm>
            <a:off x="1389888" y="5340096"/>
            <a:ext cx="265176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Damage did nothing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0"/>
          <p:cNvSpPr txBox="1"/>
          <p:nvPr/>
        </p:nvSpPr>
        <p:spPr>
          <a:xfrm>
            <a:off x="4133088" y="5340096"/>
            <a:ext cx="393192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95A2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B95A2"/>
                </a:solidFill>
                <a:latin typeface="Calibri"/>
                <a:ea typeface="Calibri"/>
                <a:cs typeface="Calibri"/>
                <a:sym typeface="Calibri"/>
              </a:rPr>
              <a:t>Detection relied on a tag the spawned prefab did not carry.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0"/>
          <p:cNvSpPr txBox="1"/>
          <p:nvPr/>
        </p:nvSpPr>
        <p:spPr>
          <a:xfrm>
            <a:off x="8193024" y="5340096"/>
            <a:ext cx="31546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E9E6E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5E9E6E"/>
                </a:solidFill>
                <a:latin typeface="Calibri"/>
                <a:ea typeface="Calibri"/>
                <a:cs typeface="Calibri"/>
                <a:sym typeface="Calibri"/>
              </a:rPr>
              <a:t>Detect by component instead of tag.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0"/>
          <p:cNvSpPr txBox="1"/>
          <p:nvPr/>
        </p:nvSpPr>
        <p:spPr>
          <a:xfrm>
            <a:off x="566928" y="6382512"/>
            <a:ext cx="609584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876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6E6876"/>
                </a:solidFill>
                <a:latin typeface="Calibri"/>
                <a:ea typeface="Calibri"/>
                <a:cs typeface="Calibri"/>
                <a:sym typeface="Calibri"/>
              </a:rPr>
              <a:t>Personal Work Report  |  Kongkidakorn Chuayjang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0"/>
          <p:cNvSpPr txBox="1"/>
          <p:nvPr/>
        </p:nvSpPr>
        <p:spPr>
          <a:xfrm>
            <a:off x="6095848" y="6382512"/>
            <a:ext cx="5528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08A28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8A28"/>
                </a:solidFill>
                <a:latin typeface="Calibri"/>
                <a:ea typeface="Calibri"/>
                <a:cs typeface="Calibri"/>
                <a:sym typeface="Calibri"/>
              </a:rPr>
              <a:t>07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216"/>
        </a:solidFill>
      </p:bgPr>
    </p:bg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1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8A28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D08A28"/>
                </a:solidFill>
                <a:latin typeface="Calibri"/>
                <a:ea typeface="Calibri"/>
                <a:cs typeface="Calibri"/>
                <a:sym typeface="Calibri"/>
              </a:rPr>
              <a:t>FORWARD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1"/>
          <p:cNvSpPr txBox="1"/>
          <p:nvPr/>
        </p:nvSpPr>
        <p:spPr>
          <a:xfrm>
            <a:off x="566928" y="640080"/>
            <a:ext cx="11057839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F0EBE4"/>
                </a:solidFill>
                <a:latin typeface="Cambria"/>
                <a:ea typeface="Cambria"/>
                <a:cs typeface="Cambria"/>
                <a:sym typeface="Cambria"/>
              </a:rPr>
              <a:t>What I am doing next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1"/>
          <p:cNvSpPr/>
          <p:nvPr/>
        </p:nvSpPr>
        <p:spPr>
          <a:xfrm>
            <a:off x="566928" y="1645920"/>
            <a:ext cx="11057839" cy="914400"/>
          </a:xfrm>
          <a:prstGeom prst="roundRect">
            <a:avLst>
              <a:gd fmla="val 6000" name="adj"/>
            </a:avLst>
          </a:prstGeom>
          <a:solidFill>
            <a:srgbClr val="1E1E26"/>
          </a:solidFill>
          <a:ln cap="flat" cmpd="sng" w="9525">
            <a:solidFill>
              <a:srgbClr val="2A2A3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11"/>
          <p:cNvSpPr/>
          <p:nvPr/>
        </p:nvSpPr>
        <p:spPr>
          <a:xfrm>
            <a:off x="859536" y="1892808"/>
            <a:ext cx="420624" cy="420624"/>
          </a:xfrm>
          <a:prstGeom prst="ellipse">
            <a:avLst/>
          </a:prstGeom>
          <a:solidFill>
            <a:srgbClr val="D08A28"/>
          </a:solidFill>
          <a:ln cap="flat" cmpd="sng" w="12700">
            <a:solidFill>
              <a:srgbClr val="D08A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11"/>
          <p:cNvSpPr txBox="1"/>
          <p:nvPr/>
        </p:nvSpPr>
        <p:spPr>
          <a:xfrm>
            <a:off x="859536" y="1892808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A0D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A0A0D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1"/>
          <p:cNvSpPr txBox="1"/>
          <p:nvPr/>
        </p:nvSpPr>
        <p:spPr>
          <a:xfrm>
            <a:off x="1481328" y="1764792"/>
            <a:ext cx="3246120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1600"/>
              <a:buFont typeface="Cambria"/>
              <a:buNone/>
            </a:pPr>
            <a:r>
              <a:rPr b="1" i="0" lang="en-US" sz="1600" u="none" cap="none" strike="noStrike">
                <a:solidFill>
                  <a:srgbClr val="F0EBE4"/>
                </a:solidFill>
                <a:latin typeface="Cambria"/>
                <a:ea typeface="Cambria"/>
                <a:cs typeface="Cambria"/>
                <a:sym typeface="Cambria"/>
              </a:rPr>
              <a:t>Room browser UI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1"/>
          <p:cNvSpPr txBox="1"/>
          <p:nvPr/>
        </p:nvSpPr>
        <p:spPr>
          <a:xfrm>
            <a:off x="4937760" y="1764792"/>
            <a:ext cx="6419088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95A2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B95A2"/>
                </a:solidFill>
                <a:latin typeface="Calibri"/>
                <a:ea typeface="Calibri"/>
                <a:cs typeface="Calibri"/>
                <a:sym typeface="Calibri"/>
              </a:rPr>
              <a:t>The search already returns every open room with map, difficulty, lock state and player count. Nothing draws it yet — that is my next build.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1"/>
          <p:cNvSpPr/>
          <p:nvPr/>
        </p:nvSpPr>
        <p:spPr>
          <a:xfrm>
            <a:off x="566928" y="2706624"/>
            <a:ext cx="11057839" cy="914400"/>
          </a:xfrm>
          <a:prstGeom prst="roundRect">
            <a:avLst>
              <a:gd fmla="val 6000" name="adj"/>
            </a:avLst>
          </a:prstGeom>
          <a:solidFill>
            <a:srgbClr val="1E1E26"/>
          </a:solidFill>
          <a:ln cap="flat" cmpd="sng" w="9525">
            <a:solidFill>
              <a:srgbClr val="2A2A3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11"/>
          <p:cNvSpPr/>
          <p:nvPr/>
        </p:nvSpPr>
        <p:spPr>
          <a:xfrm>
            <a:off x="859536" y="2953512"/>
            <a:ext cx="420624" cy="420624"/>
          </a:xfrm>
          <a:prstGeom prst="ellipse">
            <a:avLst/>
          </a:prstGeom>
          <a:solidFill>
            <a:srgbClr val="D08A28"/>
          </a:solidFill>
          <a:ln cap="flat" cmpd="sng" w="12700">
            <a:solidFill>
              <a:srgbClr val="D08A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11"/>
          <p:cNvSpPr txBox="1"/>
          <p:nvPr/>
        </p:nvSpPr>
        <p:spPr>
          <a:xfrm>
            <a:off x="859536" y="2953512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A0D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A0A0D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1"/>
          <p:cNvSpPr txBox="1"/>
          <p:nvPr/>
        </p:nvSpPr>
        <p:spPr>
          <a:xfrm>
            <a:off x="1481328" y="2825496"/>
            <a:ext cx="3246120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1600"/>
              <a:buFont typeface="Cambria"/>
              <a:buNone/>
            </a:pPr>
            <a:r>
              <a:rPr b="1" i="0" lang="en-US" sz="1600" u="none" cap="none" strike="noStrike">
                <a:solidFill>
                  <a:srgbClr val="F0EBE4"/>
                </a:solidFill>
                <a:latin typeface="Cambria"/>
                <a:ea typeface="Cambria"/>
                <a:cs typeface="Cambria"/>
                <a:sym typeface="Cambria"/>
              </a:rPr>
              <a:t>Move the match into a real scene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1"/>
          <p:cNvSpPr txBox="1"/>
          <p:nvPr/>
        </p:nvSpPr>
        <p:spPr>
          <a:xfrm>
            <a:off x="4937760" y="2825496"/>
            <a:ext cx="6419088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95A2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B95A2"/>
                </a:solidFill>
                <a:latin typeface="Calibri"/>
                <a:ea typeface="Calibri"/>
                <a:cs typeface="Calibri"/>
                <a:sym typeface="Calibri"/>
              </a:rPr>
              <a:t>The online test currently runs in the menu scene. Next is a proper level load with players spawning into it.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1"/>
          <p:cNvSpPr/>
          <p:nvPr/>
        </p:nvSpPr>
        <p:spPr>
          <a:xfrm>
            <a:off x="566928" y="3767328"/>
            <a:ext cx="11057839" cy="914400"/>
          </a:xfrm>
          <a:prstGeom prst="roundRect">
            <a:avLst>
              <a:gd fmla="val 6000" name="adj"/>
            </a:avLst>
          </a:prstGeom>
          <a:solidFill>
            <a:srgbClr val="1E1E26"/>
          </a:solidFill>
          <a:ln cap="flat" cmpd="sng" w="9525">
            <a:solidFill>
              <a:srgbClr val="2A2A3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11"/>
          <p:cNvSpPr/>
          <p:nvPr/>
        </p:nvSpPr>
        <p:spPr>
          <a:xfrm>
            <a:off x="859536" y="4014216"/>
            <a:ext cx="420624" cy="420624"/>
          </a:xfrm>
          <a:prstGeom prst="ellipse">
            <a:avLst/>
          </a:prstGeom>
          <a:solidFill>
            <a:srgbClr val="D08A28"/>
          </a:solidFill>
          <a:ln cap="flat" cmpd="sng" w="12700">
            <a:solidFill>
              <a:srgbClr val="D08A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11"/>
          <p:cNvSpPr txBox="1"/>
          <p:nvPr/>
        </p:nvSpPr>
        <p:spPr>
          <a:xfrm>
            <a:off x="859536" y="4014216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A0D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A0A0D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1"/>
          <p:cNvSpPr txBox="1"/>
          <p:nvPr/>
        </p:nvSpPr>
        <p:spPr>
          <a:xfrm>
            <a:off x="1481328" y="3886200"/>
            <a:ext cx="3246120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1600"/>
              <a:buFont typeface="Cambria"/>
              <a:buNone/>
            </a:pPr>
            <a:r>
              <a:rPr b="1" i="0" lang="en-US" sz="1600" u="none" cap="none" strike="noStrike">
                <a:solidFill>
                  <a:srgbClr val="F0EBE4"/>
                </a:solidFill>
                <a:latin typeface="Cambria"/>
                <a:ea typeface="Cambria"/>
                <a:cs typeface="Cambria"/>
                <a:sym typeface="Cambria"/>
              </a:rPr>
              <a:t>Private-room passwords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1"/>
          <p:cNvSpPr txBox="1"/>
          <p:nvPr/>
        </p:nvSpPr>
        <p:spPr>
          <a:xfrm>
            <a:off x="4937760" y="3886200"/>
            <a:ext cx="6419088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95A2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B95A2"/>
                </a:solidFill>
                <a:latin typeface="Calibri"/>
                <a:ea typeface="Calibri"/>
                <a:cs typeface="Calibri"/>
                <a:sym typeface="Calibri"/>
              </a:rPr>
              <a:t>Design is settled — verified after joining, never advertised. Implementation is mine.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1"/>
          <p:cNvSpPr/>
          <p:nvPr/>
        </p:nvSpPr>
        <p:spPr>
          <a:xfrm>
            <a:off x="566928" y="4828032"/>
            <a:ext cx="11057839" cy="914400"/>
          </a:xfrm>
          <a:prstGeom prst="roundRect">
            <a:avLst>
              <a:gd fmla="val 6000" name="adj"/>
            </a:avLst>
          </a:prstGeom>
          <a:solidFill>
            <a:srgbClr val="1E1E26"/>
          </a:solidFill>
          <a:ln cap="flat" cmpd="sng" w="9525">
            <a:solidFill>
              <a:srgbClr val="2A2A3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11"/>
          <p:cNvSpPr/>
          <p:nvPr/>
        </p:nvSpPr>
        <p:spPr>
          <a:xfrm>
            <a:off x="859536" y="5074920"/>
            <a:ext cx="420624" cy="420624"/>
          </a:xfrm>
          <a:prstGeom prst="ellipse">
            <a:avLst/>
          </a:prstGeom>
          <a:solidFill>
            <a:srgbClr val="D08A28"/>
          </a:solidFill>
          <a:ln cap="flat" cmpd="sng" w="12700">
            <a:solidFill>
              <a:srgbClr val="D08A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11"/>
          <p:cNvSpPr txBox="1"/>
          <p:nvPr/>
        </p:nvSpPr>
        <p:spPr>
          <a:xfrm>
            <a:off x="859536" y="5074920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A0D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A0A0D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1"/>
          <p:cNvSpPr txBox="1"/>
          <p:nvPr/>
        </p:nvSpPr>
        <p:spPr>
          <a:xfrm>
            <a:off x="1481328" y="4946904"/>
            <a:ext cx="3246120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1600"/>
              <a:buFont typeface="Cambria"/>
              <a:buNone/>
            </a:pPr>
            <a:r>
              <a:rPr b="1" i="0" lang="en-US" sz="1600" u="none" cap="none" strike="noStrike">
                <a:solidFill>
                  <a:srgbClr val="F0EBE4"/>
                </a:solidFill>
                <a:latin typeface="Cambria"/>
                <a:ea typeface="Cambria"/>
                <a:cs typeface="Cambria"/>
                <a:sym typeface="Cambria"/>
              </a:rPr>
              <a:t>Start the 13 Rules system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1"/>
          <p:cNvSpPr txBox="1"/>
          <p:nvPr/>
        </p:nvSpPr>
        <p:spPr>
          <a:xfrm>
            <a:off x="4937760" y="4946904"/>
            <a:ext cx="6419088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95A2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B95A2"/>
                </a:solidFill>
                <a:latin typeface="Calibri"/>
                <a:ea typeface="Calibri"/>
                <a:cs typeface="Calibri"/>
                <a:sym typeface="Calibri"/>
              </a:rPr>
              <a:t>The design thesis of the game, still unstarted. I want it under way before it becomes the thing we ran out of time for.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1"/>
          <p:cNvSpPr txBox="1"/>
          <p:nvPr/>
        </p:nvSpPr>
        <p:spPr>
          <a:xfrm>
            <a:off x="566928" y="5943600"/>
            <a:ext cx="11057839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8A28"/>
              </a:buClr>
              <a:buSzPts val="1250"/>
              <a:buFont typeface="Calibri"/>
              <a:buNone/>
            </a:pPr>
            <a:r>
              <a:rPr b="0" i="1" lang="en-US" sz="1250" u="none" cap="none" strike="noStrike">
                <a:solidFill>
                  <a:srgbClr val="D08A28"/>
                </a:solidFill>
                <a:latin typeface="Calibri"/>
                <a:ea typeface="Calibri"/>
                <a:cs typeface="Calibri"/>
                <a:sym typeface="Calibri"/>
              </a:rPr>
              <a:t>I will report against this list in next week's personal presentation.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1"/>
          <p:cNvSpPr txBox="1"/>
          <p:nvPr/>
        </p:nvSpPr>
        <p:spPr>
          <a:xfrm>
            <a:off x="566928" y="6382512"/>
            <a:ext cx="609584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876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6E6876"/>
                </a:solidFill>
                <a:latin typeface="Calibri"/>
                <a:ea typeface="Calibri"/>
                <a:cs typeface="Calibri"/>
                <a:sym typeface="Calibri"/>
              </a:rPr>
              <a:t>Personal Work Report  |  Kongkidakorn Chuayjang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1"/>
          <p:cNvSpPr txBox="1"/>
          <p:nvPr/>
        </p:nvSpPr>
        <p:spPr>
          <a:xfrm>
            <a:off x="6095848" y="6382512"/>
            <a:ext cx="5528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08A28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8A28"/>
                </a:solidFill>
                <a:latin typeface="Calibri"/>
                <a:ea typeface="Calibri"/>
                <a:cs typeface="Calibri"/>
                <a:sym typeface="Calibri"/>
              </a:rPr>
              <a:t>08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216"/>
        </a:solidFill>
      </p:bgPr>
    </p:bg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8A28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D08A28"/>
                </a:solidFill>
                <a:latin typeface="Calibri"/>
                <a:ea typeface="Calibri"/>
                <a:cs typeface="Calibri"/>
                <a:sym typeface="Calibri"/>
              </a:rPr>
              <a:t>SUMMARY  ·  </a:t>
            </a:r>
            <a:r>
              <a:rPr b="1" lang="en-US" sz="1150">
                <a:solidFill>
                  <a:srgbClr val="D08A28"/>
                </a:solidFill>
                <a:latin typeface="Calibri"/>
                <a:ea typeface="Calibri"/>
                <a:cs typeface="Calibri"/>
                <a:sym typeface="Calibri"/>
              </a:rPr>
              <a:t>Week  01 – Week  03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2"/>
          <p:cNvSpPr txBox="1"/>
          <p:nvPr/>
        </p:nvSpPr>
        <p:spPr>
          <a:xfrm>
            <a:off x="566928" y="640080"/>
            <a:ext cx="11057839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F0EBE4"/>
                </a:solidFill>
                <a:latin typeface="Cambria"/>
                <a:ea typeface="Cambria"/>
                <a:cs typeface="Cambria"/>
                <a:sym typeface="Cambria"/>
              </a:rPr>
              <a:t>Everything I have built so far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2"/>
          <p:cNvSpPr/>
          <p:nvPr/>
        </p:nvSpPr>
        <p:spPr>
          <a:xfrm>
            <a:off x="566928" y="1554480"/>
            <a:ext cx="3514954" cy="3529584"/>
          </a:xfrm>
          <a:prstGeom prst="roundRect">
            <a:avLst>
              <a:gd fmla="val 1561" name="adj"/>
            </a:avLst>
          </a:prstGeom>
          <a:solidFill>
            <a:srgbClr val="1E1E26"/>
          </a:solidFill>
          <a:ln cap="flat" cmpd="sng" w="9525">
            <a:solidFill>
              <a:srgbClr val="2A2A3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12"/>
          <p:cNvSpPr txBox="1"/>
          <p:nvPr/>
        </p:nvSpPr>
        <p:spPr>
          <a:xfrm>
            <a:off x="859536" y="1773936"/>
            <a:ext cx="29260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8A28"/>
              </a:buClr>
              <a:buSzPts val="1650"/>
              <a:buFont typeface="Cambria"/>
              <a:buNone/>
            </a:pPr>
            <a:r>
              <a:rPr b="1" i="0" lang="en-US" sz="1650" u="none" cap="none" strike="noStrike">
                <a:solidFill>
                  <a:srgbClr val="D08A28"/>
                </a:solidFill>
                <a:latin typeface="Cambria"/>
                <a:ea typeface="Cambria"/>
                <a:cs typeface="Cambria"/>
                <a:sym typeface="Cambria"/>
              </a:rPr>
              <a:t>Written from scratch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2"/>
          <p:cNvSpPr txBox="1"/>
          <p:nvPr/>
        </p:nvSpPr>
        <p:spPr>
          <a:xfrm>
            <a:off x="859536" y="2139696"/>
            <a:ext cx="2980944" cy="2798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AES-256 encrypted save system with auto-load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0EBE4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Permanent items capped at 1, lost on drop or death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0EBE4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Custom Inspector for live save contents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0EBE4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Room creation on EOS → Mirror host, and room search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0EBE4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Room data contract: map, difficulty, limit, privacy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0EBE4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Offline / online mode switch + scene persistence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0EBE4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Editor tooling for network setup checks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2"/>
          <p:cNvSpPr/>
          <p:nvPr/>
        </p:nvSpPr>
        <p:spPr>
          <a:xfrm>
            <a:off x="4337914" y="1554480"/>
            <a:ext cx="3514954" cy="3529584"/>
          </a:xfrm>
          <a:prstGeom prst="roundRect">
            <a:avLst>
              <a:gd fmla="val 1561" name="adj"/>
            </a:avLst>
          </a:prstGeom>
          <a:solidFill>
            <a:srgbClr val="1E1E26"/>
          </a:solidFill>
          <a:ln cap="flat" cmpd="sng" w="9525">
            <a:solidFill>
              <a:srgbClr val="2A2A3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12"/>
          <p:cNvSpPr txBox="1"/>
          <p:nvPr/>
        </p:nvSpPr>
        <p:spPr>
          <a:xfrm>
            <a:off x="4630522" y="1773936"/>
            <a:ext cx="29260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95A2"/>
              </a:buClr>
              <a:buSzPts val="1650"/>
              <a:buFont typeface="Cambria"/>
              <a:buNone/>
            </a:pPr>
            <a:r>
              <a:rPr b="1" i="0" lang="en-US" sz="1650" u="none" cap="none" strike="noStrike">
                <a:solidFill>
                  <a:srgbClr val="9B95A2"/>
                </a:solidFill>
                <a:latin typeface="Cambria"/>
                <a:ea typeface="Cambria"/>
                <a:cs typeface="Cambria"/>
                <a:sym typeface="Cambria"/>
              </a:rPr>
              <a:t>Rewritten for multiplayer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2"/>
          <p:cNvSpPr txBox="1"/>
          <p:nvPr/>
        </p:nvSpPr>
        <p:spPr>
          <a:xfrm>
            <a:off x="4630522" y="2139696"/>
            <a:ext cx="2980944" cy="2798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Interaction → client asks, server validates range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0EBE4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Health &amp; damage → server-only, synced outward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0EBE4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Player control → only the owned player reads input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0EBE4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Camera → remote cameras and listeners disabled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0EBE4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Late joiners → state re-applied on connect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0EBE4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Health bar UI → binds to the local player only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2"/>
          <p:cNvSpPr/>
          <p:nvPr/>
        </p:nvSpPr>
        <p:spPr>
          <a:xfrm>
            <a:off x="8108899" y="1554480"/>
            <a:ext cx="3514954" cy="3529584"/>
          </a:xfrm>
          <a:prstGeom prst="roundRect">
            <a:avLst>
              <a:gd fmla="val 1561" name="adj"/>
            </a:avLst>
          </a:prstGeom>
          <a:solidFill>
            <a:srgbClr val="1E1E26"/>
          </a:solidFill>
          <a:ln cap="flat" cmpd="sng" w="9525">
            <a:solidFill>
              <a:srgbClr val="2A2A3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12"/>
          <p:cNvSpPr txBox="1"/>
          <p:nvPr/>
        </p:nvSpPr>
        <p:spPr>
          <a:xfrm>
            <a:off x="8401507" y="1773936"/>
            <a:ext cx="29260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E9E6E"/>
              </a:buClr>
              <a:buSzPts val="1650"/>
              <a:buFont typeface="Cambria"/>
              <a:buNone/>
            </a:pPr>
            <a:r>
              <a:rPr b="1" i="0" lang="en-US" sz="1650" u="none" cap="none" strike="noStrike">
                <a:solidFill>
                  <a:srgbClr val="5E9E6E"/>
                </a:solidFill>
                <a:latin typeface="Cambria"/>
                <a:ea typeface="Cambria"/>
                <a:cs typeface="Cambria"/>
                <a:sym typeface="Cambria"/>
              </a:rPr>
              <a:t>Verified working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2"/>
          <p:cNvSpPr txBox="1"/>
          <p:nvPr/>
        </p:nvSpPr>
        <p:spPr>
          <a:xfrm>
            <a:off x="8401507" y="2139696"/>
            <a:ext cx="2980944" cy="27980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0EBE4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Two machines in one session over Epic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0EBE4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Both players spawn, move and see each other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0EBE4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Room created with full config carried across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0EBE4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Solo sandbox scenes run with no server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F0EBE4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F0EBE4"/>
                </a:solidFill>
                <a:latin typeface="Calibri"/>
                <a:ea typeface="Calibri"/>
                <a:cs typeface="Calibri"/>
                <a:sym typeface="Calibri"/>
              </a:rPr>
              <a:t>Build compiles with 0 errors and 0 warnings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2"/>
          <p:cNvSpPr/>
          <p:nvPr/>
        </p:nvSpPr>
        <p:spPr>
          <a:xfrm>
            <a:off x="566928" y="5340096"/>
            <a:ext cx="2585923" cy="768096"/>
          </a:xfrm>
          <a:prstGeom prst="roundRect">
            <a:avLst>
              <a:gd fmla="val 7143" name="adj"/>
            </a:avLst>
          </a:prstGeom>
          <a:solidFill>
            <a:srgbClr val="1E1E26"/>
          </a:solidFill>
          <a:ln cap="flat" cmpd="sng" w="9525">
            <a:solidFill>
              <a:srgbClr val="2A2A3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12"/>
          <p:cNvSpPr txBox="1"/>
          <p:nvPr/>
        </p:nvSpPr>
        <p:spPr>
          <a:xfrm>
            <a:off x="768096" y="5440680"/>
            <a:ext cx="10972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8A28"/>
              </a:buClr>
              <a:buSzPts val="2100"/>
              <a:buFont typeface="Cambria"/>
              <a:buNone/>
            </a:pPr>
            <a:r>
              <a:rPr b="1" i="0" lang="en-US" sz="2100" u="none" cap="none" strike="noStrike">
                <a:solidFill>
                  <a:srgbClr val="D08A28"/>
                </a:solidFill>
                <a:latin typeface="Cambria"/>
                <a:ea typeface="Cambria"/>
                <a:cs typeface="Cambria"/>
                <a:sym typeface="Cambria"/>
              </a:rPr>
              <a:t>1,360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2"/>
          <p:cNvSpPr txBox="1"/>
          <p:nvPr/>
        </p:nvSpPr>
        <p:spPr>
          <a:xfrm>
            <a:off x="1883664" y="5440680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95A2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B95A2"/>
                </a:solidFill>
                <a:latin typeface="Calibri"/>
                <a:ea typeface="Calibri"/>
                <a:cs typeface="Calibri"/>
                <a:sym typeface="Calibri"/>
              </a:rPr>
              <a:t>lines written from scratch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2"/>
          <p:cNvSpPr/>
          <p:nvPr/>
        </p:nvSpPr>
        <p:spPr>
          <a:xfrm>
            <a:off x="3390595" y="5340096"/>
            <a:ext cx="2585923" cy="768096"/>
          </a:xfrm>
          <a:prstGeom prst="roundRect">
            <a:avLst>
              <a:gd fmla="val 7143" name="adj"/>
            </a:avLst>
          </a:prstGeom>
          <a:solidFill>
            <a:srgbClr val="1E1E26"/>
          </a:solidFill>
          <a:ln cap="flat" cmpd="sng" w="9525">
            <a:solidFill>
              <a:srgbClr val="2A2A3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12"/>
          <p:cNvSpPr txBox="1"/>
          <p:nvPr/>
        </p:nvSpPr>
        <p:spPr>
          <a:xfrm>
            <a:off x="3591763" y="5440680"/>
            <a:ext cx="10972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95A2"/>
              </a:buClr>
              <a:buSzPts val="2100"/>
              <a:buFont typeface="Cambria"/>
              <a:buNone/>
            </a:pPr>
            <a:r>
              <a:rPr b="1" i="0" lang="en-US" sz="2100" u="none" cap="none" strike="noStrike">
                <a:solidFill>
                  <a:srgbClr val="9B95A2"/>
                </a:solidFill>
                <a:latin typeface="Cambria"/>
                <a:ea typeface="Cambria"/>
                <a:cs typeface="Cambria"/>
                <a:sym typeface="Cambria"/>
              </a:rPr>
              <a:t>1,461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2"/>
          <p:cNvSpPr txBox="1"/>
          <p:nvPr/>
        </p:nvSpPr>
        <p:spPr>
          <a:xfrm>
            <a:off x="4707331" y="5440680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95A2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B95A2"/>
                </a:solidFill>
                <a:latin typeface="Calibri"/>
                <a:ea typeface="Calibri"/>
                <a:cs typeface="Calibri"/>
                <a:sym typeface="Calibri"/>
              </a:rPr>
              <a:t>lines rewritten for multiplayer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2"/>
          <p:cNvSpPr/>
          <p:nvPr/>
        </p:nvSpPr>
        <p:spPr>
          <a:xfrm>
            <a:off x="6214262" y="5340096"/>
            <a:ext cx="2585923" cy="768096"/>
          </a:xfrm>
          <a:prstGeom prst="roundRect">
            <a:avLst>
              <a:gd fmla="val 7143" name="adj"/>
            </a:avLst>
          </a:prstGeom>
          <a:solidFill>
            <a:srgbClr val="1E1E26"/>
          </a:solidFill>
          <a:ln cap="flat" cmpd="sng" w="9525">
            <a:solidFill>
              <a:srgbClr val="2A2A3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12"/>
          <p:cNvSpPr txBox="1"/>
          <p:nvPr/>
        </p:nvSpPr>
        <p:spPr>
          <a:xfrm>
            <a:off x="6415430" y="5440680"/>
            <a:ext cx="10972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8A28"/>
              </a:buClr>
              <a:buSzPts val="2100"/>
              <a:buFont typeface="Cambria"/>
              <a:buNone/>
            </a:pPr>
            <a:r>
              <a:rPr b="1" i="0" lang="en-US" sz="2100" u="none" cap="none" strike="noStrike">
                <a:solidFill>
                  <a:srgbClr val="D08A28"/>
                </a:solidFill>
                <a:latin typeface="Cambria"/>
                <a:ea typeface="Cambria"/>
                <a:cs typeface="Cambria"/>
                <a:sym typeface="Cambria"/>
              </a:rPr>
              <a:t>11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2"/>
          <p:cNvSpPr txBox="1"/>
          <p:nvPr/>
        </p:nvSpPr>
        <p:spPr>
          <a:xfrm>
            <a:off x="7530998" y="5440680"/>
            <a:ext cx="1188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95A2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B95A2"/>
                </a:solidFill>
                <a:latin typeface="Calibri"/>
                <a:ea typeface="Calibri"/>
                <a:cs typeface="Calibri"/>
                <a:sym typeface="Calibri"/>
              </a:rPr>
              <a:t>commits of my own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2"/>
          <p:cNvSpPr/>
          <p:nvPr/>
        </p:nvSpPr>
        <p:spPr>
          <a:xfrm>
            <a:off x="9037930" y="5340096"/>
            <a:ext cx="2585923" cy="768096"/>
          </a:xfrm>
          <a:prstGeom prst="roundRect">
            <a:avLst>
              <a:gd fmla="val 7143" name="adj"/>
            </a:avLst>
          </a:prstGeom>
          <a:solidFill>
            <a:srgbClr val="1E1E26"/>
          </a:solidFill>
          <a:ln cap="flat" cmpd="sng" w="9525">
            <a:solidFill>
              <a:srgbClr val="2A2A3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5400000" dist="254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12"/>
          <p:cNvSpPr txBox="1"/>
          <p:nvPr/>
        </p:nvSpPr>
        <p:spPr>
          <a:xfrm>
            <a:off x="9239098" y="5440680"/>
            <a:ext cx="10972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8A28"/>
              </a:buClr>
              <a:buSzPts val="2100"/>
              <a:buFont typeface="Cambria"/>
              <a:buNone/>
            </a:pPr>
            <a:r>
              <a:rPr b="1" i="0" lang="en-US" sz="2100" u="none" cap="none" strike="noStrike">
                <a:solidFill>
                  <a:srgbClr val="D08A28"/>
                </a:solidFill>
                <a:latin typeface="Cambria"/>
                <a:ea typeface="Cambria"/>
                <a:cs typeface="Cambria"/>
                <a:sym typeface="Cambria"/>
              </a:rPr>
              <a:t>5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2"/>
          <p:cNvSpPr txBox="1"/>
          <p:nvPr/>
        </p:nvSpPr>
        <p:spPr>
          <a:xfrm>
            <a:off x="10274191" y="5449830"/>
            <a:ext cx="11886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95A2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B95A2"/>
                </a:solidFill>
                <a:latin typeface="Calibri"/>
                <a:ea typeface="Calibri"/>
                <a:cs typeface="Calibri"/>
                <a:sym typeface="Calibri"/>
              </a:rPr>
              <a:t>hard bugs root-caused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2"/>
          <p:cNvSpPr txBox="1"/>
          <p:nvPr/>
        </p:nvSpPr>
        <p:spPr>
          <a:xfrm>
            <a:off x="566928" y="6382512"/>
            <a:ext cx="609584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876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6E6876"/>
                </a:solidFill>
                <a:latin typeface="Calibri"/>
                <a:ea typeface="Calibri"/>
                <a:cs typeface="Calibri"/>
                <a:sym typeface="Calibri"/>
              </a:rPr>
              <a:t>Personal Work Report  |  Kongkidakorn Chuayjang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2"/>
          <p:cNvSpPr txBox="1"/>
          <p:nvPr/>
        </p:nvSpPr>
        <p:spPr>
          <a:xfrm>
            <a:off x="6095848" y="6382512"/>
            <a:ext cx="5528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08A28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8A28"/>
                </a:solidFill>
                <a:latin typeface="Calibri"/>
                <a:ea typeface="Calibri"/>
                <a:cs typeface="Calibri"/>
                <a:sym typeface="Calibri"/>
              </a:rPr>
              <a:t>Week 3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