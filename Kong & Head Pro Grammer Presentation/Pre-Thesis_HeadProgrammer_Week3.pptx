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report. Headline: the demo crossed from single-machine prototype to a real online session between two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three slides are the evidence for these three milestones,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slide. One month in: the demo has a working online session, a server-authoritative gameplay layer, an encrypted save system, and a clean build. Remaining work is the 13 Rules system, the demo map, and the room browser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D"/>
        </a:solidFill>
      </p:bgPr>
    </p:bg>
    <p:spTree>
      <p:nvGrpSpPr>
        <p:cNvPr id="1" name=""/>
        <p:cNvGrpSpPr/>
        <p:nvPr/>
      </p:nvGrpSpPr>
      <p:grpSpPr>
        <a:xfrm>
          <a:off x="0" y="0"/>
          <a:ext cx="0" cy="0"/>
          <a:chOff x="0" y="0"/>
          <a:chExt cx="0" cy="0"/>
        </a:xfrm>
      </p:grpSpPr>
      <p:sp>
        <p:nvSpPr>
          <p:cNvPr id="2" name="Text 0"/>
          <p:cNvSpPr txBox="1"/>
          <p:nvPr/>
        </p:nvSpPr>
        <p:spPr>
          <a:xfrm>
            <a:off x="658368" y="2029968"/>
            <a:ext cx="11057839" cy="274320"/>
          </a:xfrm>
          <a:prstGeom prst="rect">
            <a:avLst/>
          </a:prstGeom>
          <a:noFill/>
          <a:ln/>
        </p:spPr>
        <p:txBody>
          <a:bodyPr wrap="square" lIns="0" tIns="0" rIns="0" bIns="0" rtlCol="0" anchor="ctr"/>
          <a:lstStyle/>
          <a:p>
            <a:pPr indent="0" marL="0">
              <a:buNone/>
            </a:pPr>
            <a:r>
              <a:rPr lang="en-US" sz="1300" b="1" spc="300" kern="0" dirty="0">
                <a:solidFill>
                  <a:srgbClr val="C1272D"/>
                </a:solidFill>
                <a:latin typeface="Calibri" pitchFamily="34" charset="0"/>
                <a:ea typeface="Calibri" pitchFamily="34" charset="-122"/>
                <a:cs typeface="Calibri" pitchFamily="34" charset="-120"/>
              </a:rPr>
              <a:t>PROGRAMMING STATUS REPORT  ·  WEEK 3</a:t>
            </a:r>
            <a:endParaRPr lang="en-US" sz="1300" dirty="0"/>
          </a:p>
        </p:txBody>
      </p:sp>
      <p:sp>
        <p:nvSpPr>
          <p:cNvPr id="3" name="Text 1"/>
          <p:cNvSpPr txBox="1"/>
          <p:nvPr/>
        </p:nvSpPr>
        <p:spPr>
          <a:xfrm>
            <a:off x="658368" y="2377440"/>
            <a:ext cx="11057839" cy="914400"/>
          </a:xfrm>
          <a:prstGeom prst="rect">
            <a:avLst/>
          </a:prstGeom>
          <a:noFill/>
          <a:ln/>
        </p:spPr>
        <p:txBody>
          <a:bodyPr wrap="square" lIns="0" tIns="0" rIns="0" bIns="0" rtlCol="0" anchor="ctr"/>
          <a:lstStyle/>
          <a:p>
            <a:pPr indent="0" marL="0">
              <a:buNone/>
            </a:pPr>
            <a:r>
              <a:rPr lang="en-US" sz="5400" b="1" dirty="0">
                <a:solidFill>
                  <a:srgbClr val="F0EBE4"/>
                </a:solidFill>
                <a:latin typeface="Cambria" pitchFamily="34" charset="0"/>
                <a:ea typeface="Cambria" pitchFamily="34" charset="-122"/>
                <a:cs typeface="Cambria" pitchFamily="34" charset="-120"/>
              </a:rPr>
              <a:t>Pre-Thesis Demo</a:t>
            </a:r>
            <a:endParaRPr lang="en-US" sz="5400" dirty="0"/>
          </a:p>
        </p:txBody>
      </p:sp>
      <p:sp>
        <p:nvSpPr>
          <p:cNvPr id="4" name="Text 2"/>
          <p:cNvSpPr txBox="1"/>
          <p:nvPr/>
        </p:nvSpPr>
        <p:spPr>
          <a:xfrm>
            <a:off x="658368" y="3310128"/>
            <a:ext cx="8229600" cy="365760"/>
          </a:xfrm>
          <a:prstGeom prst="rect">
            <a:avLst/>
          </a:prstGeom>
          <a:noFill/>
          <a:ln/>
        </p:spPr>
        <p:txBody>
          <a:bodyPr wrap="square" lIns="0" tIns="0" rIns="0" bIns="0" rtlCol="0" anchor="ctr"/>
          <a:lstStyle/>
          <a:p>
            <a:pPr indent="0" marL="0">
              <a:buNone/>
            </a:pPr>
            <a:r>
              <a:rPr lang="en-US" sz="1700" dirty="0">
                <a:solidFill>
                  <a:srgbClr val="9B95A2"/>
                </a:solidFill>
                <a:latin typeface="Calibri" pitchFamily="34" charset="0"/>
                <a:ea typeface="Calibri" pitchFamily="34" charset="-122"/>
                <a:cs typeface="Calibri" pitchFamily="34" charset="-120"/>
              </a:rPr>
              <a:t>A 1–6 player online co-op psychological horror game</a:t>
            </a:r>
            <a:endParaRPr lang="en-US" sz="1700" dirty="0"/>
          </a:p>
        </p:txBody>
      </p:sp>
      <p:sp>
        <p:nvSpPr>
          <p:cNvPr id="5" name="Text 3"/>
          <p:cNvSpPr txBox="1"/>
          <p:nvPr/>
        </p:nvSpPr>
        <p:spPr>
          <a:xfrm>
            <a:off x="658368" y="3675888"/>
            <a:ext cx="8229600" cy="292608"/>
          </a:xfrm>
          <a:prstGeom prst="rect">
            <a:avLst/>
          </a:prstGeom>
          <a:noFill/>
          <a:ln/>
        </p:spPr>
        <p:txBody>
          <a:bodyPr wrap="square" lIns="0" tIns="0" rIns="0" bIns="0" rtlCol="0" anchor="ctr"/>
          <a:lstStyle/>
          <a:p>
            <a:pPr indent="0" marL="0">
              <a:buNone/>
            </a:pPr>
            <a:r>
              <a:rPr lang="en-US" sz="1300" dirty="0">
                <a:solidFill>
                  <a:srgbClr val="6E6876"/>
                </a:solidFill>
                <a:latin typeface="Calibri" pitchFamily="34" charset="0"/>
                <a:ea typeface="Calibri" pitchFamily="34" charset="-122"/>
                <a:cs typeface="Calibri" pitchFamily="34" charset="-120"/>
              </a:rPr>
              <a:t>Unity 6.5  ·  Mirror  ·  Epic Online Services</a:t>
            </a:r>
            <a:endParaRPr lang="en-US" sz="1300" dirty="0"/>
          </a:p>
        </p:txBody>
      </p:sp>
      <p:sp>
        <p:nvSpPr>
          <p:cNvPr id="6" name="Text 4"/>
          <p:cNvSpPr txBox="1"/>
          <p:nvPr/>
        </p:nvSpPr>
        <p:spPr>
          <a:xfrm>
            <a:off x="658368" y="4443984"/>
            <a:ext cx="3520440" cy="219456"/>
          </a:xfrm>
          <a:prstGeom prst="rect">
            <a:avLst/>
          </a:prstGeom>
          <a:noFill/>
          <a:ln/>
        </p:spPr>
        <p:txBody>
          <a:bodyPr wrap="square" lIns="0" tIns="0" rIns="0" bIns="0" rtlCol="0" anchor="ctr"/>
          <a:lstStyle/>
          <a:p>
            <a:pPr indent="0" marL="0">
              <a:buNone/>
            </a:pPr>
            <a:r>
              <a:rPr lang="en-US" sz="900" b="1" spc="160" kern="0" dirty="0">
                <a:solidFill>
                  <a:srgbClr val="C1272D"/>
                </a:solidFill>
                <a:latin typeface="Calibri" pitchFamily="34" charset="0"/>
                <a:ea typeface="Calibri" pitchFamily="34" charset="-122"/>
                <a:cs typeface="Calibri" pitchFamily="34" charset="-120"/>
              </a:rPr>
              <a:t>REPORTING WEEK</a:t>
            </a:r>
            <a:endParaRPr lang="en-US" sz="900" dirty="0"/>
          </a:p>
        </p:txBody>
      </p:sp>
      <p:sp>
        <p:nvSpPr>
          <p:cNvPr id="7" name="Text 5"/>
          <p:cNvSpPr txBox="1"/>
          <p:nvPr/>
        </p:nvSpPr>
        <p:spPr>
          <a:xfrm>
            <a:off x="658368" y="4681728"/>
            <a:ext cx="3520440" cy="548640"/>
          </a:xfrm>
          <a:prstGeom prst="rect">
            <a:avLst/>
          </a:prstGeom>
          <a:noFill/>
          <a:ln/>
        </p:spPr>
        <p:txBody>
          <a:bodyPr wrap="square" lIns="0" tIns="0" rIns="0" bIns="0" rtlCol="0" anchor="ctr"/>
          <a:lstStyle/>
          <a:p>
            <a:pPr indent="0" marL="0">
              <a:buNone/>
            </a:pPr>
            <a:r>
              <a:rPr lang="en-US" sz="1300" dirty="0">
                <a:solidFill>
                  <a:srgbClr val="F0EBE4"/>
                </a:solidFill>
                <a:latin typeface="Calibri" pitchFamily="34" charset="0"/>
                <a:ea typeface="Calibri" pitchFamily="34" charset="-122"/>
                <a:cs typeface="Calibri" pitchFamily="34" charset="-120"/>
              </a:rPr>
              <a:t>Week 3  ·  8–12 Sep 2026</a:t>
            </a:r>
            <a:endParaRPr lang="en-US" sz="1300" dirty="0"/>
          </a:p>
        </p:txBody>
      </p:sp>
      <p:sp>
        <p:nvSpPr>
          <p:cNvPr id="8" name="Text 6"/>
          <p:cNvSpPr txBox="1"/>
          <p:nvPr/>
        </p:nvSpPr>
        <p:spPr>
          <a:xfrm>
            <a:off x="4361688" y="4443984"/>
            <a:ext cx="3520440" cy="219456"/>
          </a:xfrm>
          <a:prstGeom prst="rect">
            <a:avLst/>
          </a:prstGeom>
          <a:noFill/>
          <a:ln/>
        </p:spPr>
        <p:txBody>
          <a:bodyPr wrap="square" lIns="0" tIns="0" rIns="0" bIns="0" rtlCol="0" anchor="ctr"/>
          <a:lstStyle/>
          <a:p>
            <a:pPr indent="0" marL="0">
              <a:buNone/>
            </a:pPr>
            <a:r>
              <a:rPr lang="en-US" sz="900" b="1" spc="160" kern="0" dirty="0">
                <a:solidFill>
                  <a:srgbClr val="C1272D"/>
                </a:solidFill>
                <a:latin typeface="Calibri" pitchFamily="34" charset="0"/>
                <a:ea typeface="Calibri" pitchFamily="34" charset="-122"/>
                <a:cs typeface="Calibri" pitchFamily="34" charset="-120"/>
              </a:rPr>
              <a:t>HEAD PROGRAMMER</a:t>
            </a:r>
            <a:endParaRPr lang="en-US" sz="900" dirty="0"/>
          </a:p>
        </p:txBody>
      </p:sp>
      <p:sp>
        <p:nvSpPr>
          <p:cNvPr id="9" name="Text 7"/>
          <p:cNvSpPr txBox="1"/>
          <p:nvPr/>
        </p:nvSpPr>
        <p:spPr>
          <a:xfrm>
            <a:off x="4361688" y="4681728"/>
            <a:ext cx="3520440" cy="548640"/>
          </a:xfrm>
          <a:prstGeom prst="rect">
            <a:avLst/>
          </a:prstGeom>
          <a:noFill/>
          <a:ln/>
        </p:spPr>
        <p:txBody>
          <a:bodyPr wrap="square" lIns="0" tIns="0" rIns="0" bIns="0" rtlCol="0" anchor="ctr"/>
          <a:lstStyle/>
          <a:p>
            <a:pPr indent="0" marL="0">
              <a:buNone/>
            </a:pPr>
            <a:r>
              <a:rPr lang="en-US" sz="1300" dirty="0">
                <a:solidFill>
                  <a:srgbClr val="F0EBE4"/>
                </a:solidFill>
                <a:latin typeface="Calibri" pitchFamily="34" charset="0"/>
                <a:ea typeface="Calibri" pitchFamily="34" charset="-122"/>
                <a:cs typeface="Calibri" pitchFamily="34" charset="-120"/>
              </a:rPr>
              <a:t>Mr. Kongkidakorn Chuayjang</a:t>
            </a:r>
            <a:endParaRPr lang="en-US" sz="1300" dirty="0"/>
          </a:p>
        </p:txBody>
      </p:sp>
      <p:sp>
        <p:nvSpPr>
          <p:cNvPr id="10" name="Text 8"/>
          <p:cNvSpPr txBox="1"/>
          <p:nvPr/>
        </p:nvSpPr>
        <p:spPr>
          <a:xfrm>
            <a:off x="8065008" y="4443984"/>
            <a:ext cx="3520440" cy="219456"/>
          </a:xfrm>
          <a:prstGeom prst="rect">
            <a:avLst/>
          </a:prstGeom>
          <a:noFill/>
          <a:ln/>
        </p:spPr>
        <p:txBody>
          <a:bodyPr wrap="square" lIns="0" tIns="0" rIns="0" bIns="0" rtlCol="0" anchor="ctr"/>
          <a:lstStyle/>
          <a:p>
            <a:pPr indent="0" marL="0">
              <a:buNone/>
            </a:pPr>
            <a:r>
              <a:rPr lang="en-US" sz="900" b="1" spc="160" kern="0" dirty="0">
                <a:solidFill>
                  <a:srgbClr val="C1272D"/>
                </a:solidFill>
                <a:latin typeface="Calibri" pitchFamily="34" charset="0"/>
                <a:ea typeface="Calibri" pitchFamily="34" charset="-122"/>
                <a:cs typeface="Calibri" pitchFamily="34" charset="-120"/>
              </a:rPr>
              <a:t>SUB PROGRAMMER</a:t>
            </a:r>
            <a:endParaRPr lang="en-US" sz="900" dirty="0"/>
          </a:p>
        </p:txBody>
      </p:sp>
      <p:sp>
        <p:nvSpPr>
          <p:cNvPr id="11" name="Text 9"/>
          <p:cNvSpPr txBox="1"/>
          <p:nvPr/>
        </p:nvSpPr>
        <p:spPr>
          <a:xfrm>
            <a:off x="8065008" y="4681728"/>
            <a:ext cx="3520440" cy="548640"/>
          </a:xfrm>
          <a:prstGeom prst="rect">
            <a:avLst/>
          </a:prstGeom>
          <a:noFill/>
          <a:ln/>
        </p:spPr>
        <p:txBody>
          <a:bodyPr wrap="square" lIns="0" tIns="0" rIns="0" bIns="0" rtlCol="0" anchor="ctr"/>
          <a:lstStyle/>
          <a:p>
            <a:pPr indent="0" marL="0">
              <a:buNone/>
            </a:pPr>
            <a:r>
              <a:rPr lang="en-US" sz="1300" dirty="0">
                <a:solidFill>
                  <a:srgbClr val="F0EBE4"/>
                </a:solidFill>
                <a:latin typeface="Calibri" pitchFamily="34" charset="0"/>
                <a:ea typeface="Calibri" pitchFamily="34" charset="-122"/>
                <a:cs typeface="Calibri" pitchFamily="34" charset="-120"/>
              </a:rPr>
              <a:t>Mr. Atiroj Kemwanicha</a:t>
            </a:r>
            <a:endParaRPr lang="en-US" sz="1300" dirty="0"/>
          </a:p>
        </p:txBody>
      </p:sp>
      <p:sp>
        <p:nvSpPr>
          <p:cNvPr id="12" name="Text 10"/>
          <p:cNvSpPr txBox="1"/>
          <p:nvPr/>
        </p:nvSpPr>
        <p:spPr>
          <a:xfrm>
            <a:off x="658368" y="5650992"/>
            <a:ext cx="8686800" cy="310896"/>
          </a:xfrm>
          <a:prstGeom prst="rect">
            <a:avLst/>
          </a:prstGeom>
          <a:noFill/>
          <a:ln/>
        </p:spPr>
        <p:txBody>
          <a:bodyPr wrap="square" lIns="0" tIns="0" rIns="0" bIns="0" rtlCol="0" anchor="ctr"/>
          <a:lstStyle/>
          <a:p>
            <a:pPr indent="0" marL="0">
              <a:buNone/>
            </a:pPr>
            <a:r>
              <a:rPr lang="en-US" sz="1300" i="1" dirty="0">
                <a:solidFill>
                  <a:srgbClr val="5E9E6E"/>
                </a:solidFill>
                <a:latin typeface="Calibri" pitchFamily="34" charset="0"/>
                <a:ea typeface="Calibri" pitchFamily="34" charset="-122"/>
                <a:cs typeface="Calibri" pitchFamily="34" charset="-120"/>
              </a:rPr>
              <a:t>Status: the game is now playable online between two machines.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21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C1272D"/>
                </a:solidFill>
                <a:latin typeface="Calibri" pitchFamily="34" charset="0"/>
                <a:ea typeface="Calibri" pitchFamily="34" charset="-122"/>
                <a:cs typeface="Calibri" pitchFamily="34" charset="-120"/>
              </a:rPr>
              <a:t>SCOPE</a:t>
            </a:r>
            <a:endParaRPr lang="en-US" sz="115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F0EBE4"/>
                </a:solidFill>
                <a:latin typeface="Cambria" pitchFamily="34" charset="0"/>
                <a:ea typeface="Cambria" pitchFamily="34" charset="-122"/>
                <a:cs typeface="Cambria" pitchFamily="34" charset="-120"/>
              </a:rPr>
              <a:t>What the demo has to prove</a:t>
            </a:r>
            <a:endParaRPr lang="en-US" sz="3200" dirty="0"/>
          </a:p>
        </p:txBody>
      </p:sp>
      <p:sp>
        <p:nvSpPr>
          <p:cNvPr id="4" name="Shape 2"/>
          <p:cNvSpPr/>
          <p:nvPr/>
        </p:nvSpPr>
        <p:spPr>
          <a:xfrm>
            <a:off x="566928" y="1627632"/>
            <a:ext cx="11057839" cy="1207008"/>
          </a:xfrm>
          <a:prstGeom prst="roundRect">
            <a:avLst>
              <a:gd name="adj" fmla="val 4545"/>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5" name="Shape 3"/>
          <p:cNvSpPr/>
          <p:nvPr/>
        </p:nvSpPr>
        <p:spPr>
          <a:xfrm>
            <a:off x="877824" y="2020824"/>
            <a:ext cx="438912" cy="438912"/>
          </a:xfrm>
          <a:prstGeom prst="ellipse">
            <a:avLst/>
          </a:prstGeom>
          <a:solidFill>
            <a:srgbClr val="C1272D"/>
          </a:solidFill>
          <a:ln w="12700">
            <a:solidFill>
              <a:srgbClr val="C1272D"/>
            </a:solidFill>
            <a:prstDash val="solid"/>
          </a:ln>
        </p:spPr>
      </p:sp>
      <p:sp>
        <p:nvSpPr>
          <p:cNvPr id="6" name="Text 4"/>
          <p:cNvSpPr txBox="1"/>
          <p:nvPr/>
        </p:nvSpPr>
        <p:spPr>
          <a:xfrm>
            <a:off x="877824" y="2020824"/>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99616" y="1810512"/>
            <a:ext cx="9692640" cy="347472"/>
          </a:xfrm>
          <a:prstGeom prst="rect">
            <a:avLst/>
          </a:prstGeom>
          <a:noFill/>
          <a:ln/>
        </p:spPr>
        <p:txBody>
          <a:bodyPr wrap="square" lIns="0" tIns="0" rIns="0" bIns="0" rtlCol="0" anchor="ctr"/>
          <a:lstStyle/>
          <a:p>
            <a:pPr indent="0" marL="0">
              <a:buNone/>
            </a:pPr>
            <a:r>
              <a:rPr lang="en-US" sz="1900" b="1" dirty="0">
                <a:solidFill>
                  <a:srgbClr val="F0EBE4"/>
                </a:solidFill>
                <a:latin typeface="Cambria" pitchFamily="34" charset="0"/>
                <a:ea typeface="Cambria" pitchFamily="34" charset="-122"/>
                <a:cs typeface="Cambria" pitchFamily="34" charset="-120"/>
              </a:rPr>
              <a:t>Online co-op, 1–6 players</a:t>
            </a:r>
            <a:endParaRPr lang="en-US" sz="1900" dirty="0"/>
          </a:p>
        </p:txBody>
      </p:sp>
      <p:sp>
        <p:nvSpPr>
          <p:cNvPr id="8" name="Text 6"/>
          <p:cNvSpPr txBox="1"/>
          <p:nvPr/>
        </p:nvSpPr>
        <p:spPr>
          <a:xfrm>
            <a:off x="1499616" y="2194560"/>
            <a:ext cx="9784080" cy="493776"/>
          </a:xfrm>
          <a:prstGeom prst="rect">
            <a:avLst/>
          </a:prstGeom>
          <a:noFill/>
          <a:ln/>
        </p:spPr>
        <p:txBody>
          <a:bodyPr wrap="square" lIns="0" tIns="0" rIns="0" bIns="0" rtlCol="0" anchor="ctr"/>
          <a:lstStyle/>
          <a:p>
            <a:pPr indent="0" marL="0">
              <a:buNone/>
            </a:pPr>
            <a:r>
              <a:rPr lang="en-US" sz="1300" dirty="0">
                <a:solidFill>
                  <a:srgbClr val="9B95A2"/>
                </a:solidFill>
                <a:latin typeface="Calibri" pitchFamily="34" charset="0"/>
                <a:ea typeface="Calibri" pitchFamily="34" charset="-122"/>
                <a:cs typeface="Calibri" pitchFamily="34" charset="-120"/>
              </a:rPr>
              <a:t>One host, up to five joiners, matched through Epic Online Services — no IP addresses, no port forwarding.</a:t>
            </a:r>
            <a:endParaRPr lang="en-US" sz="1300" dirty="0"/>
          </a:p>
        </p:txBody>
      </p:sp>
      <p:sp>
        <p:nvSpPr>
          <p:cNvPr id="9" name="Shape 7"/>
          <p:cNvSpPr/>
          <p:nvPr/>
        </p:nvSpPr>
        <p:spPr>
          <a:xfrm>
            <a:off x="566928" y="3054096"/>
            <a:ext cx="11057839" cy="1207008"/>
          </a:xfrm>
          <a:prstGeom prst="roundRect">
            <a:avLst>
              <a:gd name="adj" fmla="val 4545"/>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0" name="Shape 8"/>
          <p:cNvSpPr/>
          <p:nvPr/>
        </p:nvSpPr>
        <p:spPr>
          <a:xfrm>
            <a:off x="877824" y="3447288"/>
            <a:ext cx="438912" cy="438912"/>
          </a:xfrm>
          <a:prstGeom prst="ellipse">
            <a:avLst/>
          </a:prstGeom>
          <a:solidFill>
            <a:srgbClr val="C1272D"/>
          </a:solidFill>
          <a:ln w="12700">
            <a:solidFill>
              <a:srgbClr val="C1272D"/>
            </a:solidFill>
            <a:prstDash val="solid"/>
          </a:ln>
        </p:spPr>
      </p:sp>
      <p:sp>
        <p:nvSpPr>
          <p:cNvPr id="11" name="Text 9"/>
          <p:cNvSpPr txBox="1"/>
          <p:nvPr/>
        </p:nvSpPr>
        <p:spPr>
          <a:xfrm>
            <a:off x="877824" y="344728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99616" y="3236976"/>
            <a:ext cx="9692640" cy="347472"/>
          </a:xfrm>
          <a:prstGeom prst="rect">
            <a:avLst/>
          </a:prstGeom>
          <a:noFill/>
          <a:ln/>
        </p:spPr>
        <p:txBody>
          <a:bodyPr wrap="square" lIns="0" tIns="0" rIns="0" bIns="0" rtlCol="0" anchor="ctr"/>
          <a:lstStyle/>
          <a:p>
            <a:pPr indent="0" marL="0">
              <a:buNone/>
            </a:pPr>
            <a:r>
              <a:rPr lang="en-US" sz="1900" b="1" dirty="0">
                <a:solidFill>
                  <a:srgbClr val="F0EBE4"/>
                </a:solidFill>
                <a:latin typeface="Cambria" pitchFamily="34" charset="0"/>
                <a:ea typeface="Cambria" pitchFamily="34" charset="-122"/>
                <a:cs typeface="Cambria" pitchFamily="34" charset="-120"/>
              </a:rPr>
              <a:t>The 13 Rules of Horror</a:t>
            </a:r>
            <a:endParaRPr lang="en-US" sz="1900" dirty="0"/>
          </a:p>
        </p:txBody>
      </p:sp>
      <p:sp>
        <p:nvSpPr>
          <p:cNvPr id="13" name="Text 11"/>
          <p:cNvSpPr txBox="1"/>
          <p:nvPr/>
        </p:nvSpPr>
        <p:spPr>
          <a:xfrm>
            <a:off x="1499616" y="3621024"/>
            <a:ext cx="9784080" cy="493776"/>
          </a:xfrm>
          <a:prstGeom prst="rect">
            <a:avLst/>
          </a:prstGeom>
          <a:noFill/>
          <a:ln/>
        </p:spPr>
        <p:txBody>
          <a:bodyPr wrap="square" lIns="0" tIns="0" rIns="0" bIns="0" rtlCol="0" anchor="ctr"/>
          <a:lstStyle/>
          <a:p>
            <a:pPr indent="0" marL="0">
              <a:buNone/>
            </a:pPr>
            <a:r>
              <a:rPr lang="en-US" sz="1300" dirty="0">
                <a:solidFill>
                  <a:srgbClr val="9B95A2"/>
                </a:solidFill>
                <a:latin typeface="Calibri" pitchFamily="34" charset="0"/>
                <a:ea typeface="Calibri" pitchFamily="34" charset="-122"/>
                <a:cs typeface="Calibri" pitchFamily="34" charset="-120"/>
              </a:rPr>
              <a:t>A dynamic rule system that changes what is safe to do during a run. The design thesis of the game.</a:t>
            </a:r>
            <a:endParaRPr lang="en-US" sz="1300" dirty="0"/>
          </a:p>
        </p:txBody>
      </p:sp>
      <p:sp>
        <p:nvSpPr>
          <p:cNvPr id="14" name="Shape 12"/>
          <p:cNvSpPr/>
          <p:nvPr/>
        </p:nvSpPr>
        <p:spPr>
          <a:xfrm>
            <a:off x="566928" y="4480560"/>
            <a:ext cx="11057839" cy="1207008"/>
          </a:xfrm>
          <a:prstGeom prst="roundRect">
            <a:avLst>
              <a:gd name="adj" fmla="val 4545"/>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5" name="Shape 13"/>
          <p:cNvSpPr/>
          <p:nvPr/>
        </p:nvSpPr>
        <p:spPr>
          <a:xfrm>
            <a:off x="877824" y="4873752"/>
            <a:ext cx="438912" cy="438912"/>
          </a:xfrm>
          <a:prstGeom prst="ellipse">
            <a:avLst/>
          </a:prstGeom>
          <a:solidFill>
            <a:srgbClr val="C1272D"/>
          </a:solidFill>
          <a:ln w="12700">
            <a:solidFill>
              <a:srgbClr val="C1272D"/>
            </a:solidFill>
            <a:prstDash val="solid"/>
          </a:ln>
        </p:spPr>
      </p:sp>
      <p:sp>
        <p:nvSpPr>
          <p:cNvPr id="16" name="Text 14"/>
          <p:cNvSpPr txBox="1"/>
          <p:nvPr/>
        </p:nvSpPr>
        <p:spPr>
          <a:xfrm>
            <a:off x="877824" y="487375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99616" y="4663440"/>
            <a:ext cx="9692640" cy="347472"/>
          </a:xfrm>
          <a:prstGeom prst="rect">
            <a:avLst/>
          </a:prstGeom>
          <a:noFill/>
          <a:ln/>
        </p:spPr>
        <p:txBody>
          <a:bodyPr wrap="square" lIns="0" tIns="0" rIns="0" bIns="0" rtlCol="0" anchor="ctr"/>
          <a:lstStyle/>
          <a:p>
            <a:pPr indent="0" marL="0">
              <a:buNone/>
            </a:pPr>
            <a:r>
              <a:rPr lang="en-US" sz="1900" b="1" dirty="0">
                <a:solidFill>
                  <a:srgbClr val="F0EBE4"/>
                </a:solidFill>
                <a:latin typeface="Cambria" pitchFamily="34" charset="0"/>
                <a:ea typeface="Cambria" pitchFamily="34" charset="-122"/>
                <a:cs typeface="Cambria" pitchFamily="34" charset="-120"/>
              </a:rPr>
              <a:t>Persistent progression</a:t>
            </a:r>
            <a:endParaRPr lang="en-US" sz="1900" dirty="0"/>
          </a:p>
        </p:txBody>
      </p:sp>
      <p:sp>
        <p:nvSpPr>
          <p:cNvPr id="18" name="Text 16"/>
          <p:cNvSpPr txBox="1"/>
          <p:nvPr/>
        </p:nvSpPr>
        <p:spPr>
          <a:xfrm>
            <a:off x="1499616" y="5047488"/>
            <a:ext cx="9784080" cy="493776"/>
          </a:xfrm>
          <a:prstGeom prst="rect">
            <a:avLst/>
          </a:prstGeom>
          <a:noFill/>
          <a:ln/>
        </p:spPr>
        <p:txBody>
          <a:bodyPr wrap="square" lIns="0" tIns="0" rIns="0" bIns="0" rtlCol="0" anchor="ctr"/>
          <a:lstStyle/>
          <a:p>
            <a:pPr indent="0" marL="0">
              <a:buNone/>
            </a:pPr>
            <a:r>
              <a:rPr lang="en-US" sz="1300" dirty="0">
                <a:solidFill>
                  <a:srgbClr val="9B95A2"/>
                </a:solidFill>
                <a:latin typeface="Calibri" pitchFamily="34" charset="0"/>
                <a:ea typeface="Calibri" pitchFamily="34" charset="-122"/>
                <a:cs typeface="Calibri" pitchFamily="34" charset="-120"/>
              </a:rPr>
              <a:t>Equipment and currency survive between runs, stored encrypted on the player's own machine.</a:t>
            </a:r>
            <a:endParaRPr lang="en-US" sz="1300" dirty="0"/>
          </a:p>
        </p:txBody>
      </p:sp>
      <p:sp>
        <p:nvSpPr>
          <p:cNvPr id="19" name="Text 17"/>
          <p:cNvSpPr txBox="1"/>
          <p:nvPr/>
        </p:nvSpPr>
        <p:spPr>
          <a:xfrm>
            <a:off x="566928" y="5907024"/>
            <a:ext cx="11057839" cy="310896"/>
          </a:xfrm>
          <a:prstGeom prst="rect">
            <a:avLst/>
          </a:prstGeom>
          <a:noFill/>
          <a:ln/>
        </p:spPr>
        <p:txBody>
          <a:bodyPr wrap="square" lIns="0" tIns="0" rIns="0" bIns="0" rtlCol="0" anchor="ctr"/>
          <a:lstStyle/>
          <a:p>
            <a:pPr indent="0" marL="0">
              <a:buNone/>
            </a:pPr>
            <a:r>
              <a:rPr lang="en-US" sz="1200" i="1" dirty="0">
                <a:solidFill>
                  <a:srgbClr val="6E6876"/>
                </a:solidFill>
                <a:latin typeface="Calibri" pitchFamily="34" charset="0"/>
                <a:ea typeface="Calibri" pitchFamily="34" charset="-122"/>
                <a:cs typeface="Calibri" pitchFamily="34" charset="-120"/>
              </a:rPr>
              <a:t>Out of scope for the demo by decision: multiple maps. One map ships now; the map pipeline is thesis work.</a:t>
            </a:r>
            <a:endParaRPr lang="en-US" sz="1200" dirty="0"/>
          </a:p>
        </p:txBody>
      </p:sp>
      <p:sp>
        <p:nvSpPr>
          <p:cNvPr id="20" name="Text 18"/>
          <p:cNvSpPr txBox="1"/>
          <p:nvPr/>
        </p:nvSpPr>
        <p:spPr>
          <a:xfrm>
            <a:off x="566928" y="6382512"/>
            <a:ext cx="6095848" cy="274320"/>
          </a:xfrm>
          <a:prstGeom prst="rect">
            <a:avLst/>
          </a:prstGeom>
          <a:noFill/>
          <a:ln/>
        </p:spPr>
        <p:txBody>
          <a:bodyPr wrap="square" lIns="0" tIns="0" rIns="0" bIns="0" rtlCol="0" anchor="ctr"/>
          <a:lstStyle/>
          <a:p>
            <a:pPr indent="0" marL="0">
              <a:buNone/>
            </a:pPr>
            <a:r>
              <a:rPr lang="en-US" sz="950" dirty="0">
                <a:solidFill>
                  <a:srgbClr val="6E6876"/>
                </a:solidFill>
                <a:latin typeface="Calibri" pitchFamily="34" charset="0"/>
                <a:ea typeface="Calibri" pitchFamily="34" charset="-122"/>
                <a:cs typeface="Calibri" pitchFamily="34" charset="-120"/>
              </a:rPr>
              <a:t>Pre-Thesis Demo  |  Programming Status Report</a:t>
            </a:r>
            <a:endParaRPr lang="en-US" sz="950" dirty="0"/>
          </a:p>
        </p:txBody>
      </p:sp>
      <p:sp>
        <p:nvSpPr>
          <p:cNvPr id="21" name="Text 19"/>
          <p:cNvSpPr txBox="1"/>
          <p:nvPr/>
        </p:nvSpPr>
        <p:spPr>
          <a:xfrm>
            <a:off x="6095848" y="6382512"/>
            <a:ext cx="5528920" cy="274320"/>
          </a:xfrm>
          <a:prstGeom prst="rect">
            <a:avLst/>
          </a:prstGeom>
          <a:noFill/>
          <a:ln/>
        </p:spPr>
        <p:txBody>
          <a:bodyPr wrap="square" lIns="0" tIns="0" rIns="0" bIns="0" rtlCol="0" anchor="ctr"/>
          <a:lstStyle/>
          <a:p>
            <a:pPr algn="r" indent="0" marL="0">
              <a:buNone/>
            </a:pPr>
            <a:r>
              <a:rPr lang="en-US" sz="950" dirty="0">
                <a:solidFill>
                  <a:srgbClr val="C1272D"/>
                </a:solidFill>
                <a:latin typeface="Calibri" pitchFamily="34" charset="0"/>
                <a:ea typeface="Calibri" pitchFamily="34" charset="-122"/>
                <a:cs typeface="Calibri" pitchFamily="34" charset="-120"/>
              </a:rPr>
              <a:t>01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1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C1272D"/>
                </a:solidFill>
                <a:latin typeface="Calibri" pitchFamily="34" charset="0"/>
                <a:ea typeface="Calibri" pitchFamily="34" charset="-122"/>
                <a:cs typeface="Calibri" pitchFamily="34" charset="-120"/>
              </a:rPr>
              <a:t>PROGRAMMING TEAM</a:t>
            </a:r>
            <a:endParaRPr lang="en-US" sz="115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F0EBE4"/>
                </a:solidFill>
                <a:latin typeface="Cambria" pitchFamily="34" charset="0"/>
                <a:ea typeface="Cambria" pitchFamily="34" charset="-122"/>
                <a:cs typeface="Cambria" pitchFamily="34" charset="-120"/>
              </a:rPr>
              <a:t>Who writes what</a:t>
            </a:r>
            <a:endParaRPr lang="en-US" sz="3200" dirty="0"/>
          </a:p>
        </p:txBody>
      </p:sp>
      <p:sp>
        <p:nvSpPr>
          <p:cNvPr id="4" name="Shape 2"/>
          <p:cNvSpPr/>
          <p:nvPr/>
        </p:nvSpPr>
        <p:spPr>
          <a:xfrm>
            <a:off x="566928" y="1627632"/>
            <a:ext cx="5349240" cy="3456432"/>
          </a:xfrm>
          <a:prstGeom prst="roundRect">
            <a:avLst>
              <a:gd name="adj" fmla="val 1587"/>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5" name="Shape 3"/>
          <p:cNvSpPr/>
          <p:nvPr/>
        </p:nvSpPr>
        <p:spPr>
          <a:xfrm>
            <a:off x="877824" y="1883664"/>
            <a:ext cx="402336" cy="402336"/>
          </a:xfrm>
          <a:prstGeom prst="ellipse">
            <a:avLst/>
          </a:prstGeom>
          <a:solidFill>
            <a:srgbClr val="C1272D"/>
          </a:solidFill>
          <a:ln w="12700">
            <a:solidFill>
              <a:srgbClr val="C1272D"/>
            </a:solidFill>
            <a:prstDash val="solid"/>
          </a:ln>
        </p:spPr>
      </p:sp>
      <p:sp>
        <p:nvSpPr>
          <p:cNvPr id="6" name="Text 4"/>
          <p:cNvSpPr txBox="1"/>
          <p:nvPr/>
        </p:nvSpPr>
        <p:spPr>
          <a:xfrm>
            <a:off x="877824" y="18836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08176" y="1828800"/>
            <a:ext cx="4251960" cy="347472"/>
          </a:xfrm>
          <a:prstGeom prst="rect">
            <a:avLst/>
          </a:prstGeom>
          <a:noFill/>
          <a:ln/>
        </p:spPr>
        <p:txBody>
          <a:bodyPr wrap="square" lIns="0" tIns="0" rIns="0" bIns="0" rtlCol="0" anchor="ctr"/>
          <a:lstStyle/>
          <a:p>
            <a:pPr indent="0" marL="0">
              <a:buNone/>
            </a:pPr>
            <a:r>
              <a:rPr lang="en-US" sz="1900" b="1" dirty="0">
                <a:solidFill>
                  <a:srgbClr val="F0EBE4"/>
                </a:solidFill>
                <a:latin typeface="Cambria" pitchFamily="34" charset="0"/>
                <a:ea typeface="Cambria" pitchFamily="34" charset="-122"/>
                <a:cs typeface="Cambria" pitchFamily="34" charset="-120"/>
              </a:rPr>
              <a:t>Mr. Kongkidakorn Chuayjang</a:t>
            </a:r>
            <a:endParaRPr lang="en-US" sz="1900" dirty="0"/>
          </a:p>
        </p:txBody>
      </p:sp>
      <p:sp>
        <p:nvSpPr>
          <p:cNvPr id="8" name="Text 6"/>
          <p:cNvSpPr txBox="1"/>
          <p:nvPr/>
        </p:nvSpPr>
        <p:spPr>
          <a:xfrm>
            <a:off x="1408176" y="2194560"/>
            <a:ext cx="4251960" cy="256032"/>
          </a:xfrm>
          <a:prstGeom prst="rect">
            <a:avLst/>
          </a:prstGeom>
          <a:noFill/>
          <a:ln/>
        </p:spPr>
        <p:txBody>
          <a:bodyPr wrap="square" lIns="0" tIns="0" rIns="0" bIns="0" rtlCol="0" anchor="ctr"/>
          <a:lstStyle/>
          <a:p>
            <a:pPr indent="0" marL="0">
              <a:buNone/>
            </a:pPr>
            <a:r>
              <a:rPr lang="en-US" sz="1150" b="1" spc="80" kern="0" dirty="0">
                <a:solidFill>
                  <a:srgbClr val="C1272D"/>
                </a:solidFill>
                <a:latin typeface="Calibri" pitchFamily="34" charset="0"/>
                <a:ea typeface="Calibri" pitchFamily="34" charset="-122"/>
                <a:cs typeface="Calibri" pitchFamily="34" charset="-120"/>
              </a:rPr>
              <a:t>Head Programmer</a:t>
            </a:r>
            <a:endParaRPr lang="en-US" sz="1150" dirty="0"/>
          </a:p>
        </p:txBody>
      </p:sp>
      <p:sp>
        <p:nvSpPr>
          <p:cNvPr id="9" name="Text 7"/>
          <p:cNvSpPr txBox="1"/>
          <p:nvPr/>
        </p:nvSpPr>
        <p:spPr>
          <a:xfrm>
            <a:off x="896112" y="2633472"/>
            <a:ext cx="4690872" cy="228600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Networking architecture (Mirror + EOS)</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Room creation, matchmaking, room browser</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Encrypted save / progression system</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Offline ↔ online dual-mode infrastructure</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Integration: making feature code network-safe</a:t>
            </a:r>
            <a:endParaRPr lang="en-US" sz="1300" dirty="0"/>
          </a:p>
        </p:txBody>
      </p:sp>
      <p:sp>
        <p:nvSpPr>
          <p:cNvPr id="10" name="Shape 8"/>
          <p:cNvSpPr/>
          <p:nvPr/>
        </p:nvSpPr>
        <p:spPr>
          <a:xfrm>
            <a:off x="6272784" y="1627632"/>
            <a:ext cx="5349240" cy="3456432"/>
          </a:xfrm>
          <a:prstGeom prst="roundRect">
            <a:avLst>
              <a:gd name="adj" fmla="val 1587"/>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1" name="Shape 9"/>
          <p:cNvSpPr/>
          <p:nvPr/>
        </p:nvSpPr>
        <p:spPr>
          <a:xfrm>
            <a:off x="6583680" y="1883664"/>
            <a:ext cx="402336" cy="402336"/>
          </a:xfrm>
          <a:prstGeom prst="ellipse">
            <a:avLst/>
          </a:prstGeom>
          <a:solidFill>
            <a:srgbClr val="5487B0"/>
          </a:solidFill>
          <a:ln w="12700">
            <a:solidFill>
              <a:srgbClr val="5487B0"/>
            </a:solidFill>
            <a:prstDash val="solid"/>
          </a:ln>
        </p:spPr>
      </p:sp>
      <p:sp>
        <p:nvSpPr>
          <p:cNvPr id="12" name="Text 10"/>
          <p:cNvSpPr txBox="1"/>
          <p:nvPr/>
        </p:nvSpPr>
        <p:spPr>
          <a:xfrm>
            <a:off x="6583680" y="18836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7114032" y="1828800"/>
            <a:ext cx="4251960" cy="347472"/>
          </a:xfrm>
          <a:prstGeom prst="rect">
            <a:avLst/>
          </a:prstGeom>
          <a:noFill/>
          <a:ln/>
        </p:spPr>
        <p:txBody>
          <a:bodyPr wrap="square" lIns="0" tIns="0" rIns="0" bIns="0" rtlCol="0" anchor="ctr"/>
          <a:lstStyle/>
          <a:p>
            <a:pPr indent="0" marL="0">
              <a:buNone/>
            </a:pPr>
            <a:r>
              <a:rPr lang="en-US" sz="1900" b="1" dirty="0">
                <a:solidFill>
                  <a:srgbClr val="F0EBE4"/>
                </a:solidFill>
                <a:latin typeface="Cambria" pitchFamily="34" charset="0"/>
                <a:ea typeface="Cambria" pitchFamily="34" charset="-122"/>
                <a:cs typeface="Cambria" pitchFamily="34" charset="-120"/>
              </a:rPr>
              <a:t>Mr. Atiroj Kemwanicha</a:t>
            </a:r>
            <a:endParaRPr lang="en-US" sz="1900" dirty="0"/>
          </a:p>
        </p:txBody>
      </p:sp>
      <p:sp>
        <p:nvSpPr>
          <p:cNvPr id="14" name="Text 12"/>
          <p:cNvSpPr txBox="1"/>
          <p:nvPr/>
        </p:nvSpPr>
        <p:spPr>
          <a:xfrm>
            <a:off x="7114032" y="2194560"/>
            <a:ext cx="4251960" cy="256032"/>
          </a:xfrm>
          <a:prstGeom prst="rect">
            <a:avLst/>
          </a:prstGeom>
          <a:noFill/>
          <a:ln/>
        </p:spPr>
        <p:txBody>
          <a:bodyPr wrap="square" lIns="0" tIns="0" rIns="0" bIns="0" rtlCol="0" anchor="ctr"/>
          <a:lstStyle/>
          <a:p>
            <a:pPr indent="0" marL="0">
              <a:buNone/>
            </a:pPr>
            <a:r>
              <a:rPr lang="en-US" sz="1150" b="1" spc="80" kern="0" dirty="0">
                <a:solidFill>
                  <a:srgbClr val="5487B0"/>
                </a:solidFill>
                <a:latin typeface="Calibri" pitchFamily="34" charset="0"/>
                <a:ea typeface="Calibri" pitchFamily="34" charset="-122"/>
                <a:cs typeface="Calibri" pitchFamily="34" charset="-120"/>
              </a:rPr>
              <a:t>Sub Programmer  ·  Gameplay</a:t>
            </a:r>
            <a:endParaRPr lang="en-US" sz="1150" dirty="0"/>
          </a:p>
        </p:txBody>
      </p:sp>
      <p:sp>
        <p:nvSpPr>
          <p:cNvPr id="15" name="Text 13"/>
          <p:cNvSpPr txBox="1"/>
          <p:nvPr/>
        </p:nvSpPr>
        <p:spPr>
          <a:xfrm>
            <a:off x="6601968" y="2633472"/>
            <a:ext cx="4690872" cy="228600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Player movement and first-person camera</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Interaction system (doors, levers, props)</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Health and damage model</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Downed / revive system</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Gameplay-facing UI behaviour</a:t>
            </a:r>
            <a:endParaRPr lang="en-US" sz="1300" dirty="0"/>
          </a:p>
        </p:txBody>
      </p:sp>
      <p:sp>
        <p:nvSpPr>
          <p:cNvPr id="16" name="Shape 14"/>
          <p:cNvSpPr/>
          <p:nvPr/>
        </p:nvSpPr>
        <p:spPr>
          <a:xfrm>
            <a:off x="566928" y="5340096"/>
            <a:ext cx="11057839" cy="768096"/>
          </a:xfrm>
          <a:prstGeom prst="roundRect">
            <a:avLst>
              <a:gd name="adj" fmla="val 7143"/>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7" name="Text 15"/>
          <p:cNvSpPr txBox="1"/>
          <p:nvPr/>
        </p:nvSpPr>
        <p:spPr>
          <a:xfrm>
            <a:off x="896112" y="5522976"/>
            <a:ext cx="1920240" cy="292608"/>
          </a:xfrm>
          <a:prstGeom prst="rect">
            <a:avLst/>
          </a:prstGeom>
          <a:noFill/>
          <a:ln/>
        </p:spPr>
        <p:txBody>
          <a:bodyPr wrap="square" lIns="0" tIns="0" rIns="0" bIns="0" rtlCol="0" anchor="ctr"/>
          <a:lstStyle/>
          <a:p>
            <a:pPr indent="0" marL="0">
              <a:buNone/>
            </a:pPr>
            <a:r>
              <a:rPr lang="en-US" sz="1300" b="1" dirty="0">
                <a:solidFill>
                  <a:srgbClr val="C1272D"/>
                </a:solidFill>
                <a:latin typeface="Calibri" pitchFamily="34" charset="0"/>
                <a:ea typeface="Calibri" pitchFamily="34" charset="-122"/>
                <a:cs typeface="Calibri" pitchFamily="34" charset="-120"/>
              </a:rPr>
              <a:t>Where the two meet:  </a:t>
            </a:r>
            <a:endParaRPr lang="en-US" sz="1300" dirty="0"/>
          </a:p>
        </p:txBody>
      </p:sp>
      <p:sp>
        <p:nvSpPr>
          <p:cNvPr id="18" name="Text 16"/>
          <p:cNvSpPr txBox="1"/>
          <p:nvPr/>
        </p:nvSpPr>
        <p:spPr>
          <a:xfrm>
            <a:off x="2852928" y="5522976"/>
            <a:ext cx="8503920" cy="475488"/>
          </a:xfrm>
          <a:prstGeom prst="rect">
            <a:avLst/>
          </a:prstGeom>
          <a:noFill/>
          <a:ln/>
        </p:spPr>
        <p:txBody>
          <a:bodyPr wrap="square" lIns="0" tIns="0" rIns="0" bIns="0" rtlCol="0" anchor="ctr"/>
          <a:lstStyle/>
          <a:p>
            <a:pPr indent="0" marL="0">
              <a:buNone/>
            </a:pPr>
            <a:r>
              <a:rPr lang="en-US" sz="1300" dirty="0">
                <a:solidFill>
                  <a:srgbClr val="9B95A2"/>
                </a:solidFill>
                <a:latin typeface="Calibri" pitchFamily="34" charset="0"/>
                <a:ea typeface="Calibri" pitchFamily="34" charset="-122"/>
                <a:cs typeface="Calibri" pitchFamily="34" charset="-120"/>
              </a:rPr>
              <a:t>gameplay features are written single-player first, then rewritten by the head programmer to run under server authority. A scheduled step, not a repair.</a:t>
            </a:r>
            <a:endParaRPr lang="en-US" sz="1300" dirty="0"/>
          </a:p>
        </p:txBody>
      </p:sp>
      <p:sp>
        <p:nvSpPr>
          <p:cNvPr id="19" name="Text 17"/>
          <p:cNvSpPr txBox="1"/>
          <p:nvPr/>
        </p:nvSpPr>
        <p:spPr>
          <a:xfrm>
            <a:off x="566928" y="6382512"/>
            <a:ext cx="6095848" cy="274320"/>
          </a:xfrm>
          <a:prstGeom prst="rect">
            <a:avLst/>
          </a:prstGeom>
          <a:noFill/>
          <a:ln/>
        </p:spPr>
        <p:txBody>
          <a:bodyPr wrap="square" lIns="0" tIns="0" rIns="0" bIns="0" rtlCol="0" anchor="ctr"/>
          <a:lstStyle/>
          <a:p>
            <a:pPr indent="0" marL="0">
              <a:buNone/>
            </a:pPr>
            <a:r>
              <a:rPr lang="en-US" sz="950" dirty="0">
                <a:solidFill>
                  <a:srgbClr val="6E6876"/>
                </a:solidFill>
                <a:latin typeface="Calibri" pitchFamily="34" charset="0"/>
                <a:ea typeface="Calibri" pitchFamily="34" charset="-122"/>
                <a:cs typeface="Calibri" pitchFamily="34" charset="-120"/>
              </a:rPr>
              <a:t>Pre-Thesis Demo  |  Programming Status Report</a:t>
            </a:r>
            <a:endParaRPr lang="en-US" sz="950" dirty="0"/>
          </a:p>
        </p:txBody>
      </p:sp>
      <p:sp>
        <p:nvSpPr>
          <p:cNvPr id="20" name="Text 18"/>
          <p:cNvSpPr txBox="1"/>
          <p:nvPr/>
        </p:nvSpPr>
        <p:spPr>
          <a:xfrm>
            <a:off x="6095848" y="6382512"/>
            <a:ext cx="5528920" cy="274320"/>
          </a:xfrm>
          <a:prstGeom prst="rect">
            <a:avLst/>
          </a:prstGeom>
          <a:noFill/>
          <a:ln/>
        </p:spPr>
        <p:txBody>
          <a:bodyPr wrap="square" lIns="0" tIns="0" rIns="0" bIns="0" rtlCol="0" anchor="ctr"/>
          <a:lstStyle/>
          <a:p>
            <a:pPr algn="r" indent="0" marL="0">
              <a:buNone/>
            </a:pPr>
            <a:r>
              <a:rPr lang="en-US" sz="950" dirty="0">
                <a:solidFill>
                  <a:srgbClr val="C1272D"/>
                </a:solidFill>
                <a:latin typeface="Calibri" pitchFamily="34" charset="0"/>
                <a:ea typeface="Calibri" pitchFamily="34" charset="-122"/>
                <a:cs typeface="Calibri" pitchFamily="34" charset="-120"/>
              </a:rPr>
              <a:t>02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21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C1272D"/>
                </a:solidFill>
                <a:latin typeface="Calibri" pitchFamily="34" charset="0"/>
                <a:ea typeface="Calibri" pitchFamily="34" charset="-122"/>
                <a:cs typeface="Calibri" pitchFamily="34" charset="-120"/>
              </a:rPr>
              <a:t>HEADLINE</a:t>
            </a:r>
            <a:endParaRPr lang="en-US" sz="115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F0EBE4"/>
                </a:solidFill>
                <a:latin typeface="Cambria" pitchFamily="34" charset="0"/>
                <a:ea typeface="Cambria" pitchFamily="34" charset="-122"/>
                <a:cs typeface="Cambria" pitchFamily="34" charset="-120"/>
              </a:rPr>
              <a:t>This week the game went online</a:t>
            </a:r>
            <a:endParaRPr lang="en-US" sz="3200" dirty="0"/>
          </a:p>
        </p:txBody>
      </p:sp>
      <p:sp>
        <p:nvSpPr>
          <p:cNvPr id="4" name="Shape 2"/>
          <p:cNvSpPr/>
          <p:nvPr/>
        </p:nvSpPr>
        <p:spPr>
          <a:xfrm>
            <a:off x="566928" y="1682496"/>
            <a:ext cx="3529584" cy="2066544"/>
          </a:xfrm>
          <a:prstGeom prst="roundRect">
            <a:avLst>
              <a:gd name="adj" fmla="val 2655"/>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5" name="Text 3"/>
          <p:cNvSpPr txBox="1"/>
          <p:nvPr/>
        </p:nvSpPr>
        <p:spPr>
          <a:xfrm>
            <a:off x="841248" y="1865376"/>
            <a:ext cx="457200" cy="457200"/>
          </a:xfrm>
          <a:prstGeom prst="rect">
            <a:avLst/>
          </a:prstGeom>
          <a:noFill/>
          <a:ln/>
        </p:spPr>
        <p:txBody>
          <a:bodyPr wrap="square" lIns="0" tIns="0" rIns="0" bIns="0" rtlCol="0" anchor="ctr"/>
          <a:lstStyle/>
          <a:p>
            <a:pPr indent="0" marL="0">
              <a:buNone/>
            </a:pPr>
            <a:r>
              <a:rPr lang="en-US" sz="2600" b="1" dirty="0">
                <a:solidFill>
                  <a:srgbClr val="5E9E6E"/>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841248" y="2359152"/>
            <a:ext cx="3017520" cy="347472"/>
          </a:xfrm>
          <a:prstGeom prst="rect">
            <a:avLst/>
          </a:prstGeom>
          <a:noFill/>
          <a:ln/>
        </p:spPr>
        <p:txBody>
          <a:bodyPr wrap="square" lIns="0" tIns="0" rIns="0" bIns="0" rtlCol="0" anchor="ctr"/>
          <a:lstStyle/>
          <a:p>
            <a:pPr indent="0" marL="0">
              <a:buNone/>
            </a:pPr>
            <a:r>
              <a:rPr lang="en-US" sz="2100" b="1" dirty="0">
                <a:solidFill>
                  <a:srgbClr val="F0EBE4"/>
                </a:solidFill>
                <a:latin typeface="Cambria" pitchFamily="34" charset="0"/>
                <a:ea typeface="Cambria" pitchFamily="34" charset="-122"/>
                <a:cs typeface="Cambria" pitchFamily="34" charset="-120"/>
              </a:rPr>
              <a:t>Rooms</a:t>
            </a:r>
            <a:endParaRPr lang="en-US" sz="2100" dirty="0"/>
          </a:p>
        </p:txBody>
      </p:sp>
      <p:sp>
        <p:nvSpPr>
          <p:cNvPr id="7" name="Text 5"/>
          <p:cNvSpPr txBox="1"/>
          <p:nvPr/>
        </p:nvSpPr>
        <p:spPr>
          <a:xfrm>
            <a:off x="841248" y="2761488"/>
            <a:ext cx="3017520" cy="877824"/>
          </a:xfrm>
          <a:prstGeom prst="rect">
            <a:avLst/>
          </a:prstGeom>
          <a:noFill/>
          <a:ln/>
        </p:spPr>
        <p:txBody>
          <a:bodyPr wrap="square" lIns="0" tIns="0" rIns="0" bIns="0" rtlCol="0" anchor="ctr"/>
          <a:lstStyle/>
          <a:p>
            <a:pPr indent="0" marL="0">
              <a:buNone/>
            </a:pPr>
            <a:r>
              <a:rPr lang="en-US" sz="1250" dirty="0">
                <a:solidFill>
                  <a:srgbClr val="9B95A2"/>
                </a:solidFill>
                <a:latin typeface="Calibri" pitchFamily="34" charset="0"/>
                <a:ea typeface="Calibri" pitchFamily="34" charset="-122"/>
                <a:cs typeface="Calibri" pitchFamily="34" charset="-120"/>
              </a:rPr>
              <a:t>A host creates a room on EOS; another machine finds and joins it.</a:t>
            </a:r>
            <a:endParaRPr lang="en-US" sz="1250" dirty="0"/>
          </a:p>
        </p:txBody>
      </p:sp>
      <p:sp>
        <p:nvSpPr>
          <p:cNvPr id="8" name="Shape 6"/>
          <p:cNvSpPr/>
          <p:nvPr/>
        </p:nvSpPr>
        <p:spPr>
          <a:xfrm>
            <a:off x="4361688" y="1682496"/>
            <a:ext cx="3529584" cy="2066544"/>
          </a:xfrm>
          <a:prstGeom prst="roundRect">
            <a:avLst>
              <a:gd name="adj" fmla="val 2655"/>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9" name="Text 7"/>
          <p:cNvSpPr txBox="1"/>
          <p:nvPr/>
        </p:nvSpPr>
        <p:spPr>
          <a:xfrm>
            <a:off x="4636008" y="1865376"/>
            <a:ext cx="457200" cy="457200"/>
          </a:xfrm>
          <a:prstGeom prst="rect">
            <a:avLst/>
          </a:prstGeom>
          <a:noFill/>
          <a:ln/>
        </p:spPr>
        <p:txBody>
          <a:bodyPr wrap="square" lIns="0" tIns="0" rIns="0" bIns="0" rtlCol="0" anchor="ctr"/>
          <a:lstStyle/>
          <a:p>
            <a:pPr indent="0" marL="0">
              <a:buNone/>
            </a:pPr>
            <a:r>
              <a:rPr lang="en-US" sz="2600" b="1" dirty="0">
                <a:solidFill>
                  <a:srgbClr val="5E9E6E"/>
                </a:solidFill>
                <a:latin typeface="Calibri" pitchFamily="34" charset="0"/>
                <a:ea typeface="Calibri" pitchFamily="34" charset="-122"/>
                <a:cs typeface="Calibri" pitchFamily="34" charset="-120"/>
              </a:rPr>
              <a:t>✓</a:t>
            </a:r>
            <a:endParaRPr lang="en-US" sz="2600" dirty="0"/>
          </a:p>
        </p:txBody>
      </p:sp>
      <p:sp>
        <p:nvSpPr>
          <p:cNvPr id="10" name="Text 8"/>
          <p:cNvSpPr txBox="1"/>
          <p:nvPr/>
        </p:nvSpPr>
        <p:spPr>
          <a:xfrm>
            <a:off x="4636008" y="2359152"/>
            <a:ext cx="3017520" cy="347472"/>
          </a:xfrm>
          <a:prstGeom prst="rect">
            <a:avLst/>
          </a:prstGeom>
          <a:noFill/>
          <a:ln/>
        </p:spPr>
        <p:txBody>
          <a:bodyPr wrap="square" lIns="0" tIns="0" rIns="0" bIns="0" rtlCol="0" anchor="ctr"/>
          <a:lstStyle/>
          <a:p>
            <a:pPr indent="0" marL="0">
              <a:buNone/>
            </a:pPr>
            <a:r>
              <a:rPr lang="en-US" sz="2100" b="1" dirty="0">
                <a:solidFill>
                  <a:srgbClr val="F0EBE4"/>
                </a:solidFill>
                <a:latin typeface="Cambria" pitchFamily="34" charset="0"/>
                <a:ea typeface="Cambria" pitchFamily="34" charset="-122"/>
                <a:cs typeface="Cambria" pitchFamily="34" charset="-120"/>
              </a:rPr>
              <a:t>Presence</a:t>
            </a:r>
            <a:endParaRPr lang="en-US" sz="2100" dirty="0"/>
          </a:p>
        </p:txBody>
      </p:sp>
      <p:sp>
        <p:nvSpPr>
          <p:cNvPr id="11" name="Text 9"/>
          <p:cNvSpPr txBox="1"/>
          <p:nvPr/>
        </p:nvSpPr>
        <p:spPr>
          <a:xfrm>
            <a:off x="4636008" y="2761488"/>
            <a:ext cx="3017520" cy="877824"/>
          </a:xfrm>
          <a:prstGeom prst="rect">
            <a:avLst/>
          </a:prstGeom>
          <a:noFill/>
          <a:ln/>
        </p:spPr>
        <p:txBody>
          <a:bodyPr wrap="square" lIns="0" tIns="0" rIns="0" bIns="0" rtlCol="0" anchor="ctr"/>
          <a:lstStyle/>
          <a:p>
            <a:pPr indent="0" marL="0">
              <a:buNone/>
            </a:pPr>
            <a:r>
              <a:rPr lang="en-US" sz="1250" dirty="0">
                <a:solidFill>
                  <a:srgbClr val="9B95A2"/>
                </a:solidFill>
                <a:latin typeface="Calibri" pitchFamily="34" charset="0"/>
                <a:ea typeface="Calibri" pitchFamily="34" charset="-122"/>
                <a:cs typeface="Calibri" pitchFamily="34" charset="-120"/>
              </a:rPr>
              <a:t>Two machines share one world — both players spawn on both clients.</a:t>
            </a:r>
            <a:endParaRPr lang="en-US" sz="1250" dirty="0"/>
          </a:p>
        </p:txBody>
      </p:sp>
      <p:sp>
        <p:nvSpPr>
          <p:cNvPr id="12" name="Shape 10"/>
          <p:cNvSpPr/>
          <p:nvPr/>
        </p:nvSpPr>
        <p:spPr>
          <a:xfrm>
            <a:off x="8156448" y="1682496"/>
            <a:ext cx="3529584" cy="2066544"/>
          </a:xfrm>
          <a:prstGeom prst="roundRect">
            <a:avLst>
              <a:gd name="adj" fmla="val 2655"/>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3" name="Text 11"/>
          <p:cNvSpPr txBox="1"/>
          <p:nvPr/>
        </p:nvSpPr>
        <p:spPr>
          <a:xfrm>
            <a:off x="8430768" y="1865376"/>
            <a:ext cx="457200" cy="457200"/>
          </a:xfrm>
          <a:prstGeom prst="rect">
            <a:avLst/>
          </a:prstGeom>
          <a:noFill/>
          <a:ln/>
        </p:spPr>
        <p:txBody>
          <a:bodyPr wrap="square" lIns="0" tIns="0" rIns="0" bIns="0" rtlCol="0" anchor="ctr"/>
          <a:lstStyle/>
          <a:p>
            <a:pPr indent="0" marL="0">
              <a:buNone/>
            </a:pPr>
            <a:r>
              <a:rPr lang="en-US" sz="2600" b="1" dirty="0">
                <a:solidFill>
                  <a:srgbClr val="5E9E6E"/>
                </a:solidFill>
                <a:latin typeface="Calibri" pitchFamily="34" charset="0"/>
                <a:ea typeface="Calibri" pitchFamily="34" charset="-122"/>
                <a:cs typeface="Calibri" pitchFamily="34" charset="-120"/>
              </a:rPr>
              <a:t>✓</a:t>
            </a:r>
            <a:endParaRPr lang="en-US" sz="2600" dirty="0"/>
          </a:p>
        </p:txBody>
      </p:sp>
      <p:sp>
        <p:nvSpPr>
          <p:cNvPr id="14" name="Text 12"/>
          <p:cNvSpPr txBox="1"/>
          <p:nvPr/>
        </p:nvSpPr>
        <p:spPr>
          <a:xfrm>
            <a:off x="8430768" y="2359152"/>
            <a:ext cx="3017520" cy="347472"/>
          </a:xfrm>
          <a:prstGeom prst="rect">
            <a:avLst/>
          </a:prstGeom>
          <a:noFill/>
          <a:ln/>
        </p:spPr>
        <p:txBody>
          <a:bodyPr wrap="square" lIns="0" tIns="0" rIns="0" bIns="0" rtlCol="0" anchor="ctr"/>
          <a:lstStyle/>
          <a:p>
            <a:pPr indent="0" marL="0">
              <a:buNone/>
            </a:pPr>
            <a:r>
              <a:rPr lang="en-US" sz="2100" b="1" dirty="0">
                <a:solidFill>
                  <a:srgbClr val="F0EBE4"/>
                </a:solidFill>
                <a:latin typeface="Cambria" pitchFamily="34" charset="0"/>
                <a:ea typeface="Cambria" pitchFamily="34" charset="-122"/>
                <a:cs typeface="Cambria" pitchFamily="34" charset="-120"/>
              </a:rPr>
              <a:t>Sandbox</a:t>
            </a:r>
            <a:endParaRPr lang="en-US" sz="2100" dirty="0"/>
          </a:p>
        </p:txBody>
      </p:sp>
      <p:sp>
        <p:nvSpPr>
          <p:cNvPr id="15" name="Text 13"/>
          <p:cNvSpPr txBox="1"/>
          <p:nvPr/>
        </p:nvSpPr>
        <p:spPr>
          <a:xfrm>
            <a:off x="8430768" y="2761488"/>
            <a:ext cx="3017520" cy="877824"/>
          </a:xfrm>
          <a:prstGeom prst="rect">
            <a:avLst/>
          </a:prstGeom>
          <a:noFill/>
          <a:ln/>
        </p:spPr>
        <p:txBody>
          <a:bodyPr wrap="square" lIns="0" tIns="0" rIns="0" bIns="0" rtlCol="0" anchor="ctr"/>
          <a:lstStyle/>
          <a:p>
            <a:pPr indent="0" marL="0">
              <a:buNone/>
            </a:pPr>
            <a:r>
              <a:rPr lang="en-US" sz="1250" dirty="0">
                <a:solidFill>
                  <a:srgbClr val="9B95A2"/>
                </a:solidFill>
                <a:latin typeface="Calibri" pitchFamily="34" charset="0"/>
                <a:ea typeface="Calibri" pitchFamily="34" charset="-122"/>
                <a:cs typeface="Calibri" pitchFamily="34" charset="-120"/>
              </a:rPr>
              <a:t>Solo test scenes work again with no server, so feature work is unblocked.</a:t>
            </a:r>
            <a:endParaRPr lang="en-US" sz="1250" dirty="0"/>
          </a:p>
        </p:txBody>
      </p:sp>
      <p:sp>
        <p:nvSpPr>
          <p:cNvPr id="16" name="Shape 14"/>
          <p:cNvSpPr/>
          <p:nvPr/>
        </p:nvSpPr>
        <p:spPr>
          <a:xfrm>
            <a:off x="566928" y="4059936"/>
            <a:ext cx="11057839" cy="1481328"/>
          </a:xfrm>
          <a:prstGeom prst="roundRect">
            <a:avLst>
              <a:gd name="adj" fmla="val 3704"/>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7" name="Text 15"/>
          <p:cNvSpPr txBox="1"/>
          <p:nvPr/>
        </p:nvSpPr>
        <p:spPr>
          <a:xfrm>
            <a:off x="896112" y="4242816"/>
            <a:ext cx="5486400" cy="310896"/>
          </a:xfrm>
          <a:prstGeom prst="rect">
            <a:avLst/>
          </a:prstGeom>
          <a:noFill/>
          <a:ln/>
        </p:spPr>
        <p:txBody>
          <a:bodyPr wrap="square" lIns="0" tIns="0" rIns="0" bIns="0" rtlCol="0" anchor="ctr"/>
          <a:lstStyle/>
          <a:p>
            <a:pPr indent="0" marL="0">
              <a:buNone/>
            </a:pPr>
            <a:r>
              <a:rPr lang="en-US" sz="1700" b="1" dirty="0">
                <a:solidFill>
                  <a:srgbClr val="F0EBE4"/>
                </a:solidFill>
                <a:latin typeface="Cambria" pitchFamily="34" charset="0"/>
                <a:ea typeface="Cambria" pitchFamily="34" charset="-122"/>
                <a:cs typeface="Cambria" pitchFamily="34" charset="-120"/>
              </a:rPr>
              <a:t>Where that leaves the demo</a:t>
            </a:r>
            <a:endParaRPr lang="en-US" sz="1700" dirty="0"/>
          </a:p>
        </p:txBody>
      </p:sp>
      <p:sp>
        <p:nvSpPr>
          <p:cNvPr id="18" name="Text 16"/>
          <p:cNvSpPr txBox="1"/>
          <p:nvPr/>
        </p:nvSpPr>
        <p:spPr>
          <a:xfrm>
            <a:off x="896112" y="4608576"/>
            <a:ext cx="10698480" cy="786384"/>
          </a:xfrm>
          <a:prstGeom prst="rect">
            <a:avLst/>
          </a:prstGeom>
          <a:noFill/>
          <a:ln/>
        </p:spPr>
        <p:txBody>
          <a:bodyPr wrap="square" lIns="0" tIns="0" rIns="0" bIns="0" rtlCol="0" anchor="ctr"/>
          <a:lstStyle/>
          <a:p>
            <a:pPr indent="0" marL="0">
              <a:buNone/>
            </a:pPr>
            <a:r>
              <a:rPr lang="en-US" sz="1350" dirty="0">
                <a:solidFill>
                  <a:srgbClr val="9B95A2"/>
                </a:solidFill>
                <a:latin typeface="Calibri" pitchFamily="34" charset="0"/>
                <a:ea typeface="Calibri" pitchFamily="34" charset="-122"/>
                <a:cs typeface="Calibri" pitchFamily="34" charset="-120"/>
              </a:rPr>
              <a:t>The networking risk — the part that could have failed late and taken the whole demo with it — is retired. What remains is content and feature work on a connection that has been shown to hold.</a:t>
            </a:r>
            <a:endParaRPr lang="en-US" sz="1350" dirty="0"/>
          </a:p>
        </p:txBody>
      </p:sp>
      <p:sp>
        <p:nvSpPr>
          <p:cNvPr id="19" name="Text 17"/>
          <p:cNvSpPr txBox="1"/>
          <p:nvPr/>
        </p:nvSpPr>
        <p:spPr>
          <a:xfrm>
            <a:off x="566928" y="6382512"/>
            <a:ext cx="6095848" cy="274320"/>
          </a:xfrm>
          <a:prstGeom prst="rect">
            <a:avLst/>
          </a:prstGeom>
          <a:noFill/>
          <a:ln/>
        </p:spPr>
        <p:txBody>
          <a:bodyPr wrap="square" lIns="0" tIns="0" rIns="0" bIns="0" rtlCol="0" anchor="ctr"/>
          <a:lstStyle/>
          <a:p>
            <a:pPr indent="0" marL="0">
              <a:buNone/>
            </a:pPr>
            <a:r>
              <a:rPr lang="en-US" sz="950" dirty="0">
                <a:solidFill>
                  <a:srgbClr val="6E6876"/>
                </a:solidFill>
                <a:latin typeface="Calibri" pitchFamily="34" charset="0"/>
                <a:ea typeface="Calibri" pitchFamily="34" charset="-122"/>
                <a:cs typeface="Calibri" pitchFamily="34" charset="-120"/>
              </a:rPr>
              <a:t>Pre-Thesis Demo  |  Programming Status Report</a:t>
            </a:r>
            <a:endParaRPr lang="en-US" sz="950" dirty="0"/>
          </a:p>
        </p:txBody>
      </p:sp>
      <p:sp>
        <p:nvSpPr>
          <p:cNvPr id="20" name="Text 18"/>
          <p:cNvSpPr txBox="1"/>
          <p:nvPr/>
        </p:nvSpPr>
        <p:spPr>
          <a:xfrm>
            <a:off x="6095848" y="6382512"/>
            <a:ext cx="5528920" cy="274320"/>
          </a:xfrm>
          <a:prstGeom prst="rect">
            <a:avLst/>
          </a:prstGeom>
          <a:noFill/>
          <a:ln/>
        </p:spPr>
        <p:txBody>
          <a:bodyPr wrap="square" lIns="0" tIns="0" rIns="0" bIns="0" rtlCol="0" anchor="ctr"/>
          <a:lstStyle/>
          <a:p>
            <a:pPr algn="r" indent="0" marL="0">
              <a:buNone/>
            </a:pPr>
            <a:r>
              <a:rPr lang="en-US" sz="950" dirty="0">
                <a:solidFill>
                  <a:srgbClr val="C1272D"/>
                </a:solidFill>
                <a:latin typeface="Calibri" pitchFamily="34" charset="0"/>
                <a:ea typeface="Calibri" pitchFamily="34" charset="-122"/>
                <a:cs typeface="Calibri" pitchFamily="34" charset="-120"/>
              </a:rPr>
              <a:t>03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1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C1272D"/>
                </a:solidFill>
                <a:latin typeface="Calibri" pitchFamily="34" charset="0"/>
                <a:ea typeface="Calibri" pitchFamily="34" charset="-122"/>
                <a:cs typeface="Calibri" pitchFamily="34" charset="-120"/>
              </a:rPr>
              <a:t>EVIDENCE  ·  PLAYTEST RECORDING</a:t>
            </a:r>
            <a:endParaRPr lang="en-US" sz="115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F0EBE4"/>
                </a:solidFill>
                <a:latin typeface="Cambria" pitchFamily="34" charset="0"/>
                <a:ea typeface="Cambria" pitchFamily="34" charset="-122"/>
                <a:cs typeface="Cambria" pitchFamily="34" charset="-120"/>
              </a:rPr>
              <a:t>Milestone 1 — rooms on Epic Online Services</a:t>
            </a:r>
            <a:endParaRPr lang="en-US" sz="3200" dirty="0"/>
          </a:p>
        </p:txBody>
      </p:sp>
      <p:sp>
        <p:nvSpPr>
          <p:cNvPr id="4" name="Shape 2"/>
          <p:cNvSpPr/>
          <p:nvPr/>
        </p:nvSpPr>
        <p:spPr>
          <a:xfrm>
            <a:off x="566928" y="1627632"/>
            <a:ext cx="4663440" cy="4023360"/>
          </a:xfrm>
          <a:prstGeom prst="roundRect">
            <a:avLst>
              <a:gd name="adj" fmla="val 1364"/>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pic>
        <p:nvPicPr>
          <p:cNvPr id="5" name="Image 0" descr="/tmp/claude-0/-home-claude/1390a9ce-40b9-5e21-8a81-99b2e23edd0b/scratchpad/img/ev_menu_buttons.png">    </p:cNvPr>
          <p:cNvPicPr>
            <a:picLocks noChangeAspect="1"/>
          </p:cNvPicPr>
          <p:nvPr/>
        </p:nvPicPr>
        <p:blipFill>
          <a:blip r:embed="rId1"/>
          <a:stretch>
            <a:fillRect/>
          </a:stretch>
        </p:blipFill>
        <p:spPr>
          <a:xfrm>
            <a:off x="978408" y="1883664"/>
            <a:ext cx="3840480" cy="2212848"/>
          </a:xfrm>
          <a:prstGeom prst="rect">
            <a:avLst/>
          </a:prstGeom>
        </p:spPr>
      </p:pic>
      <p:sp>
        <p:nvSpPr>
          <p:cNvPr id="6" name="Text 3"/>
          <p:cNvSpPr txBox="1"/>
          <p:nvPr/>
        </p:nvSpPr>
        <p:spPr>
          <a:xfrm>
            <a:off x="950976" y="4169664"/>
            <a:ext cx="3931920" cy="274320"/>
          </a:xfrm>
          <a:prstGeom prst="rect">
            <a:avLst/>
          </a:prstGeom>
          <a:noFill/>
          <a:ln/>
        </p:spPr>
        <p:txBody>
          <a:bodyPr wrap="square" lIns="0" tIns="0" rIns="0" bIns="0" rtlCol="0" anchor="ctr"/>
          <a:lstStyle/>
          <a:p>
            <a:pPr indent="0" marL="0">
              <a:buNone/>
            </a:pPr>
            <a:r>
              <a:rPr lang="en-US" sz="1050" i="1" dirty="0">
                <a:solidFill>
                  <a:srgbClr val="6E6876"/>
                </a:solidFill>
                <a:latin typeface="Calibri" pitchFamily="34" charset="0"/>
                <a:ea typeface="Calibri" pitchFamily="34" charset="-122"/>
                <a:cs typeface="Calibri" pitchFamily="34" charset="-120"/>
              </a:rPr>
              <a:t>MainMenu — the two entry points under test</a:t>
            </a:r>
            <a:endParaRPr lang="en-US" sz="1050" dirty="0"/>
          </a:p>
        </p:txBody>
      </p:sp>
      <p:sp>
        <p:nvSpPr>
          <p:cNvPr id="7" name="Text 4"/>
          <p:cNvSpPr txBox="1"/>
          <p:nvPr/>
        </p:nvSpPr>
        <p:spPr>
          <a:xfrm>
            <a:off x="950976" y="4517136"/>
            <a:ext cx="3931920" cy="10058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F0EBE4"/>
                </a:solidFill>
                <a:latin typeface="Calibri" pitchFamily="34" charset="0"/>
                <a:ea typeface="Calibri" pitchFamily="34" charset="-122"/>
                <a:cs typeface="Calibri" pitchFamily="34" charset="-120"/>
              </a:rPr>
              <a:t>Create Room → opens an EOS lobby, then starts the Mirror host</a:t>
            </a:r>
            <a:endParaRPr lang="en-US" sz="1250" dirty="0"/>
          </a:p>
          <a:p>
            <a:pPr marL="342900" indent="-342900">
              <a:spcAft>
                <a:spcPts val="700"/>
              </a:spcAft>
              <a:buSzPct val="100000"/>
              <a:buChar char="•"/>
            </a:pPr>
            <a:r>
              <a:rPr lang="en-US" sz="1250" dirty="0">
                <a:solidFill>
                  <a:srgbClr val="F0EBE4"/>
                </a:solidFill>
                <a:latin typeface="Calibri" pitchFamily="34" charset="0"/>
                <a:ea typeface="Calibri" pitchFamily="34" charset="-122"/>
                <a:cs typeface="Calibri" pitchFamily="34" charset="-120"/>
              </a:rPr>
              <a:t>Find Room → searches EOS and returns every open room</a:t>
            </a:r>
            <a:endParaRPr lang="en-US" sz="1250" dirty="0"/>
          </a:p>
        </p:txBody>
      </p:sp>
      <p:sp>
        <p:nvSpPr>
          <p:cNvPr id="8" name="Shape 5"/>
          <p:cNvSpPr/>
          <p:nvPr/>
        </p:nvSpPr>
        <p:spPr>
          <a:xfrm>
            <a:off x="5522976" y="1627632"/>
            <a:ext cx="6080760" cy="4023360"/>
          </a:xfrm>
          <a:prstGeom prst="roundRect">
            <a:avLst>
              <a:gd name="adj" fmla="val 1364"/>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pic>
        <p:nvPicPr>
          <p:cNvPr id="9" name="Image 1" descr="/tmp/claude-0/-home-claude/1390a9ce-40b9-5e21-8a81-99b2e23edd0b/scratchpad/img/ev_console_create.png">    </p:cNvPr>
          <p:cNvPicPr>
            <a:picLocks noChangeAspect="1"/>
          </p:cNvPicPr>
          <p:nvPr/>
        </p:nvPicPr>
        <p:blipFill>
          <a:blip r:embed="rId2"/>
          <a:stretch>
            <a:fillRect/>
          </a:stretch>
        </p:blipFill>
        <p:spPr>
          <a:xfrm>
            <a:off x="5815584" y="1901952"/>
            <a:ext cx="4709160" cy="914400"/>
          </a:xfrm>
          <a:prstGeom prst="rect">
            <a:avLst/>
          </a:prstGeom>
        </p:spPr>
      </p:pic>
      <p:sp>
        <p:nvSpPr>
          <p:cNvPr id="10" name="Text 6"/>
          <p:cNvSpPr txBox="1"/>
          <p:nvPr/>
        </p:nvSpPr>
        <p:spPr>
          <a:xfrm>
            <a:off x="5815584" y="2907792"/>
            <a:ext cx="5486400" cy="274320"/>
          </a:xfrm>
          <a:prstGeom prst="rect">
            <a:avLst/>
          </a:prstGeom>
          <a:noFill/>
          <a:ln/>
        </p:spPr>
        <p:txBody>
          <a:bodyPr wrap="square" lIns="0" tIns="0" rIns="0" bIns="0" rtlCol="0" anchor="ctr"/>
          <a:lstStyle/>
          <a:p>
            <a:pPr indent="0" marL="0">
              <a:buNone/>
            </a:pPr>
            <a:r>
              <a:rPr lang="en-US" sz="1050" i="1" dirty="0">
                <a:solidFill>
                  <a:srgbClr val="6E6876"/>
                </a:solidFill>
                <a:latin typeface="Calibri" pitchFamily="34" charset="0"/>
                <a:ea typeface="Calibri" pitchFamily="34" charset="-122"/>
                <a:cs typeface="Calibri" pitchFamily="34" charset="-120"/>
              </a:rPr>
              <a:t>Editor console during the run — host side</a:t>
            </a:r>
            <a:endParaRPr lang="en-US" sz="1050" dirty="0"/>
          </a:p>
        </p:txBody>
      </p:sp>
      <p:sp>
        <p:nvSpPr>
          <p:cNvPr id="11" name="Text 7"/>
          <p:cNvSpPr txBox="1"/>
          <p:nvPr/>
        </p:nvSpPr>
        <p:spPr>
          <a:xfrm>
            <a:off x="5815584" y="3291840"/>
            <a:ext cx="5532120" cy="566928"/>
          </a:xfrm>
          <a:prstGeom prst="rect">
            <a:avLst/>
          </a:prstGeom>
          <a:noFill/>
          <a:ln/>
        </p:spPr>
        <p:txBody>
          <a:bodyPr wrap="square" lIns="0" tIns="0" rIns="0" bIns="0" rtlCol="0" anchor="ctr"/>
          <a:lstStyle/>
          <a:p>
            <a:pPr indent="0" marL="0">
              <a:buNone/>
            </a:pPr>
            <a:r>
              <a:rPr lang="en-US" sz="1150" b="1" dirty="0">
                <a:solidFill>
                  <a:srgbClr val="5E9E6E"/>
                </a:solidFill>
                <a:latin typeface="Courier New" pitchFamily="34" charset="0"/>
                <a:ea typeface="Courier New" pitchFamily="34" charset="-122"/>
                <a:cs typeface="Courier New" pitchFamily="34" charset="-120"/>
              </a:rPr>
              <a:t>Room config carried into the lobby:</a:t>
            </a:r>
            <a:endParaRPr lang="en-US" sz="1150" dirty="0"/>
          </a:p>
          <a:p>
            <a:pPr indent="0" marL="0">
              <a:buNone/>
            </a:pPr>
            <a:r>
              <a:rPr lang="en-US" sz="1150" dirty="0">
                <a:solidFill>
                  <a:srgbClr val="5E9E6E"/>
                </a:solidFill>
                <a:latin typeface="Courier New" pitchFamily="34" charset="0"/>
                <a:ea typeface="Courier New" pitchFamily="34" charset="-122"/>
                <a:cs typeface="Courier New" pitchFamily="34" charset="-120"/>
              </a:rPr>
              <a:t>map = demo_map_01   ·   difficulty = Normal   ·   players = 6</a:t>
            </a:r>
            <a:endParaRPr lang="en-US" sz="1150" dirty="0"/>
          </a:p>
        </p:txBody>
      </p:sp>
      <p:sp>
        <p:nvSpPr>
          <p:cNvPr id="12" name="Text 8"/>
          <p:cNvSpPr txBox="1"/>
          <p:nvPr/>
        </p:nvSpPr>
        <p:spPr>
          <a:xfrm>
            <a:off x="5815584" y="4023360"/>
            <a:ext cx="5532120" cy="137160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F0EBE4"/>
                </a:solidFill>
                <a:latin typeface="Calibri" pitchFamily="34" charset="0"/>
                <a:ea typeface="Calibri" pitchFamily="34" charset="-122"/>
                <a:cs typeface="Calibri" pitchFamily="34" charset="-120"/>
              </a:rPr>
              <a:t>Room settings are published as EOS lobby attributes, so the browser can show map, difficulty and player count before joining.</a:t>
            </a:r>
            <a:endParaRPr lang="en-US" sz="1250" dirty="0"/>
          </a:p>
          <a:p>
            <a:pPr marL="342900" indent="-342900">
              <a:spcAft>
                <a:spcPts val="700"/>
              </a:spcAft>
              <a:buSzPct val="100000"/>
              <a:buChar char="•"/>
            </a:pPr>
            <a:r>
              <a:rPr lang="en-US" sz="1250" dirty="0">
                <a:solidFill>
                  <a:srgbClr val="F0EBE4"/>
                </a:solidFill>
                <a:latin typeface="Calibri" pitchFamily="34" charset="0"/>
                <a:ea typeface="Calibri" pitchFamily="34" charset="-122"/>
                <a:cs typeface="Calibri" pitchFamily="34" charset="-120"/>
              </a:rPr>
              <a:t>Passwords are deliberately NOT lobby attributes — EOS makes those readable by anyone searching.</a:t>
            </a:r>
            <a:endParaRPr lang="en-US" sz="1250" dirty="0"/>
          </a:p>
        </p:txBody>
      </p:sp>
      <p:sp>
        <p:nvSpPr>
          <p:cNvPr id="13" name="Text 9"/>
          <p:cNvSpPr txBox="1"/>
          <p:nvPr/>
        </p:nvSpPr>
        <p:spPr>
          <a:xfrm>
            <a:off x="566928" y="6382512"/>
            <a:ext cx="6095848" cy="274320"/>
          </a:xfrm>
          <a:prstGeom prst="rect">
            <a:avLst/>
          </a:prstGeom>
          <a:noFill/>
          <a:ln/>
        </p:spPr>
        <p:txBody>
          <a:bodyPr wrap="square" lIns="0" tIns="0" rIns="0" bIns="0" rtlCol="0" anchor="ctr"/>
          <a:lstStyle/>
          <a:p>
            <a:pPr indent="0" marL="0">
              <a:buNone/>
            </a:pPr>
            <a:r>
              <a:rPr lang="en-US" sz="950" dirty="0">
                <a:solidFill>
                  <a:srgbClr val="6E6876"/>
                </a:solidFill>
                <a:latin typeface="Calibri" pitchFamily="34" charset="0"/>
                <a:ea typeface="Calibri" pitchFamily="34" charset="-122"/>
                <a:cs typeface="Calibri" pitchFamily="34" charset="-120"/>
              </a:rPr>
              <a:t>Pre-Thesis Demo  |  Programming Status Report</a:t>
            </a:r>
            <a:endParaRPr lang="en-US" sz="950" dirty="0"/>
          </a:p>
        </p:txBody>
      </p:sp>
      <p:sp>
        <p:nvSpPr>
          <p:cNvPr id="14" name="Text 10"/>
          <p:cNvSpPr txBox="1"/>
          <p:nvPr/>
        </p:nvSpPr>
        <p:spPr>
          <a:xfrm>
            <a:off x="6095848" y="6382512"/>
            <a:ext cx="5528920" cy="274320"/>
          </a:xfrm>
          <a:prstGeom prst="rect">
            <a:avLst/>
          </a:prstGeom>
          <a:noFill/>
          <a:ln/>
        </p:spPr>
        <p:txBody>
          <a:bodyPr wrap="square" lIns="0" tIns="0" rIns="0" bIns="0" rtlCol="0" anchor="ctr"/>
          <a:lstStyle/>
          <a:p>
            <a:pPr algn="r" indent="0" marL="0">
              <a:buNone/>
            </a:pPr>
            <a:r>
              <a:rPr lang="en-US" sz="950" dirty="0">
                <a:solidFill>
                  <a:srgbClr val="C1272D"/>
                </a:solidFill>
                <a:latin typeface="Calibri" pitchFamily="34" charset="0"/>
                <a:ea typeface="Calibri" pitchFamily="34" charset="-122"/>
                <a:cs typeface="Calibri" pitchFamily="34" charset="-120"/>
              </a:rPr>
              <a:t>04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21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C1272D"/>
                </a:solidFill>
                <a:latin typeface="Calibri" pitchFamily="34" charset="0"/>
                <a:ea typeface="Calibri" pitchFamily="34" charset="-122"/>
                <a:cs typeface="Calibri" pitchFamily="34" charset="-120"/>
              </a:rPr>
              <a:t>EVIDENCE  ·  PLAYTEST RECORDING</a:t>
            </a:r>
            <a:endParaRPr lang="en-US" sz="115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F0EBE4"/>
                </a:solidFill>
                <a:latin typeface="Cambria" pitchFamily="34" charset="0"/>
                <a:ea typeface="Cambria" pitchFamily="34" charset="-122"/>
                <a:cs typeface="Cambria" pitchFamily="34" charset="-120"/>
              </a:rPr>
              <a:t>Milestone 2 — two machines, one world</a:t>
            </a:r>
            <a:endParaRPr lang="en-US" sz="3200" dirty="0"/>
          </a:p>
        </p:txBody>
      </p:sp>
      <p:sp>
        <p:nvSpPr>
          <p:cNvPr id="4" name="Shape 2"/>
          <p:cNvSpPr/>
          <p:nvPr/>
        </p:nvSpPr>
        <p:spPr>
          <a:xfrm>
            <a:off x="566928" y="1627632"/>
            <a:ext cx="3246120" cy="3931920"/>
          </a:xfrm>
          <a:prstGeom prst="roundRect">
            <a:avLst>
              <a:gd name="adj" fmla="val 1690"/>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pic>
        <p:nvPicPr>
          <p:cNvPr id="5" name="Image 0" descr="/tmp/claude-0/-home-claude/1390a9ce-40b9-5e21-8a81-99b2e23edd0b/scratchpad/img/ev_hierarchy_2players.png">    </p:cNvPr>
          <p:cNvPicPr>
            <a:picLocks noChangeAspect="1"/>
          </p:cNvPicPr>
          <p:nvPr/>
        </p:nvPicPr>
        <p:blipFill>
          <a:blip r:embed="rId1"/>
          <a:stretch>
            <a:fillRect/>
          </a:stretch>
        </p:blipFill>
        <p:spPr>
          <a:xfrm>
            <a:off x="950976" y="1883664"/>
            <a:ext cx="2468880" cy="1920240"/>
          </a:xfrm>
          <a:prstGeom prst="rect">
            <a:avLst/>
          </a:prstGeom>
        </p:spPr>
      </p:pic>
      <p:sp>
        <p:nvSpPr>
          <p:cNvPr id="6" name="Text 3"/>
          <p:cNvSpPr txBox="1"/>
          <p:nvPr/>
        </p:nvSpPr>
        <p:spPr>
          <a:xfrm>
            <a:off x="841248" y="3877056"/>
            <a:ext cx="2743200" cy="274320"/>
          </a:xfrm>
          <a:prstGeom prst="rect">
            <a:avLst/>
          </a:prstGeom>
          <a:noFill/>
          <a:ln/>
        </p:spPr>
        <p:txBody>
          <a:bodyPr wrap="square" lIns="0" tIns="0" rIns="0" bIns="0" rtlCol="0" anchor="ctr"/>
          <a:lstStyle/>
          <a:p>
            <a:pPr indent="0" marL="0">
              <a:buNone/>
            </a:pPr>
            <a:r>
              <a:rPr lang="en-US" sz="1050" i="1" dirty="0">
                <a:solidFill>
                  <a:srgbClr val="6E6876"/>
                </a:solidFill>
                <a:latin typeface="Calibri" pitchFamily="34" charset="0"/>
                <a:ea typeface="Calibri" pitchFamily="34" charset="-122"/>
                <a:cs typeface="Calibri" pitchFamily="34" charset="-120"/>
              </a:rPr>
              <a:t>Host scene hierarchy</a:t>
            </a:r>
            <a:endParaRPr lang="en-US" sz="1050" dirty="0"/>
          </a:p>
        </p:txBody>
      </p:sp>
      <p:sp>
        <p:nvSpPr>
          <p:cNvPr id="7" name="Text 4"/>
          <p:cNvSpPr txBox="1"/>
          <p:nvPr/>
        </p:nvSpPr>
        <p:spPr>
          <a:xfrm>
            <a:off x="841248" y="4187952"/>
            <a:ext cx="2724912" cy="1005840"/>
          </a:xfrm>
          <a:prstGeom prst="rect">
            <a:avLst/>
          </a:prstGeom>
          <a:noFill/>
          <a:ln/>
        </p:spPr>
        <p:txBody>
          <a:bodyPr wrap="square" lIns="0" tIns="0" rIns="0" bIns="0" rtlCol="0" anchor="ctr"/>
          <a:lstStyle/>
          <a:p>
            <a:pPr indent="0" marL="0">
              <a:buNone/>
            </a:pPr>
            <a:r>
              <a:rPr lang="en-US" sz="1250" dirty="0">
                <a:solidFill>
                  <a:srgbClr val="9B95A2"/>
                </a:solidFill>
                <a:latin typeface="Calibri" pitchFamily="34" charset="0"/>
                <a:ea typeface="Calibri" pitchFamily="34" charset="-122"/>
                <a:cs typeface="Calibri" pitchFamily="34" charset="-120"/>
              </a:rPr>
              <a:t>Two Player(Clone) objects — host and remote client — in the same scene.</a:t>
            </a:r>
            <a:endParaRPr lang="en-US" sz="1250" dirty="0"/>
          </a:p>
        </p:txBody>
      </p:sp>
      <p:sp>
        <p:nvSpPr>
          <p:cNvPr id="8" name="Shape 5"/>
          <p:cNvSpPr/>
          <p:nvPr/>
        </p:nvSpPr>
        <p:spPr>
          <a:xfrm>
            <a:off x="4105656" y="1627632"/>
            <a:ext cx="4663440" cy="3931920"/>
          </a:xfrm>
          <a:prstGeom prst="roundRect">
            <a:avLst>
              <a:gd name="adj" fmla="val 1395"/>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pic>
        <p:nvPicPr>
          <p:cNvPr id="9" name="Image 1" descr="/tmp/claude-0/-home-claude/1390a9ce-40b9-5e21-8a81-99b2e23edd0b/scratchpad/img/ev_gameview_remote.png">    </p:cNvPr>
          <p:cNvPicPr>
            <a:picLocks noChangeAspect="1"/>
          </p:cNvPicPr>
          <p:nvPr/>
        </p:nvPicPr>
        <p:blipFill>
          <a:blip r:embed="rId2"/>
          <a:stretch>
            <a:fillRect/>
          </a:stretch>
        </p:blipFill>
        <p:spPr>
          <a:xfrm>
            <a:off x="4334256" y="1883664"/>
            <a:ext cx="4206240" cy="2377440"/>
          </a:xfrm>
          <a:prstGeom prst="rect">
            <a:avLst/>
          </a:prstGeom>
        </p:spPr>
      </p:pic>
      <p:sp>
        <p:nvSpPr>
          <p:cNvPr id="10" name="Text 6"/>
          <p:cNvSpPr txBox="1"/>
          <p:nvPr/>
        </p:nvSpPr>
        <p:spPr>
          <a:xfrm>
            <a:off x="4334256" y="4334256"/>
            <a:ext cx="4206240" cy="274320"/>
          </a:xfrm>
          <a:prstGeom prst="rect">
            <a:avLst/>
          </a:prstGeom>
          <a:noFill/>
          <a:ln/>
        </p:spPr>
        <p:txBody>
          <a:bodyPr wrap="square" lIns="0" tIns="0" rIns="0" bIns="0" rtlCol="0" anchor="ctr"/>
          <a:lstStyle/>
          <a:p>
            <a:pPr indent="0" marL="0">
              <a:buNone/>
            </a:pPr>
            <a:r>
              <a:rPr lang="en-US" sz="1050" i="1" dirty="0">
                <a:solidFill>
                  <a:srgbClr val="6E6876"/>
                </a:solidFill>
                <a:latin typeface="Calibri" pitchFamily="34" charset="0"/>
                <a:ea typeface="Calibri" pitchFamily="34" charset="-122"/>
                <a:cs typeface="Calibri" pitchFamily="34" charset="-120"/>
              </a:rPr>
              <a:t>Game view — the other player is visible and moving</a:t>
            </a:r>
            <a:endParaRPr lang="en-US" sz="1050" dirty="0"/>
          </a:p>
        </p:txBody>
      </p:sp>
      <p:sp>
        <p:nvSpPr>
          <p:cNvPr id="11" name="Shape 7"/>
          <p:cNvSpPr/>
          <p:nvPr/>
        </p:nvSpPr>
        <p:spPr>
          <a:xfrm>
            <a:off x="9061704" y="1627632"/>
            <a:ext cx="2542032" cy="3931920"/>
          </a:xfrm>
          <a:prstGeom prst="roundRect">
            <a:avLst>
              <a:gd name="adj" fmla="val 2158"/>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pic>
        <p:nvPicPr>
          <p:cNvPr id="12" name="Image 2" descr="/tmp/claude-0/-home-claude/1390a9ce-40b9-5e21-8a81-99b2e23edd0b/scratchpad/img/ev_console_join.png">    </p:cNvPr>
          <p:cNvPicPr>
            <a:picLocks noChangeAspect="1"/>
          </p:cNvPicPr>
          <p:nvPr/>
        </p:nvPicPr>
        <p:blipFill>
          <a:blip r:embed="rId3"/>
          <a:stretch>
            <a:fillRect/>
          </a:stretch>
        </p:blipFill>
        <p:spPr>
          <a:xfrm>
            <a:off x="9272016" y="1883664"/>
            <a:ext cx="2121408" cy="914400"/>
          </a:xfrm>
          <a:prstGeom prst="rect">
            <a:avLst/>
          </a:prstGeom>
        </p:spPr>
      </p:pic>
      <p:sp>
        <p:nvSpPr>
          <p:cNvPr id="13" name="Text 8"/>
          <p:cNvSpPr txBox="1"/>
          <p:nvPr/>
        </p:nvSpPr>
        <p:spPr>
          <a:xfrm>
            <a:off x="9272016" y="2889504"/>
            <a:ext cx="2103120" cy="274320"/>
          </a:xfrm>
          <a:prstGeom prst="rect">
            <a:avLst/>
          </a:prstGeom>
          <a:noFill/>
          <a:ln/>
        </p:spPr>
        <p:txBody>
          <a:bodyPr wrap="square" lIns="0" tIns="0" rIns="0" bIns="0" rtlCol="0" anchor="ctr"/>
          <a:lstStyle/>
          <a:p>
            <a:pPr indent="0" marL="0">
              <a:buNone/>
            </a:pPr>
            <a:r>
              <a:rPr lang="en-US" sz="1050" i="1" dirty="0">
                <a:solidFill>
                  <a:srgbClr val="6E6876"/>
                </a:solidFill>
                <a:latin typeface="Calibri" pitchFamily="34" charset="0"/>
                <a:ea typeface="Calibri" pitchFamily="34" charset="-122"/>
                <a:cs typeface="Calibri" pitchFamily="34" charset="-120"/>
              </a:rPr>
              <a:t>Client connection log</a:t>
            </a:r>
            <a:endParaRPr lang="en-US" sz="1050" dirty="0"/>
          </a:p>
        </p:txBody>
      </p:sp>
      <p:sp>
        <p:nvSpPr>
          <p:cNvPr id="14" name="Text 9"/>
          <p:cNvSpPr txBox="1"/>
          <p:nvPr/>
        </p:nvSpPr>
        <p:spPr>
          <a:xfrm>
            <a:off x="9272016" y="3200400"/>
            <a:ext cx="2121408" cy="1371600"/>
          </a:xfrm>
          <a:prstGeom prst="rect">
            <a:avLst/>
          </a:prstGeom>
          <a:noFill/>
          <a:ln/>
        </p:spPr>
        <p:txBody>
          <a:bodyPr wrap="square" lIns="0" tIns="0" rIns="0" bIns="0" rtlCol="0" anchor="ctr"/>
          <a:lstStyle/>
          <a:p>
            <a:pPr indent="0" marL="0">
              <a:buNone/>
            </a:pPr>
            <a:r>
              <a:rPr lang="en-US" sz="1200" dirty="0">
                <a:solidFill>
                  <a:srgbClr val="9B95A2"/>
                </a:solidFill>
                <a:latin typeface="Calibri" pitchFamily="34" charset="0"/>
                <a:ea typeface="Calibri" pitchFamily="34" charset="-122"/>
                <a:cs typeface="Calibri" pitchFamily="34" charset="-120"/>
              </a:rPr>
              <a:t>“Connection established” after the client resolved the host's EOS product user ID.</a:t>
            </a:r>
            <a:endParaRPr lang="en-US" sz="1200" dirty="0"/>
          </a:p>
        </p:txBody>
      </p:sp>
      <p:sp>
        <p:nvSpPr>
          <p:cNvPr id="15" name="Text 10"/>
          <p:cNvSpPr txBox="1"/>
          <p:nvPr/>
        </p:nvSpPr>
        <p:spPr>
          <a:xfrm>
            <a:off x="566928" y="5724144"/>
            <a:ext cx="11057839" cy="512064"/>
          </a:xfrm>
          <a:prstGeom prst="rect">
            <a:avLst/>
          </a:prstGeom>
          <a:noFill/>
          <a:ln/>
        </p:spPr>
        <p:txBody>
          <a:bodyPr wrap="square" lIns="0" tIns="0" rIns="0" bIns="0" rtlCol="0" anchor="ctr"/>
          <a:lstStyle/>
          <a:p>
            <a:pPr indent="0" marL="0">
              <a:buNone/>
            </a:pPr>
            <a:r>
              <a:rPr lang="en-US" sz="1200" i="1" dirty="0">
                <a:solidFill>
                  <a:srgbClr val="9B95A2"/>
                </a:solidFill>
                <a:latin typeface="Calibri" pitchFamily="34" charset="0"/>
                <a:ea typeface="Calibri" pitchFamily="34" charset="-122"/>
                <a:cs typeface="Calibri" pitchFamily="34" charset="-120"/>
              </a:rPr>
              <a:t>This is the result that was failing last week: the client connected but no player objects appeared. Root cause was a prefab registration mismatch between the two machines' checkouts.</a:t>
            </a:r>
            <a:endParaRPr lang="en-US" sz="1200" dirty="0"/>
          </a:p>
        </p:txBody>
      </p:sp>
      <p:sp>
        <p:nvSpPr>
          <p:cNvPr id="16" name="Text 11"/>
          <p:cNvSpPr txBox="1"/>
          <p:nvPr/>
        </p:nvSpPr>
        <p:spPr>
          <a:xfrm>
            <a:off x="566928" y="6382512"/>
            <a:ext cx="6095848" cy="274320"/>
          </a:xfrm>
          <a:prstGeom prst="rect">
            <a:avLst/>
          </a:prstGeom>
          <a:noFill/>
          <a:ln/>
        </p:spPr>
        <p:txBody>
          <a:bodyPr wrap="square" lIns="0" tIns="0" rIns="0" bIns="0" rtlCol="0" anchor="ctr"/>
          <a:lstStyle/>
          <a:p>
            <a:pPr indent="0" marL="0">
              <a:buNone/>
            </a:pPr>
            <a:r>
              <a:rPr lang="en-US" sz="950" dirty="0">
                <a:solidFill>
                  <a:srgbClr val="6E6876"/>
                </a:solidFill>
                <a:latin typeface="Calibri" pitchFamily="34" charset="0"/>
                <a:ea typeface="Calibri" pitchFamily="34" charset="-122"/>
                <a:cs typeface="Calibri" pitchFamily="34" charset="-120"/>
              </a:rPr>
              <a:t>Pre-Thesis Demo  |  Programming Status Report</a:t>
            </a:r>
            <a:endParaRPr lang="en-US" sz="950" dirty="0"/>
          </a:p>
        </p:txBody>
      </p:sp>
      <p:sp>
        <p:nvSpPr>
          <p:cNvPr id="17" name="Text 12"/>
          <p:cNvSpPr txBox="1"/>
          <p:nvPr/>
        </p:nvSpPr>
        <p:spPr>
          <a:xfrm>
            <a:off x="6095848" y="6382512"/>
            <a:ext cx="5528920" cy="274320"/>
          </a:xfrm>
          <a:prstGeom prst="rect">
            <a:avLst/>
          </a:prstGeom>
          <a:noFill/>
          <a:ln/>
        </p:spPr>
        <p:txBody>
          <a:bodyPr wrap="square" lIns="0" tIns="0" rIns="0" bIns="0" rtlCol="0" anchor="ctr"/>
          <a:lstStyle/>
          <a:p>
            <a:pPr algn="r" indent="0" marL="0">
              <a:buNone/>
            </a:pPr>
            <a:r>
              <a:rPr lang="en-US" sz="950" dirty="0">
                <a:solidFill>
                  <a:srgbClr val="C1272D"/>
                </a:solidFill>
                <a:latin typeface="Calibri" pitchFamily="34" charset="0"/>
                <a:ea typeface="Calibri" pitchFamily="34" charset="-122"/>
                <a:cs typeface="Calibri" pitchFamily="34" charset="-120"/>
              </a:rPr>
              <a:t>05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1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C1272D"/>
                </a:solidFill>
                <a:latin typeface="Calibri" pitchFamily="34" charset="0"/>
                <a:ea typeface="Calibri" pitchFamily="34" charset="-122"/>
                <a:cs typeface="Calibri" pitchFamily="34" charset="-120"/>
              </a:rPr>
              <a:t>EVIDENCE  ·  PLAYTEST RECORDING</a:t>
            </a:r>
            <a:endParaRPr lang="en-US" sz="115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F0EBE4"/>
                </a:solidFill>
                <a:latin typeface="Cambria" pitchFamily="34" charset="0"/>
                <a:ea typeface="Cambria" pitchFamily="34" charset="-122"/>
                <a:cs typeface="Cambria" pitchFamily="34" charset="-120"/>
              </a:rPr>
              <a:t>Milestone 3 — solo testing works again</a:t>
            </a:r>
            <a:endParaRPr lang="en-US" sz="3200" dirty="0"/>
          </a:p>
        </p:txBody>
      </p:sp>
      <p:sp>
        <p:nvSpPr>
          <p:cNvPr id="4" name="Shape 2"/>
          <p:cNvSpPr/>
          <p:nvPr/>
        </p:nvSpPr>
        <p:spPr>
          <a:xfrm>
            <a:off x="566928" y="1627632"/>
            <a:ext cx="4114800" cy="3968496"/>
          </a:xfrm>
          <a:prstGeom prst="roundRect">
            <a:avLst>
              <a:gd name="adj" fmla="val 1382"/>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pic>
        <p:nvPicPr>
          <p:cNvPr id="5" name="Image 0" descr="/tmp/claude-0/-home-claude/1390a9ce-40b9-5e21-8a81-99b2e23edd0b/scratchpad/img/ev_offline_hierarchy.png">    </p:cNvPr>
          <p:cNvPicPr>
            <a:picLocks noChangeAspect="1"/>
          </p:cNvPicPr>
          <p:nvPr/>
        </p:nvPicPr>
        <p:blipFill>
          <a:blip r:embed="rId1"/>
          <a:stretch>
            <a:fillRect/>
          </a:stretch>
        </p:blipFill>
        <p:spPr>
          <a:xfrm>
            <a:off x="1097280" y="1865376"/>
            <a:ext cx="3017520" cy="2752344"/>
          </a:xfrm>
          <a:prstGeom prst="rect">
            <a:avLst/>
          </a:prstGeom>
        </p:spPr>
      </p:pic>
      <p:sp>
        <p:nvSpPr>
          <p:cNvPr id="6" name="Text 3"/>
          <p:cNvSpPr txBox="1"/>
          <p:nvPr/>
        </p:nvSpPr>
        <p:spPr>
          <a:xfrm>
            <a:off x="932688" y="4718304"/>
            <a:ext cx="3840480" cy="274320"/>
          </a:xfrm>
          <a:prstGeom prst="rect">
            <a:avLst/>
          </a:prstGeom>
          <a:noFill/>
          <a:ln/>
        </p:spPr>
        <p:txBody>
          <a:bodyPr wrap="square" lIns="0" tIns="0" rIns="0" bIns="0" rtlCol="0" anchor="ctr"/>
          <a:lstStyle/>
          <a:p>
            <a:pPr indent="0" marL="0">
              <a:buNone/>
            </a:pPr>
            <a:r>
              <a:rPr lang="en-US" sz="1050" i="1" dirty="0">
                <a:solidFill>
                  <a:srgbClr val="6E6876"/>
                </a:solidFill>
                <a:latin typeface="Calibri" pitchFamily="34" charset="0"/>
                <a:ea typeface="Calibri" pitchFamily="34" charset="-122"/>
                <a:cs typeface="Calibri" pitchFamily="34" charset="-120"/>
              </a:rPr>
              <a:t>TestWalk in Play mode — nothing has vanished</a:t>
            </a:r>
            <a:endParaRPr lang="en-US" sz="1050" dirty="0"/>
          </a:p>
        </p:txBody>
      </p:sp>
      <p:sp>
        <p:nvSpPr>
          <p:cNvPr id="7" name="Shape 4"/>
          <p:cNvSpPr/>
          <p:nvPr/>
        </p:nvSpPr>
        <p:spPr>
          <a:xfrm>
            <a:off x="4974336" y="1627632"/>
            <a:ext cx="6629400" cy="3968496"/>
          </a:xfrm>
          <a:prstGeom prst="roundRect">
            <a:avLst>
              <a:gd name="adj" fmla="val 1382"/>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8" name="Text 5"/>
          <p:cNvSpPr txBox="1"/>
          <p:nvPr/>
        </p:nvSpPr>
        <p:spPr>
          <a:xfrm>
            <a:off x="5285232" y="1847088"/>
            <a:ext cx="6035040" cy="310896"/>
          </a:xfrm>
          <a:prstGeom prst="rect">
            <a:avLst/>
          </a:prstGeom>
          <a:noFill/>
          <a:ln/>
        </p:spPr>
        <p:txBody>
          <a:bodyPr wrap="square" lIns="0" tIns="0" rIns="0" bIns="0" rtlCol="0" anchor="ctr"/>
          <a:lstStyle/>
          <a:p>
            <a:pPr indent="0" marL="0">
              <a:buNone/>
            </a:pPr>
            <a:r>
              <a:rPr lang="en-US" sz="1800" b="1" dirty="0">
                <a:solidFill>
                  <a:srgbClr val="F0EBE4"/>
                </a:solidFill>
                <a:latin typeface="Cambria" pitchFamily="34" charset="0"/>
                <a:ea typeface="Cambria" pitchFamily="34" charset="-122"/>
                <a:cs typeface="Cambria" pitchFamily="34" charset="-120"/>
              </a:rPr>
              <a:t>The problem</a:t>
            </a:r>
            <a:endParaRPr lang="en-US" sz="1800" dirty="0"/>
          </a:p>
        </p:txBody>
      </p:sp>
      <p:sp>
        <p:nvSpPr>
          <p:cNvPr id="9" name="Text 6"/>
          <p:cNvSpPr txBox="1"/>
          <p:nvPr/>
        </p:nvSpPr>
        <p:spPr>
          <a:xfrm>
            <a:off x="5285232" y="2212848"/>
            <a:ext cx="6035040" cy="841248"/>
          </a:xfrm>
          <a:prstGeom prst="rect">
            <a:avLst/>
          </a:prstGeom>
          <a:noFill/>
          <a:ln/>
        </p:spPr>
        <p:txBody>
          <a:bodyPr wrap="square" lIns="0" tIns="0" rIns="0" bIns="0" rtlCol="0" anchor="ctr"/>
          <a:lstStyle/>
          <a:p>
            <a:pPr indent="0" marL="0">
              <a:buNone/>
            </a:pPr>
            <a:r>
              <a:rPr lang="en-US" sz="1300" dirty="0">
                <a:solidFill>
                  <a:srgbClr val="9B95A2"/>
                </a:solidFill>
                <a:latin typeface="Calibri" pitchFamily="34" charset="0"/>
                <a:ea typeface="Calibri" pitchFamily="34" charset="-122"/>
                <a:cs typeface="Calibri" pitchFamily="34" charset="-120"/>
              </a:rPr>
              <a:t>Mirror force-disables every scene object carrying a NetworkIdentity so the server decides when to spawn it. In a sandbox scene there is no server — so interactable props disappeared the moment Play was pressed.</a:t>
            </a:r>
            <a:endParaRPr lang="en-US" sz="1300" dirty="0"/>
          </a:p>
        </p:txBody>
      </p:sp>
      <p:sp>
        <p:nvSpPr>
          <p:cNvPr id="10" name="Text 7"/>
          <p:cNvSpPr txBox="1"/>
          <p:nvPr/>
        </p:nvSpPr>
        <p:spPr>
          <a:xfrm>
            <a:off x="5285232" y="3163824"/>
            <a:ext cx="6035040" cy="310896"/>
          </a:xfrm>
          <a:prstGeom prst="rect">
            <a:avLst/>
          </a:prstGeom>
          <a:noFill/>
          <a:ln/>
        </p:spPr>
        <p:txBody>
          <a:bodyPr wrap="square" lIns="0" tIns="0" rIns="0" bIns="0" rtlCol="0" anchor="ctr"/>
          <a:lstStyle/>
          <a:p>
            <a:pPr indent="0" marL="0">
              <a:buNone/>
            </a:pPr>
            <a:r>
              <a:rPr lang="en-US" sz="1800" b="1" dirty="0">
                <a:solidFill>
                  <a:srgbClr val="F0EBE4"/>
                </a:solidFill>
                <a:latin typeface="Cambria" pitchFamily="34" charset="0"/>
                <a:ea typeface="Cambria" pitchFamily="34" charset="-122"/>
                <a:cs typeface="Cambria" pitchFamily="34" charset="-120"/>
              </a:rPr>
              <a:t>The fix</a:t>
            </a:r>
            <a:endParaRPr lang="en-US" sz="1800" dirty="0"/>
          </a:p>
        </p:txBody>
      </p:sp>
      <p:sp>
        <p:nvSpPr>
          <p:cNvPr id="11" name="Text 8"/>
          <p:cNvSpPr txBox="1"/>
          <p:nvPr/>
        </p:nvSpPr>
        <p:spPr>
          <a:xfrm>
            <a:off x="5285232" y="3529584"/>
            <a:ext cx="6035040" cy="841248"/>
          </a:xfrm>
          <a:prstGeom prst="rect">
            <a:avLst/>
          </a:prstGeom>
          <a:noFill/>
          <a:ln/>
        </p:spPr>
        <p:txBody>
          <a:bodyPr wrap="square" lIns="0" tIns="0" rIns="0" bIns="0" rtlCol="0" anchor="ctr"/>
          <a:lstStyle/>
          <a:p>
            <a:pPr indent="0" marL="0">
              <a:buNone/>
            </a:pPr>
            <a:r>
              <a:rPr lang="en-US" sz="1300" dirty="0">
                <a:solidFill>
                  <a:srgbClr val="9B95A2"/>
                </a:solidFill>
                <a:latin typeface="Calibri" pitchFamily="34" charset="0"/>
                <a:ea typeface="Calibri" pitchFamily="34" charset="-122"/>
                <a:cs typeface="Calibri" pitchFamily="34" charset="-120"/>
              </a:rPr>
              <a:t>A dedicated offline mode. With no server and no client running, a spawner places a player and re-enables the scene objects Mirror switched off. Two earlier attempts failed on timing — Mirror's pass runs after Awake.</a:t>
            </a:r>
            <a:endParaRPr lang="en-US" sz="1300" dirty="0"/>
          </a:p>
        </p:txBody>
      </p:sp>
      <p:pic>
        <p:nvPicPr>
          <p:cNvPr id="12" name="Image 1" descr="/tmp/claude-0/-home-claude/1390a9ce-40b9-5e21-8a81-99b2e23edd0b/scratchpad/img/ev_offline_log.png">    </p:cNvPr>
          <p:cNvPicPr>
            <a:picLocks noChangeAspect="1"/>
          </p:cNvPicPr>
          <p:nvPr/>
        </p:nvPicPr>
        <p:blipFill>
          <a:blip r:embed="rId2"/>
          <a:stretch>
            <a:fillRect/>
          </a:stretch>
        </p:blipFill>
        <p:spPr>
          <a:xfrm>
            <a:off x="5285232" y="4517136"/>
            <a:ext cx="6035040" cy="192024"/>
          </a:xfrm>
          <a:prstGeom prst="rect">
            <a:avLst/>
          </a:prstGeom>
        </p:spPr>
      </p:pic>
      <p:sp>
        <p:nvSpPr>
          <p:cNvPr id="13" name="Text 9"/>
          <p:cNvSpPr txBox="1"/>
          <p:nvPr/>
        </p:nvSpPr>
        <p:spPr>
          <a:xfrm>
            <a:off x="5285232" y="4773168"/>
            <a:ext cx="6035040" cy="274320"/>
          </a:xfrm>
          <a:prstGeom prst="rect">
            <a:avLst/>
          </a:prstGeom>
          <a:noFill/>
          <a:ln/>
        </p:spPr>
        <p:txBody>
          <a:bodyPr wrap="square" lIns="0" tIns="0" rIns="0" bIns="0" rtlCol="0" anchor="ctr"/>
          <a:lstStyle/>
          <a:p>
            <a:pPr indent="0" marL="0">
              <a:buNone/>
            </a:pPr>
            <a:r>
              <a:rPr lang="en-US" sz="1050" i="1" dirty="0">
                <a:solidFill>
                  <a:srgbClr val="6E6876"/>
                </a:solidFill>
                <a:latin typeface="Calibri" pitchFamily="34" charset="0"/>
                <a:ea typeface="Calibri" pitchFamily="34" charset="-122"/>
                <a:cs typeface="Calibri" pitchFamily="34" charset="-120"/>
              </a:rPr>
              <a:t>Editor log confirming the offline spawn</a:t>
            </a:r>
            <a:endParaRPr lang="en-US" sz="1050" dirty="0"/>
          </a:p>
        </p:txBody>
      </p:sp>
      <p:sp>
        <p:nvSpPr>
          <p:cNvPr id="14" name="Text 10"/>
          <p:cNvSpPr txBox="1"/>
          <p:nvPr/>
        </p:nvSpPr>
        <p:spPr>
          <a:xfrm>
            <a:off x="566928" y="5760720"/>
            <a:ext cx="11057839" cy="310896"/>
          </a:xfrm>
          <a:prstGeom prst="rect">
            <a:avLst/>
          </a:prstGeom>
          <a:noFill/>
          <a:ln/>
        </p:spPr>
        <p:txBody>
          <a:bodyPr wrap="square" lIns="0" tIns="0" rIns="0" bIns="0" rtlCol="0" anchor="ctr"/>
          <a:lstStyle/>
          <a:p>
            <a:pPr indent="0" marL="0">
              <a:buNone/>
            </a:pPr>
            <a:r>
              <a:rPr lang="en-US" sz="1200" i="1" dirty="0">
                <a:solidFill>
                  <a:srgbClr val="6E6876"/>
                </a:solidFill>
                <a:latin typeface="Calibri" pitchFamily="34" charset="0"/>
                <a:ea typeface="Calibri" pitchFamily="34" charset="-122"/>
                <a:cs typeface="Calibri" pitchFamily="34" charset="-120"/>
              </a:rPr>
              <a:t>In a real match this code does nothing — it is gated on there being no server and no client.</a:t>
            </a:r>
            <a:endParaRPr lang="en-US" sz="1200" dirty="0"/>
          </a:p>
        </p:txBody>
      </p:sp>
      <p:sp>
        <p:nvSpPr>
          <p:cNvPr id="15" name="Text 11"/>
          <p:cNvSpPr txBox="1"/>
          <p:nvPr/>
        </p:nvSpPr>
        <p:spPr>
          <a:xfrm>
            <a:off x="566928" y="6382512"/>
            <a:ext cx="6095848" cy="274320"/>
          </a:xfrm>
          <a:prstGeom prst="rect">
            <a:avLst/>
          </a:prstGeom>
          <a:noFill/>
          <a:ln/>
        </p:spPr>
        <p:txBody>
          <a:bodyPr wrap="square" lIns="0" tIns="0" rIns="0" bIns="0" rtlCol="0" anchor="ctr"/>
          <a:lstStyle/>
          <a:p>
            <a:pPr indent="0" marL="0">
              <a:buNone/>
            </a:pPr>
            <a:r>
              <a:rPr lang="en-US" sz="950" dirty="0">
                <a:solidFill>
                  <a:srgbClr val="6E6876"/>
                </a:solidFill>
                <a:latin typeface="Calibri" pitchFamily="34" charset="0"/>
                <a:ea typeface="Calibri" pitchFamily="34" charset="-122"/>
                <a:cs typeface="Calibri" pitchFamily="34" charset="-120"/>
              </a:rPr>
              <a:t>Pre-Thesis Demo  |  Programming Status Report</a:t>
            </a:r>
            <a:endParaRPr lang="en-US" sz="950" dirty="0"/>
          </a:p>
        </p:txBody>
      </p:sp>
      <p:sp>
        <p:nvSpPr>
          <p:cNvPr id="16" name="Text 12"/>
          <p:cNvSpPr txBox="1"/>
          <p:nvPr/>
        </p:nvSpPr>
        <p:spPr>
          <a:xfrm>
            <a:off x="6095848" y="6382512"/>
            <a:ext cx="5528920" cy="274320"/>
          </a:xfrm>
          <a:prstGeom prst="rect">
            <a:avLst/>
          </a:prstGeom>
          <a:noFill/>
          <a:ln/>
        </p:spPr>
        <p:txBody>
          <a:bodyPr wrap="square" lIns="0" tIns="0" rIns="0" bIns="0" rtlCol="0" anchor="ctr"/>
          <a:lstStyle/>
          <a:p>
            <a:pPr algn="r" indent="0" marL="0">
              <a:buNone/>
            </a:pPr>
            <a:r>
              <a:rPr lang="en-US" sz="950" dirty="0">
                <a:solidFill>
                  <a:srgbClr val="C1272D"/>
                </a:solidFill>
                <a:latin typeface="Calibri" pitchFamily="34" charset="0"/>
                <a:ea typeface="Calibri" pitchFamily="34" charset="-122"/>
                <a:cs typeface="Calibri" pitchFamily="34" charset="-120"/>
              </a:rPr>
              <a:t>06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21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C1272D"/>
                </a:solidFill>
                <a:latin typeface="Calibri" pitchFamily="34" charset="0"/>
                <a:ea typeface="Calibri" pitchFamily="34" charset="-122"/>
                <a:cs typeface="Calibri" pitchFamily="34" charset="-120"/>
              </a:rPr>
              <a:t>ENGINEERING</a:t>
            </a:r>
            <a:endParaRPr lang="en-US" sz="115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F0EBE4"/>
                </a:solidFill>
                <a:latin typeface="Cambria" pitchFamily="34" charset="0"/>
                <a:ea typeface="Cambria" pitchFamily="34" charset="-122"/>
                <a:cs typeface="Cambria" pitchFamily="34" charset="-120"/>
              </a:rPr>
              <a:t>Problems that were not obvious</a:t>
            </a:r>
            <a:endParaRPr lang="en-US" sz="3200" dirty="0"/>
          </a:p>
        </p:txBody>
      </p:sp>
      <p:sp>
        <p:nvSpPr>
          <p:cNvPr id="4" name="Text 2"/>
          <p:cNvSpPr txBox="1"/>
          <p:nvPr/>
        </p:nvSpPr>
        <p:spPr>
          <a:xfrm>
            <a:off x="1408176" y="1353312"/>
            <a:ext cx="3108960" cy="237744"/>
          </a:xfrm>
          <a:prstGeom prst="rect">
            <a:avLst/>
          </a:prstGeom>
          <a:noFill/>
          <a:ln/>
        </p:spPr>
        <p:txBody>
          <a:bodyPr wrap="square" lIns="0" tIns="0" rIns="0" bIns="0" rtlCol="0" anchor="ctr"/>
          <a:lstStyle/>
          <a:p>
            <a:pPr indent="0" marL="0">
              <a:buNone/>
            </a:pPr>
            <a:r>
              <a:rPr lang="en-US" sz="900" b="1" spc="140" kern="0" dirty="0">
                <a:solidFill>
                  <a:srgbClr val="6E6876"/>
                </a:solidFill>
                <a:latin typeface="Calibri" pitchFamily="34" charset="0"/>
                <a:ea typeface="Calibri" pitchFamily="34" charset="-122"/>
                <a:cs typeface="Calibri" pitchFamily="34" charset="-120"/>
              </a:rPr>
              <a:t>SYMPTOM</a:t>
            </a:r>
            <a:endParaRPr lang="en-US" sz="900" dirty="0"/>
          </a:p>
        </p:txBody>
      </p:sp>
      <p:sp>
        <p:nvSpPr>
          <p:cNvPr id="5" name="Text 3"/>
          <p:cNvSpPr txBox="1"/>
          <p:nvPr/>
        </p:nvSpPr>
        <p:spPr>
          <a:xfrm>
            <a:off x="4334256" y="1353312"/>
            <a:ext cx="3108960" cy="237744"/>
          </a:xfrm>
          <a:prstGeom prst="rect">
            <a:avLst/>
          </a:prstGeom>
          <a:noFill/>
          <a:ln/>
        </p:spPr>
        <p:txBody>
          <a:bodyPr wrap="square" lIns="0" tIns="0" rIns="0" bIns="0" rtlCol="0" anchor="ctr"/>
          <a:lstStyle/>
          <a:p>
            <a:pPr indent="0" marL="0">
              <a:buNone/>
            </a:pPr>
            <a:r>
              <a:rPr lang="en-US" sz="900" b="1" spc="140" kern="0" dirty="0">
                <a:solidFill>
                  <a:srgbClr val="6E6876"/>
                </a:solidFill>
                <a:latin typeface="Calibri" pitchFamily="34" charset="0"/>
                <a:ea typeface="Calibri" pitchFamily="34" charset="-122"/>
                <a:cs typeface="Calibri" pitchFamily="34" charset="-120"/>
              </a:rPr>
              <a:t>WHAT WAS ACTUALLY WRONG</a:t>
            </a:r>
            <a:endParaRPr lang="en-US" sz="900" dirty="0"/>
          </a:p>
        </p:txBody>
      </p:sp>
      <p:sp>
        <p:nvSpPr>
          <p:cNvPr id="6" name="Text 4"/>
          <p:cNvSpPr txBox="1"/>
          <p:nvPr/>
        </p:nvSpPr>
        <p:spPr>
          <a:xfrm>
            <a:off x="7680960" y="1353312"/>
            <a:ext cx="3108960" cy="237744"/>
          </a:xfrm>
          <a:prstGeom prst="rect">
            <a:avLst/>
          </a:prstGeom>
          <a:noFill/>
          <a:ln/>
        </p:spPr>
        <p:txBody>
          <a:bodyPr wrap="square" lIns="0" tIns="0" rIns="0" bIns="0" rtlCol="0" anchor="ctr"/>
          <a:lstStyle/>
          <a:p>
            <a:pPr indent="0" marL="0">
              <a:buNone/>
            </a:pPr>
            <a:r>
              <a:rPr lang="en-US" sz="900" b="1" spc="140" kern="0" dirty="0">
                <a:solidFill>
                  <a:srgbClr val="6E6876"/>
                </a:solidFill>
                <a:latin typeface="Calibri" pitchFamily="34" charset="0"/>
                <a:ea typeface="Calibri" pitchFamily="34" charset="-122"/>
                <a:cs typeface="Calibri" pitchFamily="34" charset="-120"/>
              </a:rPr>
              <a:t>RESOLUTION</a:t>
            </a:r>
            <a:endParaRPr lang="en-US" sz="900" dirty="0"/>
          </a:p>
        </p:txBody>
      </p:sp>
      <p:sp>
        <p:nvSpPr>
          <p:cNvPr id="7" name="Shape 5"/>
          <p:cNvSpPr/>
          <p:nvPr/>
        </p:nvSpPr>
        <p:spPr>
          <a:xfrm>
            <a:off x="566928" y="1682496"/>
            <a:ext cx="11057839" cy="932688"/>
          </a:xfrm>
          <a:prstGeom prst="roundRect">
            <a:avLst>
              <a:gd name="adj" fmla="val 5882"/>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8" name="Shape 6"/>
          <p:cNvSpPr/>
          <p:nvPr/>
        </p:nvSpPr>
        <p:spPr>
          <a:xfrm>
            <a:off x="841248" y="1947672"/>
            <a:ext cx="402336" cy="402336"/>
          </a:xfrm>
          <a:prstGeom prst="ellipse">
            <a:avLst/>
          </a:prstGeom>
          <a:solidFill>
            <a:srgbClr val="7A1A1E"/>
          </a:solidFill>
          <a:ln w="12700">
            <a:solidFill>
              <a:srgbClr val="7A1A1E"/>
            </a:solidFill>
            <a:prstDash val="solid"/>
          </a:ln>
        </p:spPr>
      </p:sp>
      <p:sp>
        <p:nvSpPr>
          <p:cNvPr id="9" name="Text 7"/>
          <p:cNvSpPr txBox="1"/>
          <p:nvPr/>
        </p:nvSpPr>
        <p:spPr>
          <a:xfrm>
            <a:off x="841248" y="1947672"/>
            <a:ext cx="402336" cy="402336"/>
          </a:xfrm>
          <a:prstGeom prst="rect">
            <a:avLst/>
          </a:prstGeom>
          <a:noFill/>
          <a:ln/>
        </p:spPr>
        <p:txBody>
          <a:bodyPr wrap="square" lIns="0" tIns="0" rIns="0" bIns="0" rtlCol="0" anchor="ctr"/>
          <a:lstStyle/>
          <a:p>
            <a:pPr algn="ctr" indent="0" marL="0">
              <a:buNone/>
            </a:pPr>
            <a:r>
              <a:rPr lang="en-US" sz="1300" b="1" dirty="0">
                <a:solidFill>
                  <a:srgbClr val="F0EBE4"/>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408176" y="1682496"/>
            <a:ext cx="2834640" cy="932688"/>
          </a:xfrm>
          <a:prstGeom prst="rect">
            <a:avLst/>
          </a:prstGeom>
          <a:noFill/>
          <a:ln/>
        </p:spPr>
        <p:txBody>
          <a:bodyPr wrap="square" lIns="0" tIns="0" rIns="0" bIns="0" rtlCol="0" anchor="ctr"/>
          <a:lstStyle/>
          <a:p>
            <a:pPr indent="0" marL="0">
              <a:buNone/>
            </a:pPr>
            <a:r>
              <a:rPr lang="en-US" sz="1450" b="1" dirty="0">
                <a:solidFill>
                  <a:srgbClr val="F0EBE4"/>
                </a:solidFill>
                <a:latin typeface="Cambria" pitchFamily="34" charset="0"/>
                <a:ea typeface="Cambria" pitchFamily="34" charset="-122"/>
                <a:cs typeface="Cambria" pitchFamily="34" charset="-120"/>
              </a:rPr>
              <a:t>Two EOS SDKs in one build</a:t>
            </a:r>
            <a:endParaRPr lang="en-US" sz="1450" dirty="0"/>
          </a:p>
        </p:txBody>
      </p:sp>
      <p:sp>
        <p:nvSpPr>
          <p:cNvPr id="11" name="Text 9"/>
          <p:cNvSpPr txBox="1"/>
          <p:nvPr/>
        </p:nvSpPr>
        <p:spPr>
          <a:xfrm>
            <a:off x="4334256" y="1682496"/>
            <a:ext cx="3200400" cy="932688"/>
          </a:xfrm>
          <a:prstGeom prst="rect">
            <a:avLst/>
          </a:prstGeom>
          <a:noFill/>
          <a:ln/>
        </p:spPr>
        <p:txBody>
          <a:bodyPr wrap="square" lIns="0" tIns="0" rIns="0" bIns="0" rtlCol="0" anchor="ctr"/>
          <a:lstStyle/>
          <a:p>
            <a:pPr indent="0" marL="0">
              <a:buNone/>
            </a:pPr>
            <a:r>
              <a:rPr lang="en-US" sz="1150" dirty="0">
                <a:solidFill>
                  <a:srgbClr val="9B95A2"/>
                </a:solidFill>
                <a:latin typeface="Calibri" pitchFamily="34" charset="0"/>
                <a:ea typeface="Calibri" pitchFamily="34" charset="-122"/>
                <a:cs typeface="Calibri" pitchFamily="34" charset="-120"/>
              </a:rPr>
              <a:t>Two different Epic integrations were installed, colliding on the same native library.</a:t>
            </a:r>
            <a:endParaRPr lang="en-US" sz="1150" dirty="0"/>
          </a:p>
        </p:txBody>
      </p:sp>
      <p:sp>
        <p:nvSpPr>
          <p:cNvPr id="12" name="Text 10"/>
          <p:cNvSpPr txBox="1"/>
          <p:nvPr/>
        </p:nvSpPr>
        <p:spPr>
          <a:xfrm>
            <a:off x="7680960" y="1682496"/>
            <a:ext cx="3657600" cy="932688"/>
          </a:xfrm>
          <a:prstGeom prst="rect">
            <a:avLst/>
          </a:prstGeom>
          <a:noFill/>
          <a:ln/>
        </p:spPr>
        <p:txBody>
          <a:bodyPr wrap="square" lIns="0" tIns="0" rIns="0" bIns="0" rtlCol="0" anchor="ctr"/>
          <a:lstStyle/>
          <a:p>
            <a:pPr indent="0" marL="0">
              <a:buNone/>
            </a:pPr>
            <a:r>
              <a:rPr lang="en-US" sz="1150" dirty="0">
                <a:solidFill>
                  <a:srgbClr val="5E9E6E"/>
                </a:solidFill>
                <a:latin typeface="Calibri" pitchFamily="34" charset="0"/>
                <a:ea typeface="Calibri" pitchFamily="34" charset="-122"/>
                <a:cs typeface="Calibri" pitchFamily="34" charset="-120"/>
              </a:rPr>
              <a:t>Removed the unused one. Build went to 0 errors.</a:t>
            </a:r>
            <a:endParaRPr lang="en-US" sz="1150" dirty="0"/>
          </a:p>
        </p:txBody>
      </p:sp>
      <p:sp>
        <p:nvSpPr>
          <p:cNvPr id="13" name="Shape 11"/>
          <p:cNvSpPr/>
          <p:nvPr/>
        </p:nvSpPr>
        <p:spPr>
          <a:xfrm>
            <a:off x="566928" y="2743200"/>
            <a:ext cx="11057839" cy="932688"/>
          </a:xfrm>
          <a:prstGeom prst="roundRect">
            <a:avLst>
              <a:gd name="adj" fmla="val 5882"/>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4" name="Shape 12"/>
          <p:cNvSpPr/>
          <p:nvPr/>
        </p:nvSpPr>
        <p:spPr>
          <a:xfrm>
            <a:off x="841248" y="3008376"/>
            <a:ext cx="402336" cy="402336"/>
          </a:xfrm>
          <a:prstGeom prst="ellipse">
            <a:avLst/>
          </a:prstGeom>
          <a:solidFill>
            <a:srgbClr val="7A1A1E"/>
          </a:solidFill>
          <a:ln w="12700">
            <a:solidFill>
              <a:srgbClr val="7A1A1E"/>
            </a:solidFill>
            <a:prstDash val="solid"/>
          </a:ln>
        </p:spPr>
      </p:sp>
      <p:sp>
        <p:nvSpPr>
          <p:cNvPr id="15" name="Text 13"/>
          <p:cNvSpPr txBox="1"/>
          <p:nvPr/>
        </p:nvSpPr>
        <p:spPr>
          <a:xfrm>
            <a:off x="841248" y="3008376"/>
            <a:ext cx="402336" cy="402336"/>
          </a:xfrm>
          <a:prstGeom prst="rect">
            <a:avLst/>
          </a:prstGeom>
          <a:noFill/>
          <a:ln/>
        </p:spPr>
        <p:txBody>
          <a:bodyPr wrap="square" lIns="0" tIns="0" rIns="0" bIns="0" rtlCol="0" anchor="ctr"/>
          <a:lstStyle/>
          <a:p>
            <a:pPr algn="ctr" indent="0" marL="0">
              <a:buNone/>
            </a:pPr>
            <a:r>
              <a:rPr lang="en-US" sz="1300" b="1" dirty="0">
                <a:solidFill>
                  <a:srgbClr val="F0EBE4"/>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1408176" y="2743200"/>
            <a:ext cx="2834640" cy="932688"/>
          </a:xfrm>
          <a:prstGeom prst="rect">
            <a:avLst/>
          </a:prstGeom>
          <a:noFill/>
          <a:ln/>
        </p:spPr>
        <p:txBody>
          <a:bodyPr wrap="square" lIns="0" tIns="0" rIns="0" bIns="0" rtlCol="0" anchor="ctr"/>
          <a:lstStyle/>
          <a:p>
            <a:pPr indent="0" marL="0">
              <a:buNone/>
            </a:pPr>
            <a:r>
              <a:rPr lang="en-US" sz="1450" b="1" dirty="0">
                <a:solidFill>
                  <a:srgbClr val="F0EBE4"/>
                </a:solidFill>
                <a:latin typeface="Cambria" pitchFamily="34" charset="0"/>
                <a:ea typeface="Cambria" pitchFamily="34" charset="-122"/>
                <a:cs typeface="Cambria" pitchFamily="34" charset="-120"/>
              </a:rPr>
              <a:t>Client saw an empty world</a:t>
            </a:r>
            <a:endParaRPr lang="en-US" sz="1450" dirty="0"/>
          </a:p>
        </p:txBody>
      </p:sp>
      <p:sp>
        <p:nvSpPr>
          <p:cNvPr id="17" name="Text 15"/>
          <p:cNvSpPr txBox="1"/>
          <p:nvPr/>
        </p:nvSpPr>
        <p:spPr>
          <a:xfrm>
            <a:off x="4334256" y="2743200"/>
            <a:ext cx="3200400" cy="932688"/>
          </a:xfrm>
          <a:prstGeom prst="rect">
            <a:avLst/>
          </a:prstGeom>
          <a:noFill/>
          <a:ln/>
        </p:spPr>
        <p:txBody>
          <a:bodyPr wrap="square" lIns="0" tIns="0" rIns="0" bIns="0" rtlCol="0" anchor="ctr"/>
          <a:lstStyle/>
          <a:p>
            <a:pPr indent="0" marL="0">
              <a:buNone/>
            </a:pPr>
            <a:r>
              <a:rPr lang="en-US" sz="1150" dirty="0">
                <a:solidFill>
                  <a:srgbClr val="9B95A2"/>
                </a:solidFill>
                <a:latin typeface="Calibri" pitchFamily="34" charset="0"/>
                <a:ea typeface="Calibri" pitchFamily="34" charset="-122"/>
                <a:cs typeface="Calibri" pitchFamily="34" charset="-120"/>
              </a:rPr>
              <a:t>A server can instantiate a prefab it references; a client can only spawn one that is registered.</a:t>
            </a:r>
            <a:endParaRPr lang="en-US" sz="1150" dirty="0"/>
          </a:p>
        </p:txBody>
      </p:sp>
      <p:sp>
        <p:nvSpPr>
          <p:cNvPr id="18" name="Text 16"/>
          <p:cNvSpPr txBox="1"/>
          <p:nvPr/>
        </p:nvSpPr>
        <p:spPr>
          <a:xfrm>
            <a:off x="7680960" y="2743200"/>
            <a:ext cx="3657600" cy="932688"/>
          </a:xfrm>
          <a:prstGeom prst="rect">
            <a:avLst/>
          </a:prstGeom>
          <a:noFill/>
          <a:ln/>
        </p:spPr>
        <p:txBody>
          <a:bodyPr wrap="square" lIns="0" tIns="0" rIns="0" bIns="0" rtlCol="0" anchor="ctr"/>
          <a:lstStyle/>
          <a:p>
            <a:pPr indent="0" marL="0">
              <a:buNone/>
            </a:pPr>
            <a:r>
              <a:rPr lang="en-US" sz="1150" dirty="0">
                <a:solidFill>
                  <a:srgbClr val="5E9E6E"/>
                </a:solidFill>
                <a:latin typeface="Calibri" pitchFamily="34" charset="0"/>
                <a:ea typeface="Calibri" pitchFamily="34" charset="-122"/>
                <a:cs typeface="Calibri" pitchFamily="34" charset="-120"/>
              </a:rPr>
              <a:t>Identified the checkout mismatch between machines.</a:t>
            </a:r>
            <a:endParaRPr lang="en-US" sz="1150" dirty="0"/>
          </a:p>
        </p:txBody>
      </p:sp>
      <p:sp>
        <p:nvSpPr>
          <p:cNvPr id="19" name="Shape 17"/>
          <p:cNvSpPr/>
          <p:nvPr/>
        </p:nvSpPr>
        <p:spPr>
          <a:xfrm>
            <a:off x="566928" y="3803904"/>
            <a:ext cx="11057839" cy="932688"/>
          </a:xfrm>
          <a:prstGeom prst="roundRect">
            <a:avLst>
              <a:gd name="adj" fmla="val 5882"/>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20" name="Shape 18"/>
          <p:cNvSpPr/>
          <p:nvPr/>
        </p:nvSpPr>
        <p:spPr>
          <a:xfrm>
            <a:off x="841248" y="4069080"/>
            <a:ext cx="402336" cy="402336"/>
          </a:xfrm>
          <a:prstGeom prst="ellipse">
            <a:avLst/>
          </a:prstGeom>
          <a:solidFill>
            <a:srgbClr val="7A1A1E"/>
          </a:solidFill>
          <a:ln w="12700">
            <a:solidFill>
              <a:srgbClr val="7A1A1E"/>
            </a:solidFill>
            <a:prstDash val="solid"/>
          </a:ln>
        </p:spPr>
      </p:sp>
      <p:sp>
        <p:nvSpPr>
          <p:cNvPr id="21" name="Text 19"/>
          <p:cNvSpPr txBox="1"/>
          <p:nvPr/>
        </p:nvSpPr>
        <p:spPr>
          <a:xfrm>
            <a:off x="841248" y="4069080"/>
            <a:ext cx="402336" cy="402336"/>
          </a:xfrm>
          <a:prstGeom prst="rect">
            <a:avLst/>
          </a:prstGeom>
          <a:noFill/>
          <a:ln/>
        </p:spPr>
        <p:txBody>
          <a:bodyPr wrap="square" lIns="0" tIns="0" rIns="0" bIns="0" rtlCol="0" anchor="ctr"/>
          <a:lstStyle/>
          <a:p>
            <a:pPr algn="ctr" indent="0" marL="0">
              <a:buNone/>
            </a:pPr>
            <a:r>
              <a:rPr lang="en-US" sz="1300" b="1" dirty="0">
                <a:solidFill>
                  <a:srgbClr val="F0EBE4"/>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1408176" y="3803904"/>
            <a:ext cx="2834640" cy="932688"/>
          </a:xfrm>
          <a:prstGeom prst="rect">
            <a:avLst/>
          </a:prstGeom>
          <a:noFill/>
          <a:ln/>
        </p:spPr>
        <p:txBody>
          <a:bodyPr wrap="square" lIns="0" tIns="0" rIns="0" bIns="0" rtlCol="0" anchor="ctr"/>
          <a:lstStyle/>
          <a:p>
            <a:pPr indent="0" marL="0">
              <a:buNone/>
            </a:pPr>
            <a:r>
              <a:rPr lang="en-US" sz="1450" b="1" dirty="0">
                <a:solidFill>
                  <a:srgbClr val="F0EBE4"/>
                </a:solidFill>
                <a:latin typeface="Cambria" pitchFamily="34" charset="0"/>
                <a:ea typeface="Cambria" pitchFamily="34" charset="-122"/>
                <a:cs typeface="Cambria" pitchFamily="34" charset="-120"/>
              </a:rPr>
              <a:t>Props vanished on Play</a:t>
            </a:r>
            <a:endParaRPr lang="en-US" sz="1450" dirty="0"/>
          </a:p>
        </p:txBody>
      </p:sp>
      <p:sp>
        <p:nvSpPr>
          <p:cNvPr id="23" name="Text 21"/>
          <p:cNvSpPr txBox="1"/>
          <p:nvPr/>
        </p:nvSpPr>
        <p:spPr>
          <a:xfrm>
            <a:off x="4334256" y="3803904"/>
            <a:ext cx="3200400" cy="932688"/>
          </a:xfrm>
          <a:prstGeom prst="rect">
            <a:avLst/>
          </a:prstGeom>
          <a:noFill/>
          <a:ln/>
        </p:spPr>
        <p:txBody>
          <a:bodyPr wrap="square" lIns="0" tIns="0" rIns="0" bIns="0" rtlCol="0" anchor="ctr"/>
          <a:lstStyle/>
          <a:p>
            <a:pPr indent="0" marL="0">
              <a:buNone/>
            </a:pPr>
            <a:r>
              <a:rPr lang="en-US" sz="1150" dirty="0">
                <a:solidFill>
                  <a:srgbClr val="9B95A2"/>
                </a:solidFill>
                <a:latin typeface="Calibri" pitchFamily="34" charset="0"/>
                <a:ea typeface="Calibri" pitchFamily="34" charset="-122"/>
                <a:cs typeface="Calibri" pitchFamily="34" charset="-120"/>
              </a:rPr>
              <a:t>Mirror disables scene objects after Awake, so an Awake-time fix runs too early to see it.</a:t>
            </a:r>
            <a:endParaRPr lang="en-US" sz="1150" dirty="0"/>
          </a:p>
        </p:txBody>
      </p:sp>
      <p:sp>
        <p:nvSpPr>
          <p:cNvPr id="24" name="Text 22"/>
          <p:cNvSpPr txBox="1"/>
          <p:nvPr/>
        </p:nvSpPr>
        <p:spPr>
          <a:xfrm>
            <a:off x="7680960" y="3803904"/>
            <a:ext cx="3657600" cy="932688"/>
          </a:xfrm>
          <a:prstGeom prst="rect">
            <a:avLst/>
          </a:prstGeom>
          <a:noFill/>
          <a:ln/>
        </p:spPr>
        <p:txBody>
          <a:bodyPr wrap="square" lIns="0" tIns="0" rIns="0" bIns="0" rtlCol="0" anchor="ctr"/>
          <a:lstStyle/>
          <a:p>
            <a:pPr indent="0" marL="0">
              <a:buNone/>
            </a:pPr>
            <a:r>
              <a:rPr lang="en-US" sz="1150" dirty="0">
                <a:solidFill>
                  <a:srgbClr val="5E9E6E"/>
                </a:solidFill>
                <a:latin typeface="Calibri" pitchFamily="34" charset="0"/>
                <a:ea typeface="Calibri" pitchFamily="34" charset="-122"/>
                <a:cs typeface="Calibri" pitchFamily="34" charset="-120"/>
              </a:rPr>
              <a:t>Rewrote the fix to watch across frames.</a:t>
            </a:r>
            <a:endParaRPr lang="en-US" sz="1150" dirty="0"/>
          </a:p>
        </p:txBody>
      </p:sp>
      <p:sp>
        <p:nvSpPr>
          <p:cNvPr id="25" name="Shape 23"/>
          <p:cNvSpPr/>
          <p:nvPr/>
        </p:nvSpPr>
        <p:spPr>
          <a:xfrm>
            <a:off x="566928" y="4864608"/>
            <a:ext cx="11057839" cy="932688"/>
          </a:xfrm>
          <a:prstGeom prst="roundRect">
            <a:avLst>
              <a:gd name="adj" fmla="val 5882"/>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26" name="Shape 24"/>
          <p:cNvSpPr/>
          <p:nvPr/>
        </p:nvSpPr>
        <p:spPr>
          <a:xfrm>
            <a:off x="841248" y="5129784"/>
            <a:ext cx="402336" cy="402336"/>
          </a:xfrm>
          <a:prstGeom prst="ellipse">
            <a:avLst/>
          </a:prstGeom>
          <a:solidFill>
            <a:srgbClr val="7A1A1E"/>
          </a:solidFill>
          <a:ln w="12700">
            <a:solidFill>
              <a:srgbClr val="7A1A1E"/>
            </a:solidFill>
            <a:prstDash val="solid"/>
          </a:ln>
        </p:spPr>
      </p:sp>
      <p:sp>
        <p:nvSpPr>
          <p:cNvPr id="27" name="Text 25"/>
          <p:cNvSpPr txBox="1"/>
          <p:nvPr/>
        </p:nvSpPr>
        <p:spPr>
          <a:xfrm>
            <a:off x="841248" y="5129784"/>
            <a:ext cx="402336" cy="402336"/>
          </a:xfrm>
          <a:prstGeom prst="rect">
            <a:avLst/>
          </a:prstGeom>
          <a:noFill/>
          <a:ln/>
        </p:spPr>
        <p:txBody>
          <a:bodyPr wrap="square" lIns="0" tIns="0" rIns="0" bIns="0" rtlCol="0" anchor="ctr"/>
          <a:lstStyle/>
          <a:p>
            <a:pPr algn="ctr" indent="0" marL="0">
              <a:buNone/>
            </a:pPr>
            <a:r>
              <a:rPr lang="en-US" sz="1300" b="1" dirty="0">
                <a:solidFill>
                  <a:srgbClr val="F0EBE4"/>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1408176" y="4864608"/>
            <a:ext cx="2834640" cy="932688"/>
          </a:xfrm>
          <a:prstGeom prst="rect">
            <a:avLst/>
          </a:prstGeom>
          <a:noFill/>
          <a:ln/>
        </p:spPr>
        <p:txBody>
          <a:bodyPr wrap="square" lIns="0" tIns="0" rIns="0" bIns="0" rtlCol="0" anchor="ctr"/>
          <a:lstStyle/>
          <a:p>
            <a:pPr indent="0" marL="0">
              <a:buNone/>
            </a:pPr>
            <a:r>
              <a:rPr lang="en-US" sz="1450" b="1" dirty="0">
                <a:solidFill>
                  <a:srgbClr val="F0EBE4"/>
                </a:solidFill>
                <a:latin typeface="Cambria" pitchFamily="34" charset="0"/>
                <a:ea typeface="Cambria" pitchFamily="34" charset="-122"/>
                <a:cs typeface="Cambria" pitchFamily="34" charset="-120"/>
              </a:rPr>
              <a:t>Lobby creation rejected</a:t>
            </a:r>
            <a:endParaRPr lang="en-US" sz="1450" dirty="0"/>
          </a:p>
        </p:txBody>
      </p:sp>
      <p:sp>
        <p:nvSpPr>
          <p:cNvPr id="29" name="Text 27"/>
          <p:cNvSpPr txBox="1"/>
          <p:nvPr/>
        </p:nvSpPr>
        <p:spPr>
          <a:xfrm>
            <a:off x="4334256" y="4864608"/>
            <a:ext cx="3200400" cy="932688"/>
          </a:xfrm>
          <a:prstGeom prst="rect">
            <a:avLst/>
          </a:prstGeom>
          <a:noFill/>
          <a:ln/>
        </p:spPr>
        <p:txBody>
          <a:bodyPr wrap="square" lIns="0" tIns="0" rIns="0" bIns="0" rtlCol="0" anchor="ctr"/>
          <a:lstStyle/>
          <a:p>
            <a:pPr indent="0" marL="0">
              <a:buNone/>
            </a:pPr>
            <a:r>
              <a:rPr lang="en-US" sz="1150" dirty="0">
                <a:solidFill>
                  <a:srgbClr val="9B95A2"/>
                </a:solidFill>
                <a:latin typeface="Calibri" pitchFamily="34" charset="0"/>
                <a:ea typeface="Calibri" pitchFamily="34" charset="-122"/>
                <a:cs typeface="Calibri" pitchFamily="34" charset="-120"/>
              </a:rPr>
              <a:t>Epic login is asynchronous; the button could be pressed before login finished.</a:t>
            </a:r>
            <a:endParaRPr lang="en-US" sz="1150" dirty="0"/>
          </a:p>
        </p:txBody>
      </p:sp>
      <p:sp>
        <p:nvSpPr>
          <p:cNvPr id="30" name="Text 28"/>
          <p:cNvSpPr txBox="1"/>
          <p:nvPr/>
        </p:nvSpPr>
        <p:spPr>
          <a:xfrm>
            <a:off x="7680960" y="4864608"/>
            <a:ext cx="3657600" cy="932688"/>
          </a:xfrm>
          <a:prstGeom prst="rect">
            <a:avLst/>
          </a:prstGeom>
          <a:noFill/>
          <a:ln/>
        </p:spPr>
        <p:txBody>
          <a:bodyPr wrap="square" lIns="0" tIns="0" rIns="0" bIns="0" rtlCol="0" anchor="ctr"/>
          <a:lstStyle/>
          <a:p>
            <a:pPr indent="0" marL="0">
              <a:buNone/>
            </a:pPr>
            <a:r>
              <a:rPr lang="en-US" sz="1150" dirty="0">
                <a:solidFill>
                  <a:srgbClr val="5E9E6E"/>
                </a:solidFill>
                <a:latin typeface="Calibri" pitchFamily="34" charset="0"/>
                <a:ea typeface="Calibri" pitchFamily="34" charset="-122"/>
                <a:cs typeface="Calibri" pitchFamily="34" charset="-120"/>
              </a:rPr>
              <a:t>Gated room creation on login state.</a:t>
            </a:r>
            <a:endParaRPr lang="en-US" sz="1150" dirty="0"/>
          </a:p>
        </p:txBody>
      </p:sp>
      <p:sp>
        <p:nvSpPr>
          <p:cNvPr id="31" name="Text 29"/>
          <p:cNvSpPr txBox="1"/>
          <p:nvPr/>
        </p:nvSpPr>
        <p:spPr>
          <a:xfrm>
            <a:off x="566928" y="5998464"/>
            <a:ext cx="11057839" cy="292608"/>
          </a:xfrm>
          <a:prstGeom prst="rect">
            <a:avLst/>
          </a:prstGeom>
          <a:noFill/>
          <a:ln/>
        </p:spPr>
        <p:txBody>
          <a:bodyPr wrap="square" lIns="0" tIns="0" rIns="0" bIns="0" rtlCol="0" anchor="ctr"/>
          <a:lstStyle/>
          <a:p>
            <a:pPr indent="0" marL="0">
              <a:buNone/>
            </a:pPr>
            <a:r>
              <a:rPr lang="en-US" sz="1200" i="1" dirty="0">
                <a:solidFill>
                  <a:srgbClr val="6E6876"/>
                </a:solidFill>
                <a:latin typeface="Calibri" pitchFamily="34" charset="0"/>
                <a:ea typeface="Calibri" pitchFamily="34" charset="-122"/>
                <a:cs typeface="Calibri" pitchFamily="34" charset="-120"/>
              </a:rPr>
              <a:t>Common thread: each was found by reading the third-party source rather than guessing at its behaviour.</a:t>
            </a:r>
            <a:endParaRPr lang="en-US" sz="1200" dirty="0"/>
          </a:p>
        </p:txBody>
      </p:sp>
      <p:sp>
        <p:nvSpPr>
          <p:cNvPr id="32" name="Text 30"/>
          <p:cNvSpPr txBox="1"/>
          <p:nvPr/>
        </p:nvSpPr>
        <p:spPr>
          <a:xfrm>
            <a:off x="566928" y="6382512"/>
            <a:ext cx="6095848" cy="274320"/>
          </a:xfrm>
          <a:prstGeom prst="rect">
            <a:avLst/>
          </a:prstGeom>
          <a:noFill/>
          <a:ln/>
        </p:spPr>
        <p:txBody>
          <a:bodyPr wrap="square" lIns="0" tIns="0" rIns="0" bIns="0" rtlCol="0" anchor="ctr"/>
          <a:lstStyle/>
          <a:p>
            <a:pPr indent="0" marL="0">
              <a:buNone/>
            </a:pPr>
            <a:r>
              <a:rPr lang="en-US" sz="950" dirty="0">
                <a:solidFill>
                  <a:srgbClr val="6E6876"/>
                </a:solidFill>
                <a:latin typeface="Calibri" pitchFamily="34" charset="0"/>
                <a:ea typeface="Calibri" pitchFamily="34" charset="-122"/>
                <a:cs typeface="Calibri" pitchFamily="34" charset="-120"/>
              </a:rPr>
              <a:t>Pre-Thesis Demo  |  Programming Status Report</a:t>
            </a:r>
            <a:endParaRPr lang="en-US" sz="950" dirty="0"/>
          </a:p>
        </p:txBody>
      </p:sp>
      <p:sp>
        <p:nvSpPr>
          <p:cNvPr id="33" name="Text 31"/>
          <p:cNvSpPr txBox="1"/>
          <p:nvPr/>
        </p:nvSpPr>
        <p:spPr>
          <a:xfrm>
            <a:off x="6095848" y="6382512"/>
            <a:ext cx="5528920" cy="274320"/>
          </a:xfrm>
          <a:prstGeom prst="rect">
            <a:avLst/>
          </a:prstGeom>
          <a:noFill/>
          <a:ln/>
        </p:spPr>
        <p:txBody>
          <a:bodyPr wrap="square" lIns="0" tIns="0" rIns="0" bIns="0" rtlCol="0" anchor="ctr"/>
          <a:lstStyle/>
          <a:p>
            <a:pPr algn="r" indent="0" marL="0">
              <a:buNone/>
            </a:pPr>
            <a:r>
              <a:rPr lang="en-US" sz="950" dirty="0">
                <a:solidFill>
                  <a:srgbClr val="C1272D"/>
                </a:solidFill>
                <a:latin typeface="Calibri" pitchFamily="34" charset="0"/>
                <a:ea typeface="Calibri" pitchFamily="34" charset="-122"/>
                <a:cs typeface="Calibri" pitchFamily="34" charset="-120"/>
              </a:rPr>
              <a:t>07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21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C1272D"/>
                </a:solidFill>
                <a:latin typeface="Calibri" pitchFamily="34" charset="0"/>
                <a:ea typeface="Calibri" pitchFamily="34" charset="-122"/>
                <a:cs typeface="Calibri" pitchFamily="34" charset="-120"/>
              </a:rPr>
              <a:t>FORWARD</a:t>
            </a:r>
            <a:endParaRPr lang="en-US" sz="115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F0EBE4"/>
                </a:solidFill>
                <a:latin typeface="Cambria" pitchFamily="34" charset="0"/>
                <a:ea typeface="Cambria" pitchFamily="34" charset="-122"/>
                <a:cs typeface="Cambria" pitchFamily="34" charset="-120"/>
              </a:rPr>
              <a:t>Next week's plan</a:t>
            </a:r>
            <a:endParaRPr lang="en-US" sz="3200" dirty="0"/>
          </a:p>
        </p:txBody>
      </p:sp>
      <p:sp>
        <p:nvSpPr>
          <p:cNvPr id="4" name="Shape 2"/>
          <p:cNvSpPr/>
          <p:nvPr/>
        </p:nvSpPr>
        <p:spPr>
          <a:xfrm>
            <a:off x="566928" y="1645920"/>
            <a:ext cx="5349240" cy="3054096"/>
          </a:xfrm>
          <a:prstGeom prst="roundRect">
            <a:avLst>
              <a:gd name="adj" fmla="val 1796"/>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5" name="Text 3"/>
          <p:cNvSpPr txBox="1"/>
          <p:nvPr/>
        </p:nvSpPr>
        <p:spPr>
          <a:xfrm>
            <a:off x="896112" y="1847088"/>
            <a:ext cx="4663440" cy="329184"/>
          </a:xfrm>
          <a:prstGeom prst="rect">
            <a:avLst/>
          </a:prstGeom>
          <a:noFill/>
          <a:ln/>
        </p:spPr>
        <p:txBody>
          <a:bodyPr wrap="square" lIns="0" tIns="0" rIns="0" bIns="0" rtlCol="0" anchor="ctr"/>
          <a:lstStyle/>
          <a:p>
            <a:pPr indent="0" marL="0">
              <a:buNone/>
            </a:pPr>
            <a:r>
              <a:rPr lang="en-US" sz="1700" b="1" dirty="0">
                <a:solidFill>
                  <a:srgbClr val="F0EBE4"/>
                </a:solidFill>
                <a:latin typeface="Cambria" pitchFamily="34" charset="0"/>
                <a:ea typeface="Cambria" pitchFamily="34" charset="-122"/>
                <a:cs typeface="Cambria" pitchFamily="34" charset="-120"/>
              </a:rPr>
              <a:t>Mr. Kongkidakorn Chuayjang</a:t>
            </a:r>
            <a:endParaRPr lang="en-US" sz="1700" dirty="0"/>
          </a:p>
        </p:txBody>
      </p:sp>
      <p:sp>
        <p:nvSpPr>
          <p:cNvPr id="6" name="Text 4"/>
          <p:cNvSpPr txBox="1"/>
          <p:nvPr/>
        </p:nvSpPr>
        <p:spPr>
          <a:xfrm>
            <a:off x="896112" y="2194560"/>
            <a:ext cx="4663440" cy="237744"/>
          </a:xfrm>
          <a:prstGeom prst="rect">
            <a:avLst/>
          </a:prstGeom>
          <a:noFill/>
          <a:ln/>
        </p:spPr>
        <p:txBody>
          <a:bodyPr wrap="square" lIns="0" tIns="0" rIns="0" bIns="0" rtlCol="0" anchor="ctr"/>
          <a:lstStyle/>
          <a:p>
            <a:pPr indent="0" marL="0">
              <a:buNone/>
            </a:pPr>
            <a:r>
              <a:rPr lang="en-US" sz="950" b="1" spc="140" kern="0" dirty="0">
                <a:solidFill>
                  <a:srgbClr val="C1272D"/>
                </a:solidFill>
                <a:latin typeface="Calibri" pitchFamily="34" charset="0"/>
                <a:ea typeface="Calibri" pitchFamily="34" charset="-122"/>
                <a:cs typeface="Calibri" pitchFamily="34" charset="-120"/>
              </a:rPr>
              <a:t>HEAD PROGRAMMER</a:t>
            </a:r>
            <a:endParaRPr lang="en-US" sz="950" dirty="0"/>
          </a:p>
        </p:txBody>
      </p:sp>
      <p:sp>
        <p:nvSpPr>
          <p:cNvPr id="7" name="Text 5"/>
          <p:cNvSpPr txBox="1"/>
          <p:nvPr/>
        </p:nvSpPr>
        <p:spPr>
          <a:xfrm>
            <a:off x="896112" y="2578608"/>
            <a:ext cx="4690872" cy="201168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Build the room browser UI on the working search</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Move the match out of the menu scene into a real level</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Private-room password exchange after join</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Start the 13 Rules system: state container and sync model</a:t>
            </a:r>
            <a:endParaRPr lang="en-US" sz="1300" dirty="0"/>
          </a:p>
        </p:txBody>
      </p:sp>
      <p:sp>
        <p:nvSpPr>
          <p:cNvPr id="8" name="Shape 6"/>
          <p:cNvSpPr/>
          <p:nvPr/>
        </p:nvSpPr>
        <p:spPr>
          <a:xfrm>
            <a:off x="6272784" y="1645920"/>
            <a:ext cx="5349240" cy="3054096"/>
          </a:xfrm>
          <a:prstGeom prst="roundRect">
            <a:avLst>
              <a:gd name="adj" fmla="val 1796"/>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9" name="Text 7"/>
          <p:cNvSpPr txBox="1"/>
          <p:nvPr/>
        </p:nvSpPr>
        <p:spPr>
          <a:xfrm>
            <a:off x="6601968" y="1847088"/>
            <a:ext cx="4663440" cy="329184"/>
          </a:xfrm>
          <a:prstGeom prst="rect">
            <a:avLst/>
          </a:prstGeom>
          <a:noFill/>
          <a:ln/>
        </p:spPr>
        <p:txBody>
          <a:bodyPr wrap="square" lIns="0" tIns="0" rIns="0" bIns="0" rtlCol="0" anchor="ctr"/>
          <a:lstStyle/>
          <a:p>
            <a:pPr indent="0" marL="0">
              <a:buNone/>
            </a:pPr>
            <a:r>
              <a:rPr lang="en-US" sz="1700" b="1" dirty="0">
                <a:solidFill>
                  <a:srgbClr val="F0EBE4"/>
                </a:solidFill>
                <a:latin typeface="Cambria" pitchFamily="34" charset="0"/>
                <a:ea typeface="Cambria" pitchFamily="34" charset="-122"/>
                <a:cs typeface="Cambria" pitchFamily="34" charset="-120"/>
              </a:rPr>
              <a:t>Mr. Atiroj Kemwanicha</a:t>
            </a:r>
            <a:endParaRPr lang="en-US" sz="1700" dirty="0"/>
          </a:p>
        </p:txBody>
      </p:sp>
      <p:sp>
        <p:nvSpPr>
          <p:cNvPr id="10" name="Text 8"/>
          <p:cNvSpPr txBox="1"/>
          <p:nvPr/>
        </p:nvSpPr>
        <p:spPr>
          <a:xfrm>
            <a:off x="6601968" y="2194560"/>
            <a:ext cx="4663440" cy="237744"/>
          </a:xfrm>
          <a:prstGeom prst="rect">
            <a:avLst/>
          </a:prstGeom>
          <a:noFill/>
          <a:ln/>
        </p:spPr>
        <p:txBody>
          <a:bodyPr wrap="square" lIns="0" tIns="0" rIns="0" bIns="0" rtlCol="0" anchor="ctr"/>
          <a:lstStyle/>
          <a:p>
            <a:pPr indent="0" marL="0">
              <a:buNone/>
            </a:pPr>
            <a:r>
              <a:rPr lang="en-US" sz="950" b="1" spc="140" kern="0" dirty="0">
                <a:solidFill>
                  <a:srgbClr val="5487B0"/>
                </a:solidFill>
                <a:latin typeface="Calibri" pitchFamily="34" charset="0"/>
                <a:ea typeface="Calibri" pitchFamily="34" charset="-122"/>
                <a:cs typeface="Calibri" pitchFamily="34" charset="-120"/>
              </a:rPr>
              <a:t>SUB PROGRAMMER</a:t>
            </a:r>
            <a:endParaRPr lang="en-US" sz="950" dirty="0"/>
          </a:p>
        </p:txBody>
      </p:sp>
      <p:sp>
        <p:nvSpPr>
          <p:cNvPr id="11" name="Text 9"/>
          <p:cNvSpPr txBox="1"/>
          <p:nvPr/>
        </p:nvSpPr>
        <p:spPr>
          <a:xfrm>
            <a:off x="6601968" y="2578608"/>
            <a:ext cx="4690872" cy="201168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Extend interaction to the equipment the demo needs</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Tune downed / revive timings against playtest feel</a:t>
            </a:r>
            <a:endParaRPr lang="en-US" sz="1300" dirty="0"/>
          </a:p>
          <a:p>
            <a:pPr marL="342900" indent="-342900">
              <a:spcAft>
                <a:spcPts val="700"/>
              </a:spcAft>
              <a:buSzPct val="100000"/>
              <a:buChar char="•"/>
            </a:pPr>
            <a:r>
              <a:rPr lang="en-US" sz="1300" dirty="0">
                <a:solidFill>
                  <a:srgbClr val="F0EBE4"/>
                </a:solidFill>
                <a:latin typeface="Calibri" pitchFamily="34" charset="0"/>
                <a:ea typeface="Calibri" pitchFamily="34" charset="-122"/>
                <a:cs typeface="Calibri" pitchFamily="34" charset="-120"/>
              </a:rPr>
              <a:t>Author the props and triggers for the demo map</a:t>
            </a:r>
            <a:endParaRPr lang="en-US" sz="1300" dirty="0"/>
          </a:p>
        </p:txBody>
      </p:sp>
      <p:sp>
        <p:nvSpPr>
          <p:cNvPr id="12" name="Shape 10"/>
          <p:cNvSpPr/>
          <p:nvPr/>
        </p:nvSpPr>
        <p:spPr>
          <a:xfrm>
            <a:off x="566928" y="4937760"/>
            <a:ext cx="11057839" cy="1170432"/>
          </a:xfrm>
          <a:prstGeom prst="roundRect">
            <a:avLst>
              <a:gd name="adj" fmla="val 4688"/>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3" name="Text 11"/>
          <p:cNvSpPr txBox="1"/>
          <p:nvPr/>
        </p:nvSpPr>
        <p:spPr>
          <a:xfrm>
            <a:off x="896112" y="5102352"/>
            <a:ext cx="3657600" cy="292608"/>
          </a:xfrm>
          <a:prstGeom prst="rect">
            <a:avLst/>
          </a:prstGeom>
          <a:noFill/>
          <a:ln/>
        </p:spPr>
        <p:txBody>
          <a:bodyPr wrap="square" lIns="0" tIns="0" rIns="0" bIns="0" rtlCol="0" anchor="ctr"/>
          <a:lstStyle/>
          <a:p>
            <a:pPr indent="0" marL="0">
              <a:buNone/>
            </a:pPr>
            <a:r>
              <a:rPr lang="en-US" sz="1250" b="1" dirty="0">
                <a:solidFill>
                  <a:srgbClr val="C1272D"/>
                </a:solidFill>
                <a:latin typeface="Calibri" pitchFamily="34" charset="0"/>
                <a:ea typeface="Calibri" pitchFamily="34" charset="-122"/>
                <a:cs typeface="Calibri" pitchFamily="34" charset="-120"/>
              </a:rPr>
              <a:t>Priority call for Week 4</a:t>
            </a:r>
            <a:endParaRPr lang="en-US" sz="1250" dirty="0"/>
          </a:p>
        </p:txBody>
      </p:sp>
      <p:sp>
        <p:nvSpPr>
          <p:cNvPr id="14" name="Text 12"/>
          <p:cNvSpPr txBox="1"/>
          <p:nvPr/>
        </p:nvSpPr>
        <p:spPr>
          <a:xfrm>
            <a:off x="896112" y="5394960"/>
            <a:ext cx="10607040" cy="566928"/>
          </a:xfrm>
          <a:prstGeom prst="rect">
            <a:avLst/>
          </a:prstGeom>
          <a:noFill/>
          <a:ln/>
        </p:spPr>
        <p:txBody>
          <a:bodyPr wrap="square" lIns="0" tIns="0" rIns="0" bIns="0" rtlCol="0" anchor="ctr"/>
          <a:lstStyle/>
          <a:p>
            <a:pPr indent="0" marL="0">
              <a:buNone/>
            </a:pPr>
            <a:r>
              <a:rPr lang="en-US" sz="1250" dirty="0">
                <a:solidFill>
                  <a:srgbClr val="9B95A2"/>
                </a:solidFill>
                <a:latin typeface="Calibri" pitchFamily="34" charset="0"/>
                <a:ea typeface="Calibri" pitchFamily="34" charset="-122"/>
                <a:cs typeface="Calibri" pitchFamily="34" charset="-120"/>
              </a:rPr>
              <a:t>The 13 Rules of Horror is the design thesis and is still at zero lines. The networking foundation is finished, so it is time to stop building infrastructure and start building the game the project is actually about.</a:t>
            </a:r>
            <a:endParaRPr lang="en-US" sz="1250" dirty="0"/>
          </a:p>
        </p:txBody>
      </p:sp>
      <p:sp>
        <p:nvSpPr>
          <p:cNvPr id="15" name="Text 13"/>
          <p:cNvSpPr txBox="1"/>
          <p:nvPr/>
        </p:nvSpPr>
        <p:spPr>
          <a:xfrm>
            <a:off x="566928" y="6382512"/>
            <a:ext cx="6095848" cy="274320"/>
          </a:xfrm>
          <a:prstGeom prst="rect">
            <a:avLst/>
          </a:prstGeom>
          <a:noFill/>
          <a:ln/>
        </p:spPr>
        <p:txBody>
          <a:bodyPr wrap="square" lIns="0" tIns="0" rIns="0" bIns="0" rtlCol="0" anchor="ctr"/>
          <a:lstStyle/>
          <a:p>
            <a:pPr indent="0" marL="0">
              <a:buNone/>
            </a:pPr>
            <a:r>
              <a:rPr lang="en-US" sz="950" dirty="0">
                <a:solidFill>
                  <a:srgbClr val="6E6876"/>
                </a:solidFill>
                <a:latin typeface="Calibri" pitchFamily="34" charset="0"/>
                <a:ea typeface="Calibri" pitchFamily="34" charset="-122"/>
                <a:cs typeface="Calibri" pitchFamily="34" charset="-120"/>
              </a:rPr>
              <a:t>Pre-Thesis Demo  |  Programming Status Report</a:t>
            </a:r>
            <a:endParaRPr lang="en-US" sz="950" dirty="0"/>
          </a:p>
        </p:txBody>
      </p:sp>
      <p:sp>
        <p:nvSpPr>
          <p:cNvPr id="16" name="Text 14"/>
          <p:cNvSpPr txBox="1"/>
          <p:nvPr/>
        </p:nvSpPr>
        <p:spPr>
          <a:xfrm>
            <a:off x="6095848" y="6382512"/>
            <a:ext cx="5528920" cy="274320"/>
          </a:xfrm>
          <a:prstGeom prst="rect">
            <a:avLst/>
          </a:prstGeom>
          <a:noFill/>
          <a:ln/>
        </p:spPr>
        <p:txBody>
          <a:bodyPr wrap="square" lIns="0" tIns="0" rIns="0" bIns="0" rtlCol="0" anchor="ctr"/>
          <a:lstStyle/>
          <a:p>
            <a:pPr algn="r" indent="0" marL="0">
              <a:buNone/>
            </a:pPr>
            <a:r>
              <a:rPr lang="en-US" sz="950" dirty="0">
                <a:solidFill>
                  <a:srgbClr val="C1272D"/>
                </a:solidFill>
                <a:latin typeface="Calibri" pitchFamily="34" charset="0"/>
                <a:ea typeface="Calibri" pitchFamily="34" charset="-122"/>
                <a:cs typeface="Calibri" pitchFamily="34" charset="-120"/>
              </a:rPr>
              <a:t>08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21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C1272D"/>
                </a:solidFill>
                <a:latin typeface="Calibri" pitchFamily="34" charset="0"/>
                <a:ea typeface="Calibri" pitchFamily="34" charset="-122"/>
                <a:cs typeface="Calibri" pitchFamily="34" charset="-120"/>
              </a:rPr>
              <a:t>SUMMARY  ·  12 AUG – 12 SEP 2026</a:t>
            </a:r>
            <a:endParaRPr lang="en-US" sz="115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200" b="1" dirty="0">
                <a:solidFill>
                  <a:srgbClr val="F0EBE4"/>
                </a:solidFill>
                <a:latin typeface="Cambria" pitchFamily="34" charset="0"/>
                <a:ea typeface="Cambria" pitchFamily="34" charset="-122"/>
                <a:cs typeface="Cambria" pitchFamily="34" charset="-120"/>
              </a:rPr>
              <a:t>Everything built so far</a:t>
            </a:r>
            <a:endParaRPr lang="en-US" sz="3200" dirty="0"/>
          </a:p>
        </p:txBody>
      </p:sp>
      <p:sp>
        <p:nvSpPr>
          <p:cNvPr id="4" name="Shape 2"/>
          <p:cNvSpPr/>
          <p:nvPr/>
        </p:nvSpPr>
        <p:spPr>
          <a:xfrm>
            <a:off x="566928" y="1554480"/>
            <a:ext cx="3514954" cy="3529584"/>
          </a:xfrm>
          <a:prstGeom prst="roundRect">
            <a:avLst>
              <a:gd name="adj" fmla="val 1561"/>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5" name="Text 3"/>
          <p:cNvSpPr txBox="1"/>
          <p:nvPr/>
        </p:nvSpPr>
        <p:spPr>
          <a:xfrm>
            <a:off x="859536" y="1773936"/>
            <a:ext cx="2926080" cy="329184"/>
          </a:xfrm>
          <a:prstGeom prst="rect">
            <a:avLst/>
          </a:prstGeom>
          <a:noFill/>
          <a:ln/>
        </p:spPr>
        <p:txBody>
          <a:bodyPr wrap="square" lIns="0" tIns="0" rIns="0" bIns="0" rtlCol="0" anchor="ctr"/>
          <a:lstStyle/>
          <a:p>
            <a:pPr indent="0" marL="0">
              <a:buNone/>
            </a:pPr>
            <a:r>
              <a:rPr lang="en-US" sz="1800" b="1" dirty="0">
                <a:solidFill>
                  <a:srgbClr val="C1272D"/>
                </a:solidFill>
                <a:latin typeface="Cambria" pitchFamily="34" charset="0"/>
                <a:ea typeface="Cambria" pitchFamily="34" charset="-122"/>
                <a:cs typeface="Cambria" pitchFamily="34" charset="-120"/>
              </a:rPr>
              <a:t>Foundations</a:t>
            </a:r>
            <a:endParaRPr lang="en-US" sz="1800" dirty="0"/>
          </a:p>
        </p:txBody>
      </p:sp>
      <p:sp>
        <p:nvSpPr>
          <p:cNvPr id="6" name="Text 4"/>
          <p:cNvSpPr txBox="1"/>
          <p:nvPr/>
        </p:nvSpPr>
        <p:spPr>
          <a:xfrm>
            <a:off x="859536" y="2139696"/>
            <a:ext cx="2980944" cy="2798064"/>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AES-256 encrypted local save system</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Auto-load before first scene; one source of truth</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Permanent items capped at 1, lost on drop or death</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Custom Inspector for live save contents</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Editor tooling for network setup checks</a:t>
            </a:r>
            <a:endParaRPr lang="en-US" sz="1150" dirty="0"/>
          </a:p>
        </p:txBody>
      </p:sp>
      <p:sp>
        <p:nvSpPr>
          <p:cNvPr id="7" name="Shape 5"/>
          <p:cNvSpPr/>
          <p:nvPr/>
        </p:nvSpPr>
        <p:spPr>
          <a:xfrm>
            <a:off x="4337914" y="1554480"/>
            <a:ext cx="3514954" cy="3529584"/>
          </a:xfrm>
          <a:prstGeom prst="roundRect">
            <a:avLst>
              <a:gd name="adj" fmla="val 1561"/>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8" name="Text 6"/>
          <p:cNvSpPr txBox="1"/>
          <p:nvPr/>
        </p:nvSpPr>
        <p:spPr>
          <a:xfrm>
            <a:off x="4630522" y="1773936"/>
            <a:ext cx="2926080" cy="329184"/>
          </a:xfrm>
          <a:prstGeom prst="rect">
            <a:avLst/>
          </a:prstGeom>
          <a:noFill/>
          <a:ln/>
        </p:spPr>
        <p:txBody>
          <a:bodyPr wrap="square" lIns="0" tIns="0" rIns="0" bIns="0" rtlCol="0" anchor="ctr"/>
          <a:lstStyle/>
          <a:p>
            <a:pPr indent="0" marL="0">
              <a:buNone/>
            </a:pPr>
            <a:r>
              <a:rPr lang="en-US" sz="1800" b="1" dirty="0">
                <a:solidFill>
                  <a:srgbClr val="5E9E6E"/>
                </a:solidFill>
                <a:latin typeface="Cambria" pitchFamily="34" charset="0"/>
                <a:ea typeface="Cambria" pitchFamily="34" charset="-122"/>
                <a:cs typeface="Cambria" pitchFamily="34" charset="-120"/>
              </a:rPr>
              <a:t>Networking</a:t>
            </a:r>
            <a:endParaRPr lang="en-US" sz="1800" dirty="0"/>
          </a:p>
        </p:txBody>
      </p:sp>
      <p:sp>
        <p:nvSpPr>
          <p:cNvPr id="9" name="Text 7"/>
          <p:cNvSpPr txBox="1"/>
          <p:nvPr/>
        </p:nvSpPr>
        <p:spPr>
          <a:xfrm>
            <a:off x="4630522" y="2139696"/>
            <a:ext cx="2980944" cy="2798064"/>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Mirror + Epic Online Services integrated and building clean</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Create room → EOS lobby → Mirror host</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Find rooms → every open room with map, difficulty, player count</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Join by Epic product user ID — no IP, no port forwarding</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Two-machine session verified: both players spawn and move</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Offline ↔ online dual mode for solo testing</a:t>
            </a:r>
            <a:endParaRPr lang="en-US" sz="1150" dirty="0"/>
          </a:p>
        </p:txBody>
      </p:sp>
      <p:sp>
        <p:nvSpPr>
          <p:cNvPr id="10" name="Shape 8"/>
          <p:cNvSpPr/>
          <p:nvPr/>
        </p:nvSpPr>
        <p:spPr>
          <a:xfrm>
            <a:off x="8108899" y="1554480"/>
            <a:ext cx="3514954" cy="3529584"/>
          </a:xfrm>
          <a:prstGeom prst="roundRect">
            <a:avLst>
              <a:gd name="adj" fmla="val 1561"/>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1" name="Text 9"/>
          <p:cNvSpPr txBox="1"/>
          <p:nvPr/>
        </p:nvSpPr>
        <p:spPr>
          <a:xfrm>
            <a:off x="8401507" y="1773936"/>
            <a:ext cx="2926080" cy="329184"/>
          </a:xfrm>
          <a:prstGeom prst="rect">
            <a:avLst/>
          </a:prstGeom>
          <a:noFill/>
          <a:ln/>
        </p:spPr>
        <p:txBody>
          <a:bodyPr wrap="square" lIns="0" tIns="0" rIns="0" bIns="0" rtlCol="0" anchor="ctr"/>
          <a:lstStyle/>
          <a:p>
            <a:pPr indent="0" marL="0">
              <a:buNone/>
            </a:pPr>
            <a:r>
              <a:rPr lang="en-US" sz="1800" b="1" dirty="0">
                <a:solidFill>
                  <a:srgbClr val="5487B0"/>
                </a:solidFill>
                <a:latin typeface="Cambria" pitchFamily="34" charset="0"/>
                <a:ea typeface="Cambria" pitchFamily="34" charset="-122"/>
                <a:cs typeface="Cambria" pitchFamily="34" charset="-120"/>
              </a:rPr>
              <a:t>Gameplay</a:t>
            </a:r>
            <a:endParaRPr lang="en-US" sz="1800" dirty="0"/>
          </a:p>
        </p:txBody>
      </p:sp>
      <p:sp>
        <p:nvSpPr>
          <p:cNvPr id="12" name="Text 10"/>
          <p:cNvSpPr txBox="1"/>
          <p:nvPr/>
        </p:nvSpPr>
        <p:spPr>
          <a:xfrm>
            <a:off x="8401507" y="2139696"/>
            <a:ext cx="2980944" cy="2798064"/>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First-person movement and camera</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Interaction system: doors, levers, props</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Health and damage model</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Downed / revive with synced timer</a:t>
            </a:r>
            <a:endParaRPr lang="en-US" sz="1150" dirty="0"/>
          </a:p>
          <a:p>
            <a:pPr marL="342900" indent="-342900">
              <a:spcAft>
                <a:spcPts val="700"/>
              </a:spcAft>
              <a:buSzPct val="100000"/>
              <a:buChar char="•"/>
            </a:pPr>
            <a:r>
              <a:rPr lang="en-US" sz="1150" dirty="0">
                <a:solidFill>
                  <a:srgbClr val="F0EBE4"/>
                </a:solidFill>
                <a:latin typeface="Calibri" pitchFamily="34" charset="0"/>
                <a:ea typeface="Calibri" pitchFamily="34" charset="-122"/>
                <a:cs typeface="Calibri" pitchFamily="34" charset="-120"/>
              </a:rPr>
              <a:t>All of the above rewritten to server authority</a:t>
            </a:r>
            <a:endParaRPr lang="en-US" sz="1150" dirty="0"/>
          </a:p>
        </p:txBody>
      </p:sp>
      <p:sp>
        <p:nvSpPr>
          <p:cNvPr id="13" name="Shape 11"/>
          <p:cNvSpPr/>
          <p:nvPr/>
        </p:nvSpPr>
        <p:spPr>
          <a:xfrm>
            <a:off x="566928" y="5340096"/>
            <a:ext cx="2585923" cy="768096"/>
          </a:xfrm>
          <a:prstGeom prst="roundRect">
            <a:avLst>
              <a:gd name="adj" fmla="val 7143"/>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4" name="Text 12"/>
          <p:cNvSpPr txBox="1"/>
          <p:nvPr/>
        </p:nvSpPr>
        <p:spPr>
          <a:xfrm>
            <a:off x="786384" y="5440680"/>
            <a:ext cx="1188720" cy="566928"/>
          </a:xfrm>
          <a:prstGeom prst="rect">
            <a:avLst/>
          </a:prstGeom>
          <a:noFill/>
          <a:ln/>
        </p:spPr>
        <p:txBody>
          <a:bodyPr wrap="square" lIns="0" tIns="0" rIns="0" bIns="0" rtlCol="0" anchor="ctr"/>
          <a:lstStyle/>
          <a:p>
            <a:pPr indent="0" marL="0">
              <a:buNone/>
            </a:pPr>
            <a:r>
              <a:rPr lang="en-US" sz="2200" b="1" dirty="0">
                <a:solidFill>
                  <a:srgbClr val="C1272D"/>
                </a:solidFill>
                <a:latin typeface="Cambria" pitchFamily="34" charset="0"/>
                <a:ea typeface="Cambria" pitchFamily="34" charset="-122"/>
                <a:cs typeface="Cambria" pitchFamily="34" charset="-120"/>
              </a:rPr>
              <a:t>21</a:t>
            </a:r>
            <a:endParaRPr lang="en-US" sz="2200" dirty="0"/>
          </a:p>
        </p:txBody>
      </p:sp>
      <p:sp>
        <p:nvSpPr>
          <p:cNvPr id="15" name="Text 13"/>
          <p:cNvSpPr txBox="1"/>
          <p:nvPr/>
        </p:nvSpPr>
        <p:spPr>
          <a:xfrm>
            <a:off x="1956816" y="5440680"/>
            <a:ext cx="1097280" cy="566928"/>
          </a:xfrm>
          <a:prstGeom prst="rect">
            <a:avLst/>
          </a:prstGeom>
          <a:noFill/>
          <a:ln/>
        </p:spPr>
        <p:txBody>
          <a:bodyPr wrap="square" lIns="0" tIns="0" rIns="0" bIns="0" rtlCol="0" anchor="ctr"/>
          <a:lstStyle/>
          <a:p>
            <a:pPr indent="0" marL="0">
              <a:buNone/>
            </a:pPr>
            <a:r>
              <a:rPr lang="en-US" sz="1100" dirty="0">
                <a:solidFill>
                  <a:srgbClr val="9B95A2"/>
                </a:solidFill>
                <a:latin typeface="Calibri" pitchFamily="34" charset="0"/>
                <a:ea typeface="Calibri" pitchFamily="34" charset="-122"/>
                <a:cs typeface="Calibri" pitchFamily="34" charset="-120"/>
              </a:rPr>
              <a:t>C# scripts</a:t>
            </a:r>
            <a:endParaRPr lang="en-US" sz="1100" dirty="0"/>
          </a:p>
        </p:txBody>
      </p:sp>
      <p:sp>
        <p:nvSpPr>
          <p:cNvPr id="16" name="Shape 14"/>
          <p:cNvSpPr/>
          <p:nvPr/>
        </p:nvSpPr>
        <p:spPr>
          <a:xfrm>
            <a:off x="3390595" y="5340096"/>
            <a:ext cx="2585923" cy="768096"/>
          </a:xfrm>
          <a:prstGeom prst="roundRect">
            <a:avLst>
              <a:gd name="adj" fmla="val 7143"/>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17" name="Text 15"/>
          <p:cNvSpPr txBox="1"/>
          <p:nvPr/>
        </p:nvSpPr>
        <p:spPr>
          <a:xfrm>
            <a:off x="3610051" y="5440680"/>
            <a:ext cx="1188720" cy="566928"/>
          </a:xfrm>
          <a:prstGeom prst="rect">
            <a:avLst/>
          </a:prstGeom>
          <a:noFill/>
          <a:ln/>
        </p:spPr>
        <p:txBody>
          <a:bodyPr wrap="square" lIns="0" tIns="0" rIns="0" bIns="0" rtlCol="0" anchor="ctr"/>
          <a:lstStyle/>
          <a:p>
            <a:pPr indent="0" marL="0">
              <a:buNone/>
            </a:pPr>
            <a:r>
              <a:rPr lang="en-US" sz="2200" b="1" dirty="0">
                <a:solidFill>
                  <a:srgbClr val="C1272D"/>
                </a:solidFill>
                <a:latin typeface="Cambria" pitchFamily="34" charset="0"/>
                <a:ea typeface="Cambria" pitchFamily="34" charset="-122"/>
                <a:cs typeface="Cambria" pitchFamily="34" charset="-120"/>
              </a:rPr>
              <a:t>2,821</a:t>
            </a:r>
            <a:endParaRPr lang="en-US" sz="2200" dirty="0"/>
          </a:p>
        </p:txBody>
      </p:sp>
      <p:sp>
        <p:nvSpPr>
          <p:cNvPr id="18" name="Text 16"/>
          <p:cNvSpPr txBox="1"/>
          <p:nvPr/>
        </p:nvSpPr>
        <p:spPr>
          <a:xfrm>
            <a:off x="4780483" y="5440680"/>
            <a:ext cx="1097280" cy="566928"/>
          </a:xfrm>
          <a:prstGeom prst="rect">
            <a:avLst/>
          </a:prstGeom>
          <a:noFill/>
          <a:ln/>
        </p:spPr>
        <p:txBody>
          <a:bodyPr wrap="square" lIns="0" tIns="0" rIns="0" bIns="0" rtlCol="0" anchor="ctr"/>
          <a:lstStyle/>
          <a:p>
            <a:pPr indent="0" marL="0">
              <a:buNone/>
            </a:pPr>
            <a:r>
              <a:rPr lang="en-US" sz="1100" dirty="0">
                <a:solidFill>
                  <a:srgbClr val="9B95A2"/>
                </a:solidFill>
                <a:latin typeface="Calibri" pitchFamily="34" charset="0"/>
                <a:ea typeface="Calibri" pitchFamily="34" charset="-122"/>
                <a:cs typeface="Calibri" pitchFamily="34" charset="-120"/>
              </a:rPr>
              <a:t>lines of C#</a:t>
            </a:r>
            <a:endParaRPr lang="en-US" sz="1100" dirty="0"/>
          </a:p>
        </p:txBody>
      </p:sp>
      <p:sp>
        <p:nvSpPr>
          <p:cNvPr id="19" name="Shape 17"/>
          <p:cNvSpPr/>
          <p:nvPr/>
        </p:nvSpPr>
        <p:spPr>
          <a:xfrm>
            <a:off x="6214262" y="5340096"/>
            <a:ext cx="2585923" cy="768096"/>
          </a:xfrm>
          <a:prstGeom prst="roundRect">
            <a:avLst>
              <a:gd name="adj" fmla="val 7143"/>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20" name="Text 18"/>
          <p:cNvSpPr txBox="1"/>
          <p:nvPr/>
        </p:nvSpPr>
        <p:spPr>
          <a:xfrm>
            <a:off x="6433718" y="5440680"/>
            <a:ext cx="1188720" cy="566928"/>
          </a:xfrm>
          <a:prstGeom prst="rect">
            <a:avLst/>
          </a:prstGeom>
          <a:noFill/>
          <a:ln/>
        </p:spPr>
        <p:txBody>
          <a:bodyPr wrap="square" lIns="0" tIns="0" rIns="0" bIns="0" rtlCol="0" anchor="ctr"/>
          <a:lstStyle/>
          <a:p>
            <a:pPr indent="0" marL="0">
              <a:buNone/>
            </a:pPr>
            <a:r>
              <a:rPr lang="en-US" sz="2200" b="1" dirty="0">
                <a:solidFill>
                  <a:srgbClr val="C1272D"/>
                </a:solidFill>
                <a:latin typeface="Cambria" pitchFamily="34" charset="0"/>
                <a:ea typeface="Cambria" pitchFamily="34" charset="-122"/>
                <a:cs typeface="Cambria" pitchFamily="34" charset="-120"/>
              </a:rPr>
              <a:t>5</a:t>
            </a:r>
            <a:endParaRPr lang="en-US" sz="2200" dirty="0"/>
          </a:p>
        </p:txBody>
      </p:sp>
      <p:sp>
        <p:nvSpPr>
          <p:cNvPr id="21" name="Text 19"/>
          <p:cNvSpPr txBox="1"/>
          <p:nvPr/>
        </p:nvSpPr>
        <p:spPr>
          <a:xfrm>
            <a:off x="7604150" y="5440680"/>
            <a:ext cx="1097280" cy="566928"/>
          </a:xfrm>
          <a:prstGeom prst="rect">
            <a:avLst/>
          </a:prstGeom>
          <a:noFill/>
          <a:ln/>
        </p:spPr>
        <p:txBody>
          <a:bodyPr wrap="square" lIns="0" tIns="0" rIns="0" bIns="0" rtlCol="0" anchor="ctr"/>
          <a:lstStyle/>
          <a:p>
            <a:pPr indent="0" marL="0">
              <a:buNone/>
            </a:pPr>
            <a:r>
              <a:rPr lang="en-US" sz="1100" dirty="0">
                <a:solidFill>
                  <a:srgbClr val="9B95A2"/>
                </a:solidFill>
                <a:latin typeface="Calibri" pitchFamily="34" charset="0"/>
                <a:ea typeface="Calibri" pitchFamily="34" charset="-122"/>
                <a:cs typeface="Calibri" pitchFamily="34" charset="-120"/>
              </a:rPr>
              <a:t>Unity scenes</a:t>
            </a:r>
            <a:endParaRPr lang="en-US" sz="1100" dirty="0"/>
          </a:p>
        </p:txBody>
      </p:sp>
      <p:sp>
        <p:nvSpPr>
          <p:cNvPr id="22" name="Shape 20"/>
          <p:cNvSpPr/>
          <p:nvPr/>
        </p:nvSpPr>
        <p:spPr>
          <a:xfrm>
            <a:off x="9037930" y="5340096"/>
            <a:ext cx="2585923" cy="768096"/>
          </a:xfrm>
          <a:prstGeom prst="roundRect">
            <a:avLst>
              <a:gd name="adj" fmla="val 7143"/>
            </a:avLst>
          </a:prstGeom>
          <a:solidFill>
            <a:srgbClr val="1E1E26"/>
          </a:solidFill>
          <a:ln w="9525">
            <a:solidFill>
              <a:srgbClr val="2A2A34"/>
            </a:solidFill>
            <a:prstDash val="solid"/>
          </a:ln>
          <a:effectLst>
            <a:outerShdw sx="100000" sy="100000" kx="0" ky="0" algn="bl" rotWithShape="0" blurRad="101600" dist="25400" dir="5400000">
              <a:srgbClr val="000000">
                <a:alpha val="35000"/>
              </a:srgbClr>
            </a:outerShdw>
          </a:effectLst>
        </p:spPr>
      </p:sp>
      <p:sp>
        <p:nvSpPr>
          <p:cNvPr id="23" name="Text 21"/>
          <p:cNvSpPr txBox="1"/>
          <p:nvPr/>
        </p:nvSpPr>
        <p:spPr>
          <a:xfrm>
            <a:off x="9257386" y="5440680"/>
            <a:ext cx="1188720" cy="566928"/>
          </a:xfrm>
          <a:prstGeom prst="rect">
            <a:avLst/>
          </a:prstGeom>
          <a:noFill/>
          <a:ln/>
        </p:spPr>
        <p:txBody>
          <a:bodyPr wrap="square" lIns="0" tIns="0" rIns="0" bIns="0" rtlCol="0" anchor="ctr"/>
          <a:lstStyle/>
          <a:p>
            <a:pPr indent="0" marL="0">
              <a:buNone/>
            </a:pPr>
            <a:r>
              <a:rPr lang="en-US" sz="2200" b="1" dirty="0">
                <a:solidFill>
                  <a:srgbClr val="C1272D"/>
                </a:solidFill>
                <a:latin typeface="Cambria" pitchFamily="34" charset="0"/>
                <a:ea typeface="Cambria" pitchFamily="34" charset="-122"/>
                <a:cs typeface="Cambria" pitchFamily="34" charset="-120"/>
              </a:rPr>
              <a:t>0 / 0</a:t>
            </a:r>
            <a:endParaRPr lang="en-US" sz="2200" dirty="0"/>
          </a:p>
        </p:txBody>
      </p:sp>
      <p:sp>
        <p:nvSpPr>
          <p:cNvPr id="24" name="Text 22"/>
          <p:cNvSpPr txBox="1"/>
          <p:nvPr/>
        </p:nvSpPr>
        <p:spPr>
          <a:xfrm>
            <a:off x="10427818" y="5440680"/>
            <a:ext cx="1097280" cy="566928"/>
          </a:xfrm>
          <a:prstGeom prst="rect">
            <a:avLst/>
          </a:prstGeom>
          <a:noFill/>
          <a:ln/>
        </p:spPr>
        <p:txBody>
          <a:bodyPr wrap="square" lIns="0" tIns="0" rIns="0" bIns="0" rtlCol="0" anchor="ctr"/>
          <a:lstStyle/>
          <a:p>
            <a:pPr indent="0" marL="0">
              <a:buNone/>
            </a:pPr>
            <a:r>
              <a:rPr lang="en-US" sz="1100" dirty="0">
                <a:solidFill>
                  <a:srgbClr val="9B95A2"/>
                </a:solidFill>
                <a:latin typeface="Calibri" pitchFamily="34" charset="0"/>
                <a:ea typeface="Calibri" pitchFamily="34" charset="-122"/>
                <a:cs typeface="Calibri" pitchFamily="34" charset="-120"/>
              </a:rPr>
              <a:t>errors / warnings</a:t>
            </a:r>
            <a:endParaRPr lang="en-US" sz="1100" dirty="0"/>
          </a:p>
        </p:txBody>
      </p:sp>
      <p:sp>
        <p:nvSpPr>
          <p:cNvPr id="25" name="Text 23"/>
          <p:cNvSpPr txBox="1"/>
          <p:nvPr/>
        </p:nvSpPr>
        <p:spPr>
          <a:xfrm>
            <a:off x="566928" y="6382512"/>
            <a:ext cx="6095848" cy="274320"/>
          </a:xfrm>
          <a:prstGeom prst="rect">
            <a:avLst/>
          </a:prstGeom>
          <a:noFill/>
          <a:ln/>
        </p:spPr>
        <p:txBody>
          <a:bodyPr wrap="square" lIns="0" tIns="0" rIns="0" bIns="0" rtlCol="0" anchor="ctr"/>
          <a:lstStyle/>
          <a:p>
            <a:pPr indent="0" marL="0">
              <a:buNone/>
            </a:pPr>
            <a:r>
              <a:rPr lang="en-US" sz="950" dirty="0">
                <a:solidFill>
                  <a:srgbClr val="6E6876"/>
                </a:solidFill>
                <a:latin typeface="Calibri" pitchFamily="34" charset="0"/>
                <a:ea typeface="Calibri" pitchFamily="34" charset="-122"/>
                <a:cs typeface="Calibri" pitchFamily="34" charset="-120"/>
              </a:rPr>
              <a:t>Pre-Thesis Demo  |  Programming Status Report</a:t>
            </a:r>
            <a:endParaRPr lang="en-US" sz="950" dirty="0"/>
          </a:p>
        </p:txBody>
      </p:sp>
      <p:sp>
        <p:nvSpPr>
          <p:cNvPr id="26" name="Text 24"/>
          <p:cNvSpPr txBox="1"/>
          <p:nvPr/>
        </p:nvSpPr>
        <p:spPr>
          <a:xfrm>
            <a:off x="6095848" y="6382512"/>
            <a:ext cx="5528920" cy="274320"/>
          </a:xfrm>
          <a:prstGeom prst="rect">
            <a:avLst/>
          </a:prstGeom>
          <a:noFill/>
          <a:ln/>
        </p:spPr>
        <p:txBody>
          <a:bodyPr wrap="square" lIns="0" tIns="0" rIns="0" bIns="0" rtlCol="0" anchor="ctr"/>
          <a:lstStyle/>
          <a:p>
            <a:pPr algn="r" indent="0" marL="0">
              <a:buNone/>
            </a:pPr>
            <a:r>
              <a:rPr lang="en-US" sz="950" dirty="0">
                <a:solidFill>
                  <a:srgbClr val="C1272D"/>
                </a:solidFill>
                <a:latin typeface="Calibri" pitchFamily="34" charset="0"/>
                <a:ea typeface="Calibri" pitchFamily="34" charset="-122"/>
                <a:cs typeface="Calibri" pitchFamily="34" charset="-120"/>
              </a:rPr>
              <a:t>Week 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Pre-Thesis Demo - Programming Status Report - Week 3</dc:title>
  <dc:subject>PptxGenJS Presentation</dc:subject>
  <dc:creator>Kongkidakorn Chuayjang</dc:creator>
  <cp:lastModifiedBy>Kongkidakorn Chuayjang</cp:lastModifiedBy>
  <cp:revision>1</cp:revision>
  <dcterms:created xsi:type="dcterms:W3CDTF">2026-09-12T12:36:16Z</dcterms:created>
  <dcterms:modified xsi:type="dcterms:W3CDTF">2026-09-12T12:36:16Z</dcterms:modified>
</cp:coreProperties>
</file>