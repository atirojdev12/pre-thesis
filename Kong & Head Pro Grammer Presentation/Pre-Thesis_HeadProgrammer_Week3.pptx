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4" Type="http://schemas.openxmlformats.org/officeDocument/2006/relationships/slide" Target="slides/slide10.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Week 3 report. Headline: the demo crossed from single-machine prototype to a real online session between two clients.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 name="Shape 27"/>
        <p:cNvGrpSpPr/>
        <p:nvPr/>
      </p:nvGrpSpPr>
      <p:grpSpPr>
        <a:xfrm>
          <a:off x="0" y="0"/>
          <a:ext cx="0" cy="0"/>
          <a:chOff x="0" y="0"/>
          <a:chExt cx="0" cy="0"/>
        </a:xfrm>
      </p:grpSpPr>
      <p:sp>
        <p:nvSpPr>
          <p:cNvPr id="28" name="Google Shape;28;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 name="Google Shape;29;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 name="Google Shape;30;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 name="Google Shape;55;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 name="Google Shape;7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next three slides are the evidence for these three milestones, in order.</a:t>
            </a:r>
            <a:endParaRPr/>
          </a:p>
        </p:txBody>
      </p:sp>
      <p:sp>
        <p:nvSpPr>
          <p:cNvPr id="79" name="Google Shape;7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 name="Google Shape;10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 name="Google Shape;10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 name="Google Shape;12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 name="Google Shape;141;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 name="Google Shape;16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2" name="Google Shape;16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9" name="Google Shape;199;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 name="Google Shape;218;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on this slide. One month in: the demo has a working online session, a server-authoritative gameplay layer, an encrypted save system, and a clean build. Remaining work is the 13 Rules system, the demo map, and the room browser UI.</a:t>
            </a:r>
            <a:endParaRPr/>
          </a:p>
        </p:txBody>
      </p:sp>
      <p:sp>
        <p:nvSpPr>
          <p:cNvPr id="219" name="Google Shape;219;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D"/>
        </a:solidFill>
      </p:bgPr>
    </p:bg>
    <p:spTree>
      <p:nvGrpSpPr>
        <p:cNvPr id="15" name="Shape 15"/>
        <p:cNvGrpSpPr/>
        <p:nvPr/>
      </p:nvGrpSpPr>
      <p:grpSpPr>
        <a:xfrm>
          <a:off x="0" y="0"/>
          <a:ext cx="0" cy="0"/>
          <a:chOff x="0" y="0"/>
          <a:chExt cx="0" cy="0"/>
        </a:xfrm>
      </p:grpSpPr>
      <p:sp>
        <p:nvSpPr>
          <p:cNvPr id="16" name="Google Shape;16;p3"/>
          <p:cNvSpPr txBox="1"/>
          <p:nvPr/>
        </p:nvSpPr>
        <p:spPr>
          <a:xfrm>
            <a:off x="658368" y="2029968"/>
            <a:ext cx="11057839"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300"/>
              <a:buFont typeface="Calibri"/>
              <a:buNone/>
            </a:pPr>
            <a:r>
              <a:rPr b="1" i="0" lang="en-US" sz="1300" u="none" cap="none" strike="noStrike">
                <a:solidFill>
                  <a:srgbClr val="C1272D"/>
                </a:solidFill>
                <a:latin typeface="Calibri"/>
                <a:ea typeface="Calibri"/>
                <a:cs typeface="Calibri"/>
                <a:sym typeface="Calibri"/>
              </a:rPr>
              <a:t>PROGRAMMING STATUS REPORT  ·  WEEK 3</a:t>
            </a:r>
            <a:endParaRPr b="0" i="0" sz="1300" u="none" cap="none" strike="noStrike">
              <a:solidFill>
                <a:schemeClr val="dk1"/>
              </a:solidFill>
              <a:latin typeface="Calibri"/>
              <a:ea typeface="Calibri"/>
              <a:cs typeface="Calibri"/>
              <a:sym typeface="Calibri"/>
            </a:endParaRPr>
          </a:p>
        </p:txBody>
      </p:sp>
      <p:sp>
        <p:nvSpPr>
          <p:cNvPr id="17" name="Google Shape;17;p3"/>
          <p:cNvSpPr txBox="1"/>
          <p:nvPr/>
        </p:nvSpPr>
        <p:spPr>
          <a:xfrm>
            <a:off x="658368" y="2377440"/>
            <a:ext cx="11057839"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5400"/>
              <a:buFont typeface="Cambria"/>
              <a:buNone/>
            </a:pPr>
            <a:r>
              <a:rPr b="1" i="0" lang="en-US" sz="5400" u="none" cap="none" strike="noStrike">
                <a:solidFill>
                  <a:srgbClr val="F0EBE4"/>
                </a:solidFill>
                <a:latin typeface="Cambria"/>
                <a:ea typeface="Cambria"/>
                <a:cs typeface="Cambria"/>
                <a:sym typeface="Cambria"/>
              </a:rPr>
              <a:t>Pre-Thesis Demo</a:t>
            </a:r>
            <a:endParaRPr b="0" i="0" sz="5400" u="none" cap="none" strike="noStrike">
              <a:solidFill>
                <a:schemeClr val="dk1"/>
              </a:solidFill>
              <a:latin typeface="Calibri"/>
              <a:ea typeface="Calibri"/>
              <a:cs typeface="Calibri"/>
              <a:sym typeface="Calibri"/>
            </a:endParaRPr>
          </a:p>
        </p:txBody>
      </p:sp>
      <p:sp>
        <p:nvSpPr>
          <p:cNvPr id="18" name="Google Shape;18;p3"/>
          <p:cNvSpPr txBox="1"/>
          <p:nvPr/>
        </p:nvSpPr>
        <p:spPr>
          <a:xfrm>
            <a:off x="658368" y="3310128"/>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700"/>
              <a:buFont typeface="Calibri"/>
              <a:buNone/>
            </a:pPr>
            <a:r>
              <a:rPr b="0" i="0" lang="en-US" sz="1700" u="none" cap="none" strike="noStrike">
                <a:solidFill>
                  <a:srgbClr val="9B95A2"/>
                </a:solidFill>
                <a:latin typeface="Calibri"/>
                <a:ea typeface="Calibri"/>
                <a:cs typeface="Calibri"/>
                <a:sym typeface="Calibri"/>
              </a:rPr>
              <a:t>A 1–6 player online co-op psychological horror game</a:t>
            </a:r>
            <a:endParaRPr b="0" i="0" sz="1700" u="none" cap="none" strike="noStrike">
              <a:solidFill>
                <a:schemeClr val="dk1"/>
              </a:solidFill>
              <a:latin typeface="Calibri"/>
              <a:ea typeface="Calibri"/>
              <a:cs typeface="Calibri"/>
              <a:sym typeface="Calibri"/>
            </a:endParaRPr>
          </a:p>
        </p:txBody>
      </p:sp>
      <p:sp>
        <p:nvSpPr>
          <p:cNvPr id="19" name="Google Shape;19;p3"/>
          <p:cNvSpPr txBox="1"/>
          <p:nvPr/>
        </p:nvSpPr>
        <p:spPr>
          <a:xfrm>
            <a:off x="658368" y="367588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1300"/>
              <a:buFont typeface="Calibri"/>
              <a:buNone/>
            </a:pPr>
            <a:r>
              <a:rPr b="0" i="0" lang="en-US" sz="1300" u="none" cap="none" strike="noStrike">
                <a:solidFill>
                  <a:srgbClr val="6E6876"/>
                </a:solidFill>
                <a:latin typeface="Calibri"/>
                <a:ea typeface="Calibri"/>
                <a:cs typeface="Calibri"/>
                <a:sym typeface="Calibri"/>
              </a:rPr>
              <a:t>Unity 6.5  ·  Mirror  ·  Epic Online Services</a:t>
            </a:r>
            <a:endParaRPr b="0" i="0" sz="1300" u="none" cap="none" strike="noStrike">
              <a:solidFill>
                <a:schemeClr val="dk1"/>
              </a:solidFill>
              <a:latin typeface="Calibri"/>
              <a:ea typeface="Calibri"/>
              <a:cs typeface="Calibri"/>
              <a:sym typeface="Calibri"/>
            </a:endParaRPr>
          </a:p>
        </p:txBody>
      </p:sp>
      <p:sp>
        <p:nvSpPr>
          <p:cNvPr id="20" name="Google Shape;20;p3"/>
          <p:cNvSpPr txBox="1"/>
          <p:nvPr/>
        </p:nvSpPr>
        <p:spPr>
          <a:xfrm>
            <a:off x="658368" y="4443984"/>
            <a:ext cx="3520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900"/>
              <a:buFont typeface="Calibri"/>
              <a:buNone/>
            </a:pPr>
            <a:r>
              <a:rPr b="1" i="0" lang="en-US" sz="900" u="none" cap="none" strike="noStrike">
                <a:solidFill>
                  <a:srgbClr val="C1272D"/>
                </a:solidFill>
                <a:latin typeface="Calibri"/>
                <a:ea typeface="Calibri"/>
                <a:cs typeface="Calibri"/>
                <a:sym typeface="Calibri"/>
              </a:rPr>
              <a:t>REPORTING WEEK</a:t>
            </a:r>
            <a:endParaRPr b="0" i="0" sz="900" u="none" cap="none" strike="noStrike">
              <a:solidFill>
                <a:schemeClr val="dk1"/>
              </a:solidFill>
              <a:latin typeface="Calibri"/>
              <a:ea typeface="Calibri"/>
              <a:cs typeface="Calibri"/>
              <a:sym typeface="Calibri"/>
            </a:endParaRPr>
          </a:p>
        </p:txBody>
      </p:sp>
      <p:sp>
        <p:nvSpPr>
          <p:cNvPr id="21" name="Google Shape;21;p3"/>
          <p:cNvSpPr txBox="1"/>
          <p:nvPr/>
        </p:nvSpPr>
        <p:spPr>
          <a:xfrm>
            <a:off x="658368" y="4681728"/>
            <a:ext cx="35204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300"/>
              <a:buFont typeface="Calibri"/>
              <a:buNone/>
            </a:pPr>
            <a:r>
              <a:rPr b="0" i="0" lang="en-US" sz="1300" u="none" cap="none" strike="noStrike">
                <a:solidFill>
                  <a:srgbClr val="F0EBE4"/>
                </a:solidFill>
                <a:latin typeface="Calibri"/>
                <a:ea typeface="Calibri"/>
                <a:cs typeface="Calibri"/>
                <a:sym typeface="Calibri"/>
              </a:rPr>
              <a:t>Week 3 </a:t>
            </a:r>
            <a:endParaRPr b="0" i="0" sz="1300" u="none" cap="none" strike="noStrike">
              <a:solidFill>
                <a:schemeClr val="dk1"/>
              </a:solidFill>
              <a:latin typeface="Calibri"/>
              <a:ea typeface="Calibri"/>
              <a:cs typeface="Calibri"/>
              <a:sym typeface="Calibri"/>
            </a:endParaRPr>
          </a:p>
        </p:txBody>
      </p:sp>
      <p:sp>
        <p:nvSpPr>
          <p:cNvPr id="22" name="Google Shape;22;p3"/>
          <p:cNvSpPr txBox="1"/>
          <p:nvPr/>
        </p:nvSpPr>
        <p:spPr>
          <a:xfrm>
            <a:off x="4361688" y="4443984"/>
            <a:ext cx="3520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900"/>
              <a:buFont typeface="Calibri"/>
              <a:buNone/>
            </a:pPr>
            <a:r>
              <a:rPr b="1" i="0" lang="en-US" sz="900" u="none" cap="none" strike="noStrike">
                <a:solidFill>
                  <a:srgbClr val="C1272D"/>
                </a:solidFill>
                <a:latin typeface="Calibri"/>
                <a:ea typeface="Calibri"/>
                <a:cs typeface="Calibri"/>
                <a:sym typeface="Calibri"/>
              </a:rPr>
              <a:t>HEAD PROGRAMMER</a:t>
            </a:r>
            <a:endParaRPr b="0" i="0" sz="900" u="none" cap="none" strike="noStrike">
              <a:solidFill>
                <a:schemeClr val="dk1"/>
              </a:solidFill>
              <a:latin typeface="Calibri"/>
              <a:ea typeface="Calibri"/>
              <a:cs typeface="Calibri"/>
              <a:sym typeface="Calibri"/>
            </a:endParaRPr>
          </a:p>
        </p:txBody>
      </p:sp>
      <p:sp>
        <p:nvSpPr>
          <p:cNvPr id="23" name="Google Shape;23;p3"/>
          <p:cNvSpPr txBox="1"/>
          <p:nvPr/>
        </p:nvSpPr>
        <p:spPr>
          <a:xfrm>
            <a:off x="4361688" y="4681728"/>
            <a:ext cx="35204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300"/>
              <a:buFont typeface="Calibri"/>
              <a:buNone/>
            </a:pPr>
            <a:r>
              <a:rPr b="0" i="0" lang="en-US" sz="1300" u="none" cap="none" strike="noStrike">
                <a:solidFill>
                  <a:srgbClr val="F0EBE4"/>
                </a:solidFill>
                <a:latin typeface="Calibri"/>
                <a:ea typeface="Calibri"/>
                <a:cs typeface="Calibri"/>
                <a:sym typeface="Calibri"/>
              </a:rPr>
              <a:t>Mr. Kongkidakorn Chuayjang</a:t>
            </a:r>
            <a:endParaRPr b="0" i="0" sz="1300" u="none" cap="none" strike="noStrike">
              <a:solidFill>
                <a:schemeClr val="dk1"/>
              </a:solidFill>
              <a:latin typeface="Calibri"/>
              <a:ea typeface="Calibri"/>
              <a:cs typeface="Calibri"/>
              <a:sym typeface="Calibri"/>
            </a:endParaRPr>
          </a:p>
        </p:txBody>
      </p:sp>
      <p:sp>
        <p:nvSpPr>
          <p:cNvPr id="24" name="Google Shape;24;p3"/>
          <p:cNvSpPr txBox="1"/>
          <p:nvPr/>
        </p:nvSpPr>
        <p:spPr>
          <a:xfrm>
            <a:off x="8065008" y="4443984"/>
            <a:ext cx="3520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900"/>
              <a:buFont typeface="Calibri"/>
              <a:buNone/>
            </a:pPr>
            <a:r>
              <a:rPr b="1" i="0" lang="en-US" sz="900" u="none" cap="none" strike="noStrike">
                <a:solidFill>
                  <a:srgbClr val="C1272D"/>
                </a:solidFill>
                <a:latin typeface="Calibri"/>
                <a:ea typeface="Calibri"/>
                <a:cs typeface="Calibri"/>
                <a:sym typeface="Calibri"/>
              </a:rPr>
              <a:t>SUB PROGRAMMER</a:t>
            </a:r>
            <a:endParaRPr b="0" i="0" sz="900" u="none" cap="none" strike="noStrike">
              <a:solidFill>
                <a:schemeClr val="dk1"/>
              </a:solidFill>
              <a:latin typeface="Calibri"/>
              <a:ea typeface="Calibri"/>
              <a:cs typeface="Calibri"/>
              <a:sym typeface="Calibri"/>
            </a:endParaRPr>
          </a:p>
        </p:txBody>
      </p:sp>
      <p:sp>
        <p:nvSpPr>
          <p:cNvPr id="25" name="Google Shape;25;p3"/>
          <p:cNvSpPr txBox="1"/>
          <p:nvPr/>
        </p:nvSpPr>
        <p:spPr>
          <a:xfrm>
            <a:off x="8065008" y="4681728"/>
            <a:ext cx="35204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300"/>
              <a:buFont typeface="Calibri"/>
              <a:buNone/>
            </a:pPr>
            <a:r>
              <a:rPr b="0" i="0" lang="en-US" sz="1300" u="none" cap="none" strike="noStrike">
                <a:solidFill>
                  <a:srgbClr val="F0EBE4"/>
                </a:solidFill>
                <a:latin typeface="Calibri"/>
                <a:ea typeface="Calibri"/>
                <a:cs typeface="Calibri"/>
                <a:sym typeface="Calibri"/>
              </a:rPr>
              <a:t>Mr. Atiroj Kemwanicha</a:t>
            </a:r>
            <a:endParaRPr b="0" i="0" sz="1300" u="none" cap="none" strike="noStrike">
              <a:solidFill>
                <a:schemeClr val="dk1"/>
              </a:solidFill>
              <a:latin typeface="Calibri"/>
              <a:ea typeface="Calibri"/>
              <a:cs typeface="Calibri"/>
              <a:sym typeface="Calibri"/>
            </a:endParaRPr>
          </a:p>
        </p:txBody>
      </p:sp>
      <p:sp>
        <p:nvSpPr>
          <p:cNvPr id="26" name="Google Shape;26;p3"/>
          <p:cNvSpPr txBox="1"/>
          <p:nvPr/>
        </p:nvSpPr>
        <p:spPr>
          <a:xfrm>
            <a:off x="658368" y="5650992"/>
            <a:ext cx="86868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9E6E"/>
              </a:buClr>
              <a:buSzPts val="1300"/>
              <a:buFont typeface="Calibri"/>
              <a:buNone/>
            </a:pPr>
            <a:r>
              <a:rPr b="0" i="1" lang="en-US" sz="1300" u="none" cap="none" strike="noStrike">
                <a:solidFill>
                  <a:srgbClr val="5E9E6E"/>
                </a:solidFill>
                <a:latin typeface="Calibri"/>
                <a:ea typeface="Calibri"/>
                <a:cs typeface="Calibri"/>
                <a:sym typeface="Calibri"/>
              </a:rPr>
              <a:t>Status: the game is now playable online between two machines.</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6"/>
        </a:solidFill>
      </p:bgPr>
    </p:bg>
    <p:spTree>
      <p:nvGrpSpPr>
        <p:cNvPr id="31" name="Shape 31"/>
        <p:cNvGrpSpPr/>
        <p:nvPr/>
      </p:nvGrpSpPr>
      <p:grpSpPr>
        <a:xfrm>
          <a:off x="0" y="0"/>
          <a:ext cx="0" cy="0"/>
          <a:chOff x="0" y="0"/>
          <a:chExt cx="0" cy="0"/>
        </a:xfrm>
      </p:grpSpPr>
      <p:sp>
        <p:nvSpPr>
          <p:cNvPr id="32" name="Google Shape;32;p4"/>
          <p:cNvSpPr txBox="1"/>
          <p:nvPr/>
        </p:nvSpPr>
        <p:spPr>
          <a:xfrm>
            <a:off x="566928" y="384048"/>
            <a:ext cx="11057839"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150"/>
              <a:buFont typeface="Calibri"/>
              <a:buNone/>
            </a:pPr>
            <a:r>
              <a:rPr b="1" i="0" lang="en-US" sz="1150" u="none" cap="none" strike="noStrike">
                <a:solidFill>
                  <a:srgbClr val="C1272D"/>
                </a:solidFill>
                <a:latin typeface="Calibri"/>
                <a:ea typeface="Calibri"/>
                <a:cs typeface="Calibri"/>
                <a:sym typeface="Calibri"/>
              </a:rPr>
              <a:t>SCOPE</a:t>
            </a:r>
            <a:endParaRPr b="0" i="0" sz="1150" u="none" cap="none" strike="noStrike">
              <a:solidFill>
                <a:schemeClr val="dk1"/>
              </a:solidFill>
              <a:latin typeface="Calibri"/>
              <a:ea typeface="Calibri"/>
              <a:cs typeface="Calibri"/>
              <a:sym typeface="Calibri"/>
            </a:endParaRPr>
          </a:p>
        </p:txBody>
      </p:sp>
      <p:sp>
        <p:nvSpPr>
          <p:cNvPr id="33" name="Google Shape;33;p4"/>
          <p:cNvSpPr txBox="1"/>
          <p:nvPr/>
        </p:nvSpPr>
        <p:spPr>
          <a:xfrm>
            <a:off x="566928" y="640080"/>
            <a:ext cx="11057839"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3200"/>
              <a:buFont typeface="Cambria"/>
              <a:buNone/>
            </a:pPr>
            <a:r>
              <a:rPr b="1" i="0" lang="en-US" sz="3200" u="none" cap="none" strike="noStrike">
                <a:solidFill>
                  <a:srgbClr val="F0EBE4"/>
                </a:solidFill>
                <a:latin typeface="Cambria"/>
                <a:ea typeface="Cambria"/>
                <a:cs typeface="Cambria"/>
                <a:sym typeface="Cambria"/>
              </a:rPr>
              <a:t>What the demo has to prove</a:t>
            </a:r>
            <a:endParaRPr b="0" i="0" sz="3200" u="none" cap="none" strike="noStrike">
              <a:solidFill>
                <a:schemeClr val="dk1"/>
              </a:solidFill>
              <a:latin typeface="Calibri"/>
              <a:ea typeface="Calibri"/>
              <a:cs typeface="Calibri"/>
              <a:sym typeface="Calibri"/>
            </a:endParaRPr>
          </a:p>
        </p:txBody>
      </p:sp>
      <p:sp>
        <p:nvSpPr>
          <p:cNvPr id="34" name="Google Shape;34;p4"/>
          <p:cNvSpPr/>
          <p:nvPr/>
        </p:nvSpPr>
        <p:spPr>
          <a:xfrm>
            <a:off x="566928" y="1627632"/>
            <a:ext cx="11057839" cy="1207008"/>
          </a:xfrm>
          <a:prstGeom prst="roundRect">
            <a:avLst>
              <a:gd fmla="val 4545"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p:nvPr/>
        </p:nvSpPr>
        <p:spPr>
          <a:xfrm>
            <a:off x="877824" y="2020824"/>
            <a:ext cx="438912" cy="438912"/>
          </a:xfrm>
          <a:prstGeom prst="ellipse">
            <a:avLst/>
          </a:prstGeom>
          <a:solidFill>
            <a:srgbClr val="C1272D"/>
          </a:solidFill>
          <a:ln cap="flat" cmpd="sng" w="12700">
            <a:solidFill>
              <a:srgbClr val="C127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4"/>
          <p:cNvSpPr txBox="1"/>
          <p:nvPr/>
        </p:nvSpPr>
        <p:spPr>
          <a:xfrm>
            <a:off x="877824" y="2020824"/>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37" name="Google Shape;37;p4"/>
          <p:cNvSpPr txBox="1"/>
          <p:nvPr/>
        </p:nvSpPr>
        <p:spPr>
          <a:xfrm>
            <a:off x="1499616" y="1810512"/>
            <a:ext cx="969264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900"/>
              <a:buFont typeface="Cambria"/>
              <a:buNone/>
            </a:pPr>
            <a:r>
              <a:rPr b="1" i="0" lang="en-US" sz="1900" u="none" cap="none" strike="noStrike">
                <a:solidFill>
                  <a:srgbClr val="F0EBE4"/>
                </a:solidFill>
                <a:latin typeface="Cambria"/>
                <a:ea typeface="Cambria"/>
                <a:cs typeface="Cambria"/>
                <a:sym typeface="Cambria"/>
              </a:rPr>
              <a:t>Online co-op, 1–6 players</a:t>
            </a:r>
            <a:endParaRPr b="0" i="0" sz="1900" u="none" cap="none" strike="noStrike">
              <a:solidFill>
                <a:schemeClr val="dk1"/>
              </a:solidFill>
              <a:latin typeface="Calibri"/>
              <a:ea typeface="Calibri"/>
              <a:cs typeface="Calibri"/>
              <a:sym typeface="Calibri"/>
            </a:endParaRPr>
          </a:p>
        </p:txBody>
      </p:sp>
      <p:sp>
        <p:nvSpPr>
          <p:cNvPr id="38" name="Google Shape;38;p4"/>
          <p:cNvSpPr txBox="1"/>
          <p:nvPr/>
        </p:nvSpPr>
        <p:spPr>
          <a:xfrm>
            <a:off x="1499616" y="2194560"/>
            <a:ext cx="9784080"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300"/>
              <a:buFont typeface="Calibri"/>
              <a:buNone/>
            </a:pPr>
            <a:r>
              <a:rPr b="0" i="0" lang="en-US" sz="1300" u="none" cap="none" strike="noStrike">
                <a:solidFill>
                  <a:srgbClr val="9B95A2"/>
                </a:solidFill>
                <a:latin typeface="Calibri"/>
                <a:ea typeface="Calibri"/>
                <a:cs typeface="Calibri"/>
                <a:sym typeface="Calibri"/>
              </a:rPr>
              <a:t>One host, up to five joiners, matched through Epic Online Services — no IP addresses, no port forwarding.</a:t>
            </a:r>
            <a:endParaRPr b="0" i="0" sz="1300" u="none" cap="none" strike="noStrike">
              <a:solidFill>
                <a:schemeClr val="dk1"/>
              </a:solidFill>
              <a:latin typeface="Calibri"/>
              <a:ea typeface="Calibri"/>
              <a:cs typeface="Calibri"/>
              <a:sym typeface="Calibri"/>
            </a:endParaRPr>
          </a:p>
        </p:txBody>
      </p:sp>
      <p:sp>
        <p:nvSpPr>
          <p:cNvPr id="39" name="Google Shape;39;p4"/>
          <p:cNvSpPr/>
          <p:nvPr/>
        </p:nvSpPr>
        <p:spPr>
          <a:xfrm>
            <a:off x="566928" y="3054096"/>
            <a:ext cx="11057839" cy="1207008"/>
          </a:xfrm>
          <a:prstGeom prst="roundRect">
            <a:avLst>
              <a:gd fmla="val 4545"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877824" y="3447288"/>
            <a:ext cx="438912" cy="438912"/>
          </a:xfrm>
          <a:prstGeom prst="ellipse">
            <a:avLst/>
          </a:prstGeom>
          <a:solidFill>
            <a:srgbClr val="C1272D"/>
          </a:solidFill>
          <a:ln cap="flat" cmpd="sng" w="12700">
            <a:solidFill>
              <a:srgbClr val="C127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4"/>
          <p:cNvSpPr txBox="1"/>
          <p:nvPr/>
        </p:nvSpPr>
        <p:spPr>
          <a:xfrm>
            <a:off x="877824" y="3447288"/>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42" name="Google Shape;42;p4"/>
          <p:cNvSpPr txBox="1"/>
          <p:nvPr/>
        </p:nvSpPr>
        <p:spPr>
          <a:xfrm>
            <a:off x="1499616" y="3236976"/>
            <a:ext cx="969264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900"/>
              <a:buFont typeface="Cambria"/>
              <a:buNone/>
            </a:pPr>
            <a:r>
              <a:rPr b="1" i="0" lang="en-US" sz="1900" u="none" cap="none" strike="noStrike">
                <a:solidFill>
                  <a:srgbClr val="F0EBE4"/>
                </a:solidFill>
                <a:latin typeface="Cambria"/>
                <a:ea typeface="Cambria"/>
                <a:cs typeface="Cambria"/>
                <a:sym typeface="Cambria"/>
              </a:rPr>
              <a:t>The 13 Rules of Horror</a:t>
            </a:r>
            <a:endParaRPr b="0" i="0" sz="1900" u="none" cap="none" strike="noStrike">
              <a:solidFill>
                <a:schemeClr val="dk1"/>
              </a:solidFill>
              <a:latin typeface="Calibri"/>
              <a:ea typeface="Calibri"/>
              <a:cs typeface="Calibri"/>
              <a:sym typeface="Calibri"/>
            </a:endParaRPr>
          </a:p>
        </p:txBody>
      </p:sp>
      <p:sp>
        <p:nvSpPr>
          <p:cNvPr id="43" name="Google Shape;43;p4"/>
          <p:cNvSpPr txBox="1"/>
          <p:nvPr/>
        </p:nvSpPr>
        <p:spPr>
          <a:xfrm>
            <a:off x="1499616" y="3621024"/>
            <a:ext cx="9784080"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300"/>
              <a:buFont typeface="Calibri"/>
              <a:buNone/>
            </a:pPr>
            <a:r>
              <a:rPr b="0" i="0" lang="en-US" sz="1300" u="none" cap="none" strike="noStrike">
                <a:solidFill>
                  <a:srgbClr val="9B95A2"/>
                </a:solidFill>
                <a:latin typeface="Calibri"/>
                <a:ea typeface="Calibri"/>
                <a:cs typeface="Calibri"/>
                <a:sym typeface="Calibri"/>
              </a:rPr>
              <a:t>A dynamic rule system that changes what is safe to do during a run. The design thesis of the game.</a:t>
            </a:r>
            <a:endParaRPr b="0" i="0" sz="1300" u="none" cap="none" strike="noStrike">
              <a:solidFill>
                <a:schemeClr val="dk1"/>
              </a:solidFill>
              <a:latin typeface="Calibri"/>
              <a:ea typeface="Calibri"/>
              <a:cs typeface="Calibri"/>
              <a:sym typeface="Calibri"/>
            </a:endParaRPr>
          </a:p>
        </p:txBody>
      </p:sp>
      <p:sp>
        <p:nvSpPr>
          <p:cNvPr id="44" name="Google Shape;44;p4"/>
          <p:cNvSpPr/>
          <p:nvPr/>
        </p:nvSpPr>
        <p:spPr>
          <a:xfrm>
            <a:off x="566928" y="4480560"/>
            <a:ext cx="11057839" cy="1207008"/>
          </a:xfrm>
          <a:prstGeom prst="roundRect">
            <a:avLst>
              <a:gd fmla="val 4545"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4"/>
          <p:cNvSpPr/>
          <p:nvPr/>
        </p:nvSpPr>
        <p:spPr>
          <a:xfrm>
            <a:off x="877824" y="4873752"/>
            <a:ext cx="438912" cy="438912"/>
          </a:xfrm>
          <a:prstGeom prst="ellipse">
            <a:avLst/>
          </a:prstGeom>
          <a:solidFill>
            <a:srgbClr val="C1272D"/>
          </a:solidFill>
          <a:ln cap="flat" cmpd="sng" w="12700">
            <a:solidFill>
              <a:srgbClr val="C127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txBox="1"/>
          <p:nvPr/>
        </p:nvSpPr>
        <p:spPr>
          <a:xfrm>
            <a:off x="877824" y="4873752"/>
            <a:ext cx="438912"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47" name="Google Shape;47;p4"/>
          <p:cNvSpPr txBox="1"/>
          <p:nvPr/>
        </p:nvSpPr>
        <p:spPr>
          <a:xfrm>
            <a:off x="1499616" y="4663440"/>
            <a:ext cx="969264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900"/>
              <a:buFont typeface="Cambria"/>
              <a:buNone/>
            </a:pPr>
            <a:r>
              <a:rPr b="1" i="0" lang="en-US" sz="1900" u="none" cap="none" strike="noStrike">
                <a:solidFill>
                  <a:srgbClr val="F0EBE4"/>
                </a:solidFill>
                <a:latin typeface="Cambria"/>
                <a:ea typeface="Cambria"/>
                <a:cs typeface="Cambria"/>
                <a:sym typeface="Cambria"/>
              </a:rPr>
              <a:t>Persistent progression</a:t>
            </a:r>
            <a:endParaRPr b="0" i="0" sz="1900" u="none" cap="none" strike="noStrike">
              <a:solidFill>
                <a:schemeClr val="dk1"/>
              </a:solidFill>
              <a:latin typeface="Calibri"/>
              <a:ea typeface="Calibri"/>
              <a:cs typeface="Calibri"/>
              <a:sym typeface="Calibri"/>
            </a:endParaRPr>
          </a:p>
        </p:txBody>
      </p:sp>
      <p:sp>
        <p:nvSpPr>
          <p:cNvPr id="48" name="Google Shape;48;p4"/>
          <p:cNvSpPr txBox="1"/>
          <p:nvPr/>
        </p:nvSpPr>
        <p:spPr>
          <a:xfrm>
            <a:off x="1499616" y="5047488"/>
            <a:ext cx="9784080"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300"/>
              <a:buFont typeface="Calibri"/>
              <a:buNone/>
            </a:pPr>
            <a:r>
              <a:rPr b="0" i="0" lang="en-US" sz="1300" u="none" cap="none" strike="noStrike">
                <a:solidFill>
                  <a:srgbClr val="9B95A2"/>
                </a:solidFill>
                <a:latin typeface="Calibri"/>
                <a:ea typeface="Calibri"/>
                <a:cs typeface="Calibri"/>
                <a:sym typeface="Calibri"/>
              </a:rPr>
              <a:t>Equipment and currency survive between runs, stored encrypted on the player's own machine.</a:t>
            </a:r>
            <a:endParaRPr b="0" i="0" sz="1300" u="none" cap="none" strike="noStrike">
              <a:solidFill>
                <a:schemeClr val="dk1"/>
              </a:solidFill>
              <a:latin typeface="Calibri"/>
              <a:ea typeface="Calibri"/>
              <a:cs typeface="Calibri"/>
              <a:sym typeface="Calibri"/>
            </a:endParaRPr>
          </a:p>
        </p:txBody>
      </p:sp>
      <p:sp>
        <p:nvSpPr>
          <p:cNvPr id="49" name="Google Shape;49;p4"/>
          <p:cNvSpPr txBox="1"/>
          <p:nvPr/>
        </p:nvSpPr>
        <p:spPr>
          <a:xfrm>
            <a:off x="566928" y="5907024"/>
            <a:ext cx="11057839"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1200"/>
              <a:buFont typeface="Calibri"/>
              <a:buNone/>
            </a:pPr>
            <a:r>
              <a:rPr b="0" i="1" lang="en-US" sz="1200" u="none" cap="none" strike="noStrike">
                <a:solidFill>
                  <a:srgbClr val="6E6876"/>
                </a:solidFill>
                <a:latin typeface="Calibri"/>
                <a:ea typeface="Calibri"/>
                <a:cs typeface="Calibri"/>
                <a:sym typeface="Calibri"/>
              </a:rPr>
              <a:t>Out of scope for the demo by decision: multiple maps. One map ships now; the map pipeline is thesis work.</a:t>
            </a:r>
            <a:endParaRPr b="0" i="0" sz="1200" u="none" cap="none" strike="noStrike">
              <a:solidFill>
                <a:schemeClr val="dk1"/>
              </a:solidFill>
              <a:latin typeface="Calibri"/>
              <a:ea typeface="Calibri"/>
              <a:cs typeface="Calibri"/>
              <a:sym typeface="Calibri"/>
            </a:endParaRPr>
          </a:p>
        </p:txBody>
      </p:sp>
      <p:sp>
        <p:nvSpPr>
          <p:cNvPr id="50" name="Google Shape;50;p4"/>
          <p:cNvSpPr txBox="1"/>
          <p:nvPr/>
        </p:nvSpPr>
        <p:spPr>
          <a:xfrm>
            <a:off x="566928" y="6382512"/>
            <a:ext cx="609584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50"/>
              <a:buFont typeface="Calibri"/>
              <a:buNone/>
            </a:pPr>
            <a:r>
              <a:rPr b="0" i="0" lang="en-US" sz="950" u="none" cap="none" strike="noStrike">
                <a:solidFill>
                  <a:srgbClr val="6E6876"/>
                </a:solidFill>
                <a:latin typeface="Calibri"/>
                <a:ea typeface="Calibri"/>
                <a:cs typeface="Calibri"/>
                <a:sym typeface="Calibri"/>
              </a:rPr>
              <a:t>Pre-Thesis Demo  |  Programming Status Report</a:t>
            </a:r>
            <a:endParaRPr b="0" i="0" sz="950" u="none" cap="none" strike="noStrike">
              <a:solidFill>
                <a:schemeClr val="dk1"/>
              </a:solidFill>
              <a:latin typeface="Calibri"/>
              <a:ea typeface="Calibri"/>
              <a:cs typeface="Calibri"/>
              <a:sym typeface="Calibri"/>
            </a:endParaRPr>
          </a:p>
        </p:txBody>
      </p:sp>
      <p:sp>
        <p:nvSpPr>
          <p:cNvPr id="51" name="Google Shape;51;p4"/>
          <p:cNvSpPr txBox="1"/>
          <p:nvPr/>
        </p:nvSpPr>
        <p:spPr>
          <a:xfrm>
            <a:off x="6095848" y="6382512"/>
            <a:ext cx="5528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1272D"/>
              </a:buClr>
              <a:buSzPts val="950"/>
              <a:buFont typeface="Calibri"/>
              <a:buNone/>
            </a:pPr>
            <a:r>
              <a:rPr b="0" i="0" lang="en-US" sz="950" u="none" cap="none" strike="noStrike">
                <a:solidFill>
                  <a:srgbClr val="C1272D"/>
                </a:solidFill>
                <a:latin typeface="Calibri"/>
                <a:ea typeface="Calibri"/>
                <a:cs typeface="Calibri"/>
                <a:sym typeface="Calibri"/>
              </a:rPr>
              <a:t>01</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6"/>
        </a:solidFill>
      </p:bgPr>
    </p:bg>
    <p:spTree>
      <p:nvGrpSpPr>
        <p:cNvPr id="56" name="Shape 56"/>
        <p:cNvGrpSpPr/>
        <p:nvPr/>
      </p:nvGrpSpPr>
      <p:grpSpPr>
        <a:xfrm>
          <a:off x="0" y="0"/>
          <a:ext cx="0" cy="0"/>
          <a:chOff x="0" y="0"/>
          <a:chExt cx="0" cy="0"/>
        </a:xfrm>
      </p:grpSpPr>
      <p:sp>
        <p:nvSpPr>
          <p:cNvPr id="57" name="Google Shape;57;p5"/>
          <p:cNvSpPr txBox="1"/>
          <p:nvPr/>
        </p:nvSpPr>
        <p:spPr>
          <a:xfrm>
            <a:off x="566928" y="384048"/>
            <a:ext cx="11057839"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150"/>
              <a:buFont typeface="Calibri"/>
              <a:buNone/>
            </a:pPr>
            <a:r>
              <a:rPr b="1" i="0" lang="en-US" sz="1150" u="none" cap="none" strike="noStrike">
                <a:solidFill>
                  <a:srgbClr val="C1272D"/>
                </a:solidFill>
                <a:latin typeface="Calibri"/>
                <a:ea typeface="Calibri"/>
                <a:cs typeface="Calibri"/>
                <a:sym typeface="Calibri"/>
              </a:rPr>
              <a:t>PROGRAMMING TEAM</a:t>
            </a:r>
            <a:endParaRPr b="0" i="0" sz="1150" u="none" cap="none" strike="noStrike">
              <a:solidFill>
                <a:schemeClr val="dk1"/>
              </a:solidFill>
              <a:latin typeface="Calibri"/>
              <a:ea typeface="Calibri"/>
              <a:cs typeface="Calibri"/>
              <a:sym typeface="Calibri"/>
            </a:endParaRPr>
          </a:p>
        </p:txBody>
      </p:sp>
      <p:sp>
        <p:nvSpPr>
          <p:cNvPr id="58" name="Google Shape;58;p5"/>
          <p:cNvSpPr txBox="1"/>
          <p:nvPr/>
        </p:nvSpPr>
        <p:spPr>
          <a:xfrm>
            <a:off x="566928" y="640080"/>
            <a:ext cx="11057839"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3200"/>
              <a:buFont typeface="Cambria"/>
              <a:buNone/>
            </a:pPr>
            <a:r>
              <a:rPr b="1" i="0" lang="en-US" sz="3200" u="none" cap="none" strike="noStrike">
                <a:solidFill>
                  <a:srgbClr val="F0EBE4"/>
                </a:solidFill>
                <a:latin typeface="Cambria"/>
                <a:ea typeface="Cambria"/>
                <a:cs typeface="Cambria"/>
                <a:sym typeface="Cambria"/>
              </a:rPr>
              <a:t>Who writes what</a:t>
            </a:r>
            <a:endParaRPr b="0" i="0" sz="3200" u="none" cap="none" strike="noStrike">
              <a:solidFill>
                <a:schemeClr val="dk1"/>
              </a:solidFill>
              <a:latin typeface="Calibri"/>
              <a:ea typeface="Calibri"/>
              <a:cs typeface="Calibri"/>
              <a:sym typeface="Calibri"/>
            </a:endParaRPr>
          </a:p>
        </p:txBody>
      </p:sp>
      <p:sp>
        <p:nvSpPr>
          <p:cNvPr id="59" name="Google Shape;59;p5"/>
          <p:cNvSpPr/>
          <p:nvPr/>
        </p:nvSpPr>
        <p:spPr>
          <a:xfrm>
            <a:off x="566928" y="1627632"/>
            <a:ext cx="5349240" cy="3456432"/>
          </a:xfrm>
          <a:prstGeom prst="roundRect">
            <a:avLst>
              <a:gd fmla="val 1587"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5"/>
          <p:cNvSpPr/>
          <p:nvPr/>
        </p:nvSpPr>
        <p:spPr>
          <a:xfrm>
            <a:off x="877824" y="1883664"/>
            <a:ext cx="402336" cy="402336"/>
          </a:xfrm>
          <a:prstGeom prst="ellipse">
            <a:avLst/>
          </a:prstGeom>
          <a:solidFill>
            <a:srgbClr val="C1272D"/>
          </a:solidFill>
          <a:ln cap="flat" cmpd="sng" w="12700">
            <a:solidFill>
              <a:srgbClr val="C1272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5"/>
          <p:cNvSpPr txBox="1"/>
          <p:nvPr/>
        </p:nvSpPr>
        <p:spPr>
          <a:xfrm>
            <a:off x="877824" y="1883664"/>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62" name="Google Shape;62;p5"/>
          <p:cNvSpPr txBox="1"/>
          <p:nvPr/>
        </p:nvSpPr>
        <p:spPr>
          <a:xfrm>
            <a:off x="1408176" y="1828800"/>
            <a:ext cx="425196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900"/>
              <a:buFont typeface="Cambria"/>
              <a:buNone/>
            </a:pPr>
            <a:r>
              <a:rPr b="1" i="0" lang="en-US" sz="1900" u="none" cap="none" strike="noStrike">
                <a:solidFill>
                  <a:srgbClr val="F0EBE4"/>
                </a:solidFill>
                <a:latin typeface="Cambria"/>
                <a:ea typeface="Cambria"/>
                <a:cs typeface="Cambria"/>
                <a:sym typeface="Cambria"/>
              </a:rPr>
              <a:t>Mr. Kongkidakorn Chuayjang</a:t>
            </a:r>
            <a:endParaRPr b="0" i="0" sz="1900" u="none" cap="none" strike="noStrike">
              <a:solidFill>
                <a:schemeClr val="dk1"/>
              </a:solidFill>
              <a:latin typeface="Calibri"/>
              <a:ea typeface="Calibri"/>
              <a:cs typeface="Calibri"/>
              <a:sym typeface="Calibri"/>
            </a:endParaRPr>
          </a:p>
        </p:txBody>
      </p:sp>
      <p:sp>
        <p:nvSpPr>
          <p:cNvPr id="63" name="Google Shape;63;p5"/>
          <p:cNvSpPr txBox="1"/>
          <p:nvPr/>
        </p:nvSpPr>
        <p:spPr>
          <a:xfrm>
            <a:off x="1408176" y="2194560"/>
            <a:ext cx="42519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150"/>
              <a:buFont typeface="Calibri"/>
              <a:buNone/>
            </a:pPr>
            <a:r>
              <a:rPr b="1" i="0" lang="en-US" sz="1150" u="none" cap="none" strike="noStrike">
                <a:solidFill>
                  <a:srgbClr val="C1272D"/>
                </a:solidFill>
                <a:latin typeface="Calibri"/>
                <a:ea typeface="Calibri"/>
                <a:cs typeface="Calibri"/>
                <a:sym typeface="Calibri"/>
              </a:rPr>
              <a:t>Head Programmer</a:t>
            </a:r>
            <a:endParaRPr b="0" i="0" sz="1150" u="none" cap="none" strike="noStrike">
              <a:solidFill>
                <a:schemeClr val="dk1"/>
              </a:solidFill>
              <a:latin typeface="Calibri"/>
              <a:ea typeface="Calibri"/>
              <a:cs typeface="Calibri"/>
              <a:sym typeface="Calibri"/>
            </a:endParaRPr>
          </a:p>
        </p:txBody>
      </p:sp>
      <p:sp>
        <p:nvSpPr>
          <p:cNvPr id="64" name="Google Shape;64;p5"/>
          <p:cNvSpPr txBox="1"/>
          <p:nvPr/>
        </p:nvSpPr>
        <p:spPr>
          <a:xfrm>
            <a:off x="896112" y="2633472"/>
            <a:ext cx="4690872" cy="22860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Networking architecture (Mirror + EOS)</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Room creation, matchmaking, room browser</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Encrypted save / progression system</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Offline ↔ online dual-mode infrastructure</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Integration: making feature code network-safe</a:t>
            </a:r>
            <a:endParaRPr b="0" i="0" sz="1300" u="none" cap="none" strike="noStrike">
              <a:solidFill>
                <a:schemeClr val="dk1"/>
              </a:solidFill>
              <a:latin typeface="Calibri"/>
              <a:ea typeface="Calibri"/>
              <a:cs typeface="Calibri"/>
              <a:sym typeface="Calibri"/>
            </a:endParaRPr>
          </a:p>
        </p:txBody>
      </p:sp>
      <p:sp>
        <p:nvSpPr>
          <p:cNvPr id="65" name="Google Shape;65;p5"/>
          <p:cNvSpPr/>
          <p:nvPr/>
        </p:nvSpPr>
        <p:spPr>
          <a:xfrm>
            <a:off x="6272784" y="1627632"/>
            <a:ext cx="5349240" cy="3456432"/>
          </a:xfrm>
          <a:prstGeom prst="roundRect">
            <a:avLst>
              <a:gd fmla="val 1587"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5"/>
          <p:cNvSpPr/>
          <p:nvPr/>
        </p:nvSpPr>
        <p:spPr>
          <a:xfrm>
            <a:off x="6583680" y="1883664"/>
            <a:ext cx="402336" cy="402336"/>
          </a:xfrm>
          <a:prstGeom prst="ellipse">
            <a:avLst/>
          </a:prstGeom>
          <a:solidFill>
            <a:srgbClr val="5487B0"/>
          </a:solidFill>
          <a:ln cap="flat" cmpd="sng" w="12700">
            <a:solidFill>
              <a:srgbClr val="5487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5"/>
          <p:cNvSpPr txBox="1"/>
          <p:nvPr/>
        </p:nvSpPr>
        <p:spPr>
          <a:xfrm>
            <a:off x="6583680" y="1883664"/>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68" name="Google Shape;68;p5"/>
          <p:cNvSpPr txBox="1"/>
          <p:nvPr/>
        </p:nvSpPr>
        <p:spPr>
          <a:xfrm>
            <a:off x="7114032" y="1828800"/>
            <a:ext cx="425196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900"/>
              <a:buFont typeface="Cambria"/>
              <a:buNone/>
            </a:pPr>
            <a:r>
              <a:rPr b="1" i="0" lang="en-US" sz="1900" u="none" cap="none" strike="noStrike">
                <a:solidFill>
                  <a:srgbClr val="F0EBE4"/>
                </a:solidFill>
                <a:latin typeface="Cambria"/>
                <a:ea typeface="Cambria"/>
                <a:cs typeface="Cambria"/>
                <a:sym typeface="Cambria"/>
              </a:rPr>
              <a:t>Mr. Atiroj Kemwanicha</a:t>
            </a:r>
            <a:endParaRPr b="0" i="0" sz="1900" u="none" cap="none" strike="noStrike">
              <a:solidFill>
                <a:schemeClr val="dk1"/>
              </a:solidFill>
              <a:latin typeface="Calibri"/>
              <a:ea typeface="Calibri"/>
              <a:cs typeface="Calibri"/>
              <a:sym typeface="Calibri"/>
            </a:endParaRPr>
          </a:p>
        </p:txBody>
      </p:sp>
      <p:sp>
        <p:nvSpPr>
          <p:cNvPr id="69" name="Google Shape;69;p5"/>
          <p:cNvSpPr txBox="1"/>
          <p:nvPr/>
        </p:nvSpPr>
        <p:spPr>
          <a:xfrm>
            <a:off x="7114032" y="2194560"/>
            <a:ext cx="42519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87B0"/>
              </a:buClr>
              <a:buSzPts val="1150"/>
              <a:buFont typeface="Calibri"/>
              <a:buNone/>
            </a:pPr>
            <a:r>
              <a:rPr b="1" i="0" lang="en-US" sz="1150" u="none" cap="none" strike="noStrike">
                <a:solidFill>
                  <a:srgbClr val="5487B0"/>
                </a:solidFill>
                <a:latin typeface="Calibri"/>
                <a:ea typeface="Calibri"/>
                <a:cs typeface="Calibri"/>
                <a:sym typeface="Calibri"/>
              </a:rPr>
              <a:t>Sub Programmer  ·  Gameplay</a:t>
            </a:r>
            <a:endParaRPr b="0" i="0" sz="1150" u="none" cap="none" strike="noStrike">
              <a:solidFill>
                <a:schemeClr val="dk1"/>
              </a:solidFill>
              <a:latin typeface="Calibri"/>
              <a:ea typeface="Calibri"/>
              <a:cs typeface="Calibri"/>
              <a:sym typeface="Calibri"/>
            </a:endParaRPr>
          </a:p>
        </p:txBody>
      </p:sp>
      <p:sp>
        <p:nvSpPr>
          <p:cNvPr id="70" name="Google Shape;70;p5"/>
          <p:cNvSpPr txBox="1"/>
          <p:nvPr/>
        </p:nvSpPr>
        <p:spPr>
          <a:xfrm>
            <a:off x="6601968" y="2633472"/>
            <a:ext cx="4690872" cy="22860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Player movement and first-person camera</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Interaction system (doors, levers, props)</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Health and damage model</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Downed / revive system</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Gameplay-facing UI behaviour</a:t>
            </a:r>
            <a:endParaRPr b="0" i="0" sz="1300" u="none" cap="none" strike="noStrike">
              <a:solidFill>
                <a:schemeClr val="dk1"/>
              </a:solidFill>
              <a:latin typeface="Calibri"/>
              <a:ea typeface="Calibri"/>
              <a:cs typeface="Calibri"/>
              <a:sym typeface="Calibri"/>
            </a:endParaRPr>
          </a:p>
        </p:txBody>
      </p:sp>
      <p:sp>
        <p:nvSpPr>
          <p:cNvPr id="71" name="Google Shape;71;p5"/>
          <p:cNvSpPr/>
          <p:nvPr/>
        </p:nvSpPr>
        <p:spPr>
          <a:xfrm>
            <a:off x="566928" y="5340096"/>
            <a:ext cx="11057839" cy="768096"/>
          </a:xfrm>
          <a:prstGeom prst="roundRect">
            <a:avLst>
              <a:gd fmla="val 7143"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5"/>
          <p:cNvSpPr txBox="1"/>
          <p:nvPr/>
        </p:nvSpPr>
        <p:spPr>
          <a:xfrm>
            <a:off x="896112" y="5522976"/>
            <a:ext cx="1920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300"/>
              <a:buFont typeface="Calibri"/>
              <a:buNone/>
            </a:pPr>
            <a:r>
              <a:rPr b="1" i="0" lang="en-US" sz="1300" u="none" cap="none" strike="noStrike">
                <a:solidFill>
                  <a:srgbClr val="C1272D"/>
                </a:solidFill>
                <a:latin typeface="Calibri"/>
                <a:ea typeface="Calibri"/>
                <a:cs typeface="Calibri"/>
                <a:sym typeface="Calibri"/>
              </a:rPr>
              <a:t>Where the two meet:  </a:t>
            </a:r>
            <a:endParaRPr b="0" i="0" sz="1300" u="none" cap="none" strike="noStrike">
              <a:solidFill>
                <a:schemeClr val="dk1"/>
              </a:solidFill>
              <a:latin typeface="Calibri"/>
              <a:ea typeface="Calibri"/>
              <a:cs typeface="Calibri"/>
              <a:sym typeface="Calibri"/>
            </a:endParaRPr>
          </a:p>
        </p:txBody>
      </p:sp>
      <p:sp>
        <p:nvSpPr>
          <p:cNvPr id="73" name="Google Shape;73;p5"/>
          <p:cNvSpPr txBox="1"/>
          <p:nvPr/>
        </p:nvSpPr>
        <p:spPr>
          <a:xfrm>
            <a:off x="2852928" y="5522976"/>
            <a:ext cx="850392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300"/>
              <a:buFont typeface="Calibri"/>
              <a:buNone/>
            </a:pPr>
            <a:r>
              <a:rPr b="0" i="0" lang="en-US" sz="1300" u="none" cap="none" strike="noStrike">
                <a:solidFill>
                  <a:srgbClr val="9B95A2"/>
                </a:solidFill>
                <a:latin typeface="Calibri"/>
                <a:ea typeface="Calibri"/>
                <a:cs typeface="Calibri"/>
                <a:sym typeface="Calibri"/>
              </a:rPr>
              <a:t>gameplay features are written single-player first, then rewritten by the head programmer to run under server authority. A scheduled step, not a repair.</a:t>
            </a:r>
            <a:endParaRPr b="0" i="0" sz="1300" u="none" cap="none" strike="noStrike">
              <a:solidFill>
                <a:schemeClr val="dk1"/>
              </a:solidFill>
              <a:latin typeface="Calibri"/>
              <a:ea typeface="Calibri"/>
              <a:cs typeface="Calibri"/>
              <a:sym typeface="Calibri"/>
            </a:endParaRPr>
          </a:p>
        </p:txBody>
      </p:sp>
      <p:sp>
        <p:nvSpPr>
          <p:cNvPr id="74" name="Google Shape;74;p5"/>
          <p:cNvSpPr txBox="1"/>
          <p:nvPr/>
        </p:nvSpPr>
        <p:spPr>
          <a:xfrm>
            <a:off x="566928" y="6382512"/>
            <a:ext cx="609584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50"/>
              <a:buFont typeface="Calibri"/>
              <a:buNone/>
            </a:pPr>
            <a:r>
              <a:rPr b="0" i="0" lang="en-US" sz="950" u="none" cap="none" strike="noStrike">
                <a:solidFill>
                  <a:srgbClr val="6E6876"/>
                </a:solidFill>
                <a:latin typeface="Calibri"/>
                <a:ea typeface="Calibri"/>
                <a:cs typeface="Calibri"/>
                <a:sym typeface="Calibri"/>
              </a:rPr>
              <a:t>Pre-Thesis Demo  |  Programming Status Report</a:t>
            </a:r>
            <a:endParaRPr b="0" i="0" sz="950" u="none" cap="none" strike="noStrike">
              <a:solidFill>
                <a:schemeClr val="dk1"/>
              </a:solidFill>
              <a:latin typeface="Calibri"/>
              <a:ea typeface="Calibri"/>
              <a:cs typeface="Calibri"/>
              <a:sym typeface="Calibri"/>
            </a:endParaRPr>
          </a:p>
        </p:txBody>
      </p:sp>
      <p:sp>
        <p:nvSpPr>
          <p:cNvPr id="75" name="Google Shape;75;p5"/>
          <p:cNvSpPr txBox="1"/>
          <p:nvPr/>
        </p:nvSpPr>
        <p:spPr>
          <a:xfrm>
            <a:off x="6095848" y="6382512"/>
            <a:ext cx="5528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1272D"/>
              </a:buClr>
              <a:buSzPts val="950"/>
              <a:buFont typeface="Calibri"/>
              <a:buNone/>
            </a:pPr>
            <a:r>
              <a:rPr b="0" i="0" lang="en-US" sz="950" u="none" cap="none" strike="noStrike">
                <a:solidFill>
                  <a:srgbClr val="C1272D"/>
                </a:solidFill>
                <a:latin typeface="Calibri"/>
                <a:ea typeface="Calibri"/>
                <a:cs typeface="Calibri"/>
                <a:sym typeface="Calibri"/>
              </a:rPr>
              <a:t>02</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6"/>
        </a:solidFill>
      </p:bgPr>
    </p:bg>
    <p:spTree>
      <p:nvGrpSpPr>
        <p:cNvPr id="80" name="Shape 80"/>
        <p:cNvGrpSpPr/>
        <p:nvPr/>
      </p:nvGrpSpPr>
      <p:grpSpPr>
        <a:xfrm>
          <a:off x="0" y="0"/>
          <a:ext cx="0" cy="0"/>
          <a:chOff x="0" y="0"/>
          <a:chExt cx="0" cy="0"/>
        </a:xfrm>
      </p:grpSpPr>
      <p:sp>
        <p:nvSpPr>
          <p:cNvPr id="81" name="Google Shape;81;p6"/>
          <p:cNvSpPr txBox="1"/>
          <p:nvPr/>
        </p:nvSpPr>
        <p:spPr>
          <a:xfrm>
            <a:off x="566928" y="384048"/>
            <a:ext cx="11057839"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150"/>
              <a:buFont typeface="Calibri"/>
              <a:buNone/>
            </a:pPr>
            <a:r>
              <a:rPr b="1" i="0" lang="en-US" sz="1150" u="none" cap="none" strike="noStrike">
                <a:solidFill>
                  <a:srgbClr val="C1272D"/>
                </a:solidFill>
                <a:latin typeface="Calibri"/>
                <a:ea typeface="Calibri"/>
                <a:cs typeface="Calibri"/>
                <a:sym typeface="Calibri"/>
              </a:rPr>
              <a:t>HEADLINE</a:t>
            </a:r>
            <a:endParaRPr b="0" i="0" sz="1150" u="none" cap="none" strike="noStrike">
              <a:solidFill>
                <a:schemeClr val="dk1"/>
              </a:solidFill>
              <a:latin typeface="Calibri"/>
              <a:ea typeface="Calibri"/>
              <a:cs typeface="Calibri"/>
              <a:sym typeface="Calibri"/>
            </a:endParaRPr>
          </a:p>
        </p:txBody>
      </p:sp>
      <p:sp>
        <p:nvSpPr>
          <p:cNvPr id="82" name="Google Shape;82;p6"/>
          <p:cNvSpPr txBox="1"/>
          <p:nvPr/>
        </p:nvSpPr>
        <p:spPr>
          <a:xfrm>
            <a:off x="566928" y="640080"/>
            <a:ext cx="11057839"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3200"/>
              <a:buFont typeface="Cambria"/>
              <a:buNone/>
            </a:pPr>
            <a:r>
              <a:rPr b="1" i="0" lang="en-US" sz="3200" u="none" cap="none" strike="noStrike">
                <a:solidFill>
                  <a:srgbClr val="F0EBE4"/>
                </a:solidFill>
                <a:latin typeface="Cambria"/>
                <a:ea typeface="Cambria"/>
                <a:cs typeface="Cambria"/>
                <a:sym typeface="Cambria"/>
              </a:rPr>
              <a:t>This week the game went online</a:t>
            </a:r>
            <a:endParaRPr b="0" i="0" sz="3200" u="none" cap="none" strike="noStrike">
              <a:solidFill>
                <a:schemeClr val="dk1"/>
              </a:solidFill>
              <a:latin typeface="Calibri"/>
              <a:ea typeface="Calibri"/>
              <a:cs typeface="Calibri"/>
              <a:sym typeface="Calibri"/>
            </a:endParaRPr>
          </a:p>
        </p:txBody>
      </p:sp>
      <p:sp>
        <p:nvSpPr>
          <p:cNvPr id="83" name="Google Shape;83;p6"/>
          <p:cNvSpPr/>
          <p:nvPr/>
        </p:nvSpPr>
        <p:spPr>
          <a:xfrm>
            <a:off x="566928" y="1682496"/>
            <a:ext cx="3529584" cy="2066544"/>
          </a:xfrm>
          <a:prstGeom prst="roundRect">
            <a:avLst>
              <a:gd fmla="val 2655"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6"/>
          <p:cNvSpPr txBox="1"/>
          <p:nvPr/>
        </p:nvSpPr>
        <p:spPr>
          <a:xfrm>
            <a:off x="841248" y="1865376"/>
            <a:ext cx="457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9E6E"/>
              </a:buClr>
              <a:buSzPts val="2600"/>
              <a:buFont typeface="Calibri"/>
              <a:buNone/>
            </a:pPr>
            <a:r>
              <a:rPr b="1" i="0" lang="en-US" sz="2600" u="none" cap="none" strike="noStrike">
                <a:solidFill>
                  <a:srgbClr val="5E9E6E"/>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85" name="Google Shape;85;p6"/>
          <p:cNvSpPr txBox="1"/>
          <p:nvPr/>
        </p:nvSpPr>
        <p:spPr>
          <a:xfrm>
            <a:off x="841248" y="2359152"/>
            <a:ext cx="30175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2100"/>
              <a:buFont typeface="Cambria"/>
              <a:buNone/>
            </a:pPr>
            <a:r>
              <a:rPr b="1" i="0" lang="en-US" sz="2100" u="none" cap="none" strike="noStrike">
                <a:solidFill>
                  <a:srgbClr val="F0EBE4"/>
                </a:solidFill>
                <a:latin typeface="Cambria"/>
                <a:ea typeface="Cambria"/>
                <a:cs typeface="Cambria"/>
                <a:sym typeface="Cambria"/>
              </a:rPr>
              <a:t>Rooms</a:t>
            </a:r>
            <a:endParaRPr b="0" i="0" sz="2100" u="none" cap="none" strike="noStrike">
              <a:solidFill>
                <a:schemeClr val="dk1"/>
              </a:solidFill>
              <a:latin typeface="Calibri"/>
              <a:ea typeface="Calibri"/>
              <a:cs typeface="Calibri"/>
              <a:sym typeface="Calibri"/>
            </a:endParaRPr>
          </a:p>
        </p:txBody>
      </p:sp>
      <p:sp>
        <p:nvSpPr>
          <p:cNvPr id="86" name="Google Shape;86;p6"/>
          <p:cNvSpPr txBox="1"/>
          <p:nvPr/>
        </p:nvSpPr>
        <p:spPr>
          <a:xfrm>
            <a:off x="841248" y="2761488"/>
            <a:ext cx="3017520" cy="87782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250"/>
              <a:buFont typeface="Calibri"/>
              <a:buNone/>
            </a:pPr>
            <a:r>
              <a:rPr b="0" i="0" lang="en-US" sz="1250" u="none" cap="none" strike="noStrike">
                <a:solidFill>
                  <a:srgbClr val="9B95A2"/>
                </a:solidFill>
                <a:latin typeface="Calibri"/>
                <a:ea typeface="Calibri"/>
                <a:cs typeface="Calibri"/>
                <a:sym typeface="Calibri"/>
              </a:rPr>
              <a:t>A host creates a room on EOS; another machine finds and joins it.</a:t>
            </a:r>
            <a:endParaRPr b="0" i="0" sz="1250" u="none" cap="none" strike="noStrike">
              <a:solidFill>
                <a:schemeClr val="dk1"/>
              </a:solidFill>
              <a:latin typeface="Calibri"/>
              <a:ea typeface="Calibri"/>
              <a:cs typeface="Calibri"/>
              <a:sym typeface="Calibri"/>
            </a:endParaRPr>
          </a:p>
        </p:txBody>
      </p:sp>
      <p:sp>
        <p:nvSpPr>
          <p:cNvPr id="87" name="Google Shape;87;p6"/>
          <p:cNvSpPr/>
          <p:nvPr/>
        </p:nvSpPr>
        <p:spPr>
          <a:xfrm>
            <a:off x="4361688" y="1682496"/>
            <a:ext cx="3529584" cy="2066544"/>
          </a:xfrm>
          <a:prstGeom prst="roundRect">
            <a:avLst>
              <a:gd fmla="val 2655"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6"/>
          <p:cNvSpPr txBox="1"/>
          <p:nvPr/>
        </p:nvSpPr>
        <p:spPr>
          <a:xfrm>
            <a:off x="4636008" y="1865376"/>
            <a:ext cx="457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9E6E"/>
              </a:buClr>
              <a:buSzPts val="2600"/>
              <a:buFont typeface="Calibri"/>
              <a:buNone/>
            </a:pPr>
            <a:r>
              <a:rPr b="1" i="0" lang="en-US" sz="2600" u="none" cap="none" strike="noStrike">
                <a:solidFill>
                  <a:srgbClr val="5E9E6E"/>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89" name="Google Shape;89;p6"/>
          <p:cNvSpPr txBox="1"/>
          <p:nvPr/>
        </p:nvSpPr>
        <p:spPr>
          <a:xfrm>
            <a:off x="4636008" y="2359152"/>
            <a:ext cx="30175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2100"/>
              <a:buFont typeface="Cambria"/>
              <a:buNone/>
            </a:pPr>
            <a:r>
              <a:rPr b="1" i="0" lang="en-US" sz="2100" u="none" cap="none" strike="noStrike">
                <a:solidFill>
                  <a:srgbClr val="F0EBE4"/>
                </a:solidFill>
                <a:latin typeface="Cambria"/>
                <a:ea typeface="Cambria"/>
                <a:cs typeface="Cambria"/>
                <a:sym typeface="Cambria"/>
              </a:rPr>
              <a:t>Presence</a:t>
            </a:r>
            <a:endParaRPr b="0" i="0" sz="2100" u="none" cap="none" strike="noStrike">
              <a:solidFill>
                <a:schemeClr val="dk1"/>
              </a:solidFill>
              <a:latin typeface="Calibri"/>
              <a:ea typeface="Calibri"/>
              <a:cs typeface="Calibri"/>
              <a:sym typeface="Calibri"/>
            </a:endParaRPr>
          </a:p>
        </p:txBody>
      </p:sp>
      <p:sp>
        <p:nvSpPr>
          <p:cNvPr id="90" name="Google Shape;90;p6"/>
          <p:cNvSpPr txBox="1"/>
          <p:nvPr/>
        </p:nvSpPr>
        <p:spPr>
          <a:xfrm>
            <a:off x="4636008" y="2761488"/>
            <a:ext cx="3017520" cy="87782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250"/>
              <a:buFont typeface="Calibri"/>
              <a:buNone/>
            </a:pPr>
            <a:r>
              <a:rPr b="0" i="0" lang="en-US" sz="1250" u="none" cap="none" strike="noStrike">
                <a:solidFill>
                  <a:srgbClr val="9B95A2"/>
                </a:solidFill>
                <a:latin typeface="Calibri"/>
                <a:ea typeface="Calibri"/>
                <a:cs typeface="Calibri"/>
                <a:sym typeface="Calibri"/>
              </a:rPr>
              <a:t>Two machines share one world — both players spawn on both clients.</a:t>
            </a:r>
            <a:endParaRPr b="0" i="0" sz="1250" u="none" cap="none" strike="noStrike">
              <a:solidFill>
                <a:schemeClr val="dk1"/>
              </a:solidFill>
              <a:latin typeface="Calibri"/>
              <a:ea typeface="Calibri"/>
              <a:cs typeface="Calibri"/>
              <a:sym typeface="Calibri"/>
            </a:endParaRPr>
          </a:p>
        </p:txBody>
      </p:sp>
      <p:sp>
        <p:nvSpPr>
          <p:cNvPr id="91" name="Google Shape;91;p6"/>
          <p:cNvSpPr/>
          <p:nvPr/>
        </p:nvSpPr>
        <p:spPr>
          <a:xfrm>
            <a:off x="8156448" y="1682496"/>
            <a:ext cx="3529584" cy="2066544"/>
          </a:xfrm>
          <a:prstGeom prst="roundRect">
            <a:avLst>
              <a:gd fmla="val 2655"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6"/>
          <p:cNvSpPr txBox="1"/>
          <p:nvPr/>
        </p:nvSpPr>
        <p:spPr>
          <a:xfrm>
            <a:off x="8430768" y="1865376"/>
            <a:ext cx="457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9E6E"/>
              </a:buClr>
              <a:buSzPts val="2600"/>
              <a:buFont typeface="Calibri"/>
              <a:buNone/>
            </a:pPr>
            <a:r>
              <a:rPr b="1" i="0" lang="en-US" sz="2600" u="none" cap="none" strike="noStrike">
                <a:solidFill>
                  <a:srgbClr val="5E9E6E"/>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93" name="Google Shape;93;p6"/>
          <p:cNvSpPr txBox="1"/>
          <p:nvPr/>
        </p:nvSpPr>
        <p:spPr>
          <a:xfrm>
            <a:off x="8430768" y="2359152"/>
            <a:ext cx="30175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2100"/>
              <a:buFont typeface="Cambria"/>
              <a:buNone/>
            </a:pPr>
            <a:r>
              <a:rPr b="1" i="0" lang="en-US" sz="2100" u="none" cap="none" strike="noStrike">
                <a:solidFill>
                  <a:srgbClr val="F0EBE4"/>
                </a:solidFill>
                <a:latin typeface="Cambria"/>
                <a:ea typeface="Cambria"/>
                <a:cs typeface="Cambria"/>
                <a:sym typeface="Cambria"/>
              </a:rPr>
              <a:t>Sandbox</a:t>
            </a:r>
            <a:endParaRPr b="0" i="0" sz="2100" u="none" cap="none" strike="noStrike">
              <a:solidFill>
                <a:schemeClr val="dk1"/>
              </a:solidFill>
              <a:latin typeface="Calibri"/>
              <a:ea typeface="Calibri"/>
              <a:cs typeface="Calibri"/>
              <a:sym typeface="Calibri"/>
            </a:endParaRPr>
          </a:p>
        </p:txBody>
      </p:sp>
      <p:sp>
        <p:nvSpPr>
          <p:cNvPr id="94" name="Google Shape;94;p6"/>
          <p:cNvSpPr txBox="1"/>
          <p:nvPr/>
        </p:nvSpPr>
        <p:spPr>
          <a:xfrm>
            <a:off x="8430768" y="2761488"/>
            <a:ext cx="3017520" cy="87782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250"/>
              <a:buFont typeface="Calibri"/>
              <a:buNone/>
            </a:pPr>
            <a:r>
              <a:rPr b="0" i="0" lang="en-US" sz="1250" u="none" cap="none" strike="noStrike">
                <a:solidFill>
                  <a:srgbClr val="9B95A2"/>
                </a:solidFill>
                <a:latin typeface="Calibri"/>
                <a:ea typeface="Calibri"/>
                <a:cs typeface="Calibri"/>
                <a:sym typeface="Calibri"/>
              </a:rPr>
              <a:t>Solo test scenes work again with no server, so feature work is unblocked.</a:t>
            </a:r>
            <a:endParaRPr b="0" i="0" sz="1250" u="none" cap="none" strike="noStrike">
              <a:solidFill>
                <a:schemeClr val="dk1"/>
              </a:solidFill>
              <a:latin typeface="Calibri"/>
              <a:ea typeface="Calibri"/>
              <a:cs typeface="Calibri"/>
              <a:sym typeface="Calibri"/>
            </a:endParaRPr>
          </a:p>
        </p:txBody>
      </p:sp>
      <p:sp>
        <p:nvSpPr>
          <p:cNvPr id="95" name="Google Shape;95;p6"/>
          <p:cNvSpPr/>
          <p:nvPr/>
        </p:nvSpPr>
        <p:spPr>
          <a:xfrm>
            <a:off x="566928" y="4059936"/>
            <a:ext cx="11057839" cy="1481328"/>
          </a:xfrm>
          <a:prstGeom prst="roundRect">
            <a:avLst>
              <a:gd fmla="val 3704"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6"/>
          <p:cNvSpPr txBox="1"/>
          <p:nvPr/>
        </p:nvSpPr>
        <p:spPr>
          <a:xfrm>
            <a:off x="896112" y="4242816"/>
            <a:ext cx="5486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700"/>
              <a:buFont typeface="Cambria"/>
              <a:buNone/>
            </a:pPr>
            <a:r>
              <a:rPr b="1" i="0" lang="en-US" sz="1700" u="none" cap="none" strike="noStrike">
                <a:solidFill>
                  <a:srgbClr val="F0EBE4"/>
                </a:solidFill>
                <a:latin typeface="Cambria"/>
                <a:ea typeface="Cambria"/>
                <a:cs typeface="Cambria"/>
                <a:sym typeface="Cambria"/>
              </a:rPr>
              <a:t>Where that leaves the demo</a:t>
            </a:r>
            <a:endParaRPr b="0" i="0" sz="1700" u="none" cap="none" strike="noStrike">
              <a:solidFill>
                <a:schemeClr val="dk1"/>
              </a:solidFill>
              <a:latin typeface="Calibri"/>
              <a:ea typeface="Calibri"/>
              <a:cs typeface="Calibri"/>
              <a:sym typeface="Calibri"/>
            </a:endParaRPr>
          </a:p>
        </p:txBody>
      </p:sp>
      <p:sp>
        <p:nvSpPr>
          <p:cNvPr id="97" name="Google Shape;97;p6"/>
          <p:cNvSpPr txBox="1"/>
          <p:nvPr/>
        </p:nvSpPr>
        <p:spPr>
          <a:xfrm>
            <a:off x="896112" y="4608576"/>
            <a:ext cx="106984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350"/>
              <a:buFont typeface="Calibri"/>
              <a:buNone/>
            </a:pPr>
            <a:r>
              <a:rPr b="0" i="0" lang="en-US" sz="1350" u="none" cap="none" strike="noStrike">
                <a:solidFill>
                  <a:srgbClr val="9B95A2"/>
                </a:solidFill>
                <a:latin typeface="Calibri"/>
                <a:ea typeface="Calibri"/>
                <a:cs typeface="Calibri"/>
                <a:sym typeface="Calibri"/>
              </a:rPr>
              <a:t>The networking risk — the part that could have failed late and taken the whole demo with it — is retired. What remains is content and feature work on a connection that has been shown to hold.</a:t>
            </a:r>
            <a:endParaRPr b="0" i="0" sz="1350" u="none" cap="none" strike="noStrike">
              <a:solidFill>
                <a:schemeClr val="dk1"/>
              </a:solidFill>
              <a:latin typeface="Calibri"/>
              <a:ea typeface="Calibri"/>
              <a:cs typeface="Calibri"/>
              <a:sym typeface="Calibri"/>
            </a:endParaRPr>
          </a:p>
        </p:txBody>
      </p:sp>
      <p:sp>
        <p:nvSpPr>
          <p:cNvPr id="98" name="Google Shape;98;p6"/>
          <p:cNvSpPr txBox="1"/>
          <p:nvPr/>
        </p:nvSpPr>
        <p:spPr>
          <a:xfrm>
            <a:off x="566928" y="6382512"/>
            <a:ext cx="609584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50"/>
              <a:buFont typeface="Calibri"/>
              <a:buNone/>
            </a:pPr>
            <a:r>
              <a:rPr b="0" i="0" lang="en-US" sz="950" u="none" cap="none" strike="noStrike">
                <a:solidFill>
                  <a:srgbClr val="6E6876"/>
                </a:solidFill>
                <a:latin typeface="Calibri"/>
                <a:ea typeface="Calibri"/>
                <a:cs typeface="Calibri"/>
                <a:sym typeface="Calibri"/>
              </a:rPr>
              <a:t>Pre-Thesis Demo  |  Programming Status Report</a:t>
            </a:r>
            <a:endParaRPr b="0" i="0" sz="950" u="none" cap="none" strike="noStrike">
              <a:solidFill>
                <a:schemeClr val="dk1"/>
              </a:solidFill>
              <a:latin typeface="Calibri"/>
              <a:ea typeface="Calibri"/>
              <a:cs typeface="Calibri"/>
              <a:sym typeface="Calibri"/>
            </a:endParaRPr>
          </a:p>
        </p:txBody>
      </p:sp>
      <p:sp>
        <p:nvSpPr>
          <p:cNvPr id="99" name="Google Shape;99;p6"/>
          <p:cNvSpPr txBox="1"/>
          <p:nvPr/>
        </p:nvSpPr>
        <p:spPr>
          <a:xfrm>
            <a:off x="6095848" y="6382512"/>
            <a:ext cx="5528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1272D"/>
              </a:buClr>
              <a:buSzPts val="950"/>
              <a:buFont typeface="Calibri"/>
              <a:buNone/>
            </a:pPr>
            <a:r>
              <a:rPr b="0" i="0" lang="en-US" sz="950" u="none" cap="none" strike="noStrike">
                <a:solidFill>
                  <a:srgbClr val="C1272D"/>
                </a:solidFill>
                <a:latin typeface="Calibri"/>
                <a:ea typeface="Calibri"/>
                <a:cs typeface="Calibri"/>
                <a:sym typeface="Calibri"/>
              </a:rPr>
              <a:t>03</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6"/>
        </a:solidFill>
      </p:bgPr>
    </p:bg>
    <p:spTree>
      <p:nvGrpSpPr>
        <p:cNvPr id="104" name="Shape 104"/>
        <p:cNvGrpSpPr/>
        <p:nvPr/>
      </p:nvGrpSpPr>
      <p:grpSpPr>
        <a:xfrm>
          <a:off x="0" y="0"/>
          <a:ext cx="0" cy="0"/>
          <a:chOff x="0" y="0"/>
          <a:chExt cx="0" cy="0"/>
        </a:xfrm>
      </p:grpSpPr>
      <p:sp>
        <p:nvSpPr>
          <p:cNvPr id="105" name="Google Shape;105;p7"/>
          <p:cNvSpPr txBox="1"/>
          <p:nvPr/>
        </p:nvSpPr>
        <p:spPr>
          <a:xfrm>
            <a:off x="566928" y="384048"/>
            <a:ext cx="11057839"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150"/>
              <a:buFont typeface="Calibri"/>
              <a:buNone/>
            </a:pPr>
            <a:r>
              <a:rPr b="1" i="0" lang="en-US" sz="1150" u="none" cap="none" strike="noStrike">
                <a:solidFill>
                  <a:srgbClr val="C1272D"/>
                </a:solidFill>
                <a:latin typeface="Calibri"/>
                <a:ea typeface="Calibri"/>
                <a:cs typeface="Calibri"/>
                <a:sym typeface="Calibri"/>
              </a:rPr>
              <a:t>EVIDENCE  ·  PLAYTEST RECORDING</a:t>
            </a:r>
            <a:endParaRPr b="0" i="0" sz="1150" u="none" cap="none" strike="noStrike">
              <a:solidFill>
                <a:schemeClr val="dk1"/>
              </a:solidFill>
              <a:latin typeface="Calibri"/>
              <a:ea typeface="Calibri"/>
              <a:cs typeface="Calibri"/>
              <a:sym typeface="Calibri"/>
            </a:endParaRPr>
          </a:p>
        </p:txBody>
      </p:sp>
      <p:sp>
        <p:nvSpPr>
          <p:cNvPr id="106" name="Google Shape;106;p7"/>
          <p:cNvSpPr txBox="1"/>
          <p:nvPr/>
        </p:nvSpPr>
        <p:spPr>
          <a:xfrm>
            <a:off x="566928" y="640080"/>
            <a:ext cx="11057839"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3200"/>
              <a:buFont typeface="Cambria"/>
              <a:buNone/>
            </a:pPr>
            <a:r>
              <a:rPr b="1" i="0" lang="en-US" sz="3200" u="none" cap="none" strike="noStrike">
                <a:solidFill>
                  <a:srgbClr val="F0EBE4"/>
                </a:solidFill>
                <a:latin typeface="Cambria"/>
                <a:ea typeface="Cambria"/>
                <a:cs typeface="Cambria"/>
                <a:sym typeface="Cambria"/>
              </a:rPr>
              <a:t>Milestone 1 — rooms on Epic Online Services</a:t>
            </a:r>
            <a:endParaRPr b="0" i="0" sz="3200" u="none" cap="none" strike="noStrike">
              <a:solidFill>
                <a:schemeClr val="dk1"/>
              </a:solidFill>
              <a:latin typeface="Calibri"/>
              <a:ea typeface="Calibri"/>
              <a:cs typeface="Calibri"/>
              <a:sym typeface="Calibri"/>
            </a:endParaRPr>
          </a:p>
        </p:txBody>
      </p:sp>
      <p:sp>
        <p:nvSpPr>
          <p:cNvPr id="107" name="Google Shape;107;p7"/>
          <p:cNvSpPr/>
          <p:nvPr/>
        </p:nvSpPr>
        <p:spPr>
          <a:xfrm>
            <a:off x="566928" y="1627632"/>
            <a:ext cx="4663440" cy="4023360"/>
          </a:xfrm>
          <a:prstGeom prst="roundRect">
            <a:avLst>
              <a:gd fmla="val 1364"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home-claude/1390a9ce-40b9-5e21-8a81-99b2e23edd0b/scratchpad/img/ev_menu_buttons.png" id="108" name="Google Shape;108;p7"/>
          <p:cNvPicPr preferRelativeResize="0"/>
          <p:nvPr/>
        </p:nvPicPr>
        <p:blipFill rotWithShape="1">
          <a:blip r:embed="rId3">
            <a:alphaModFix/>
          </a:blip>
          <a:srcRect b="0" l="0" r="0" t="0"/>
          <a:stretch/>
        </p:blipFill>
        <p:spPr>
          <a:xfrm>
            <a:off x="978408" y="1883664"/>
            <a:ext cx="3840480" cy="2212848"/>
          </a:xfrm>
          <a:prstGeom prst="rect">
            <a:avLst/>
          </a:prstGeom>
          <a:noFill/>
          <a:ln>
            <a:noFill/>
          </a:ln>
        </p:spPr>
      </p:pic>
      <p:sp>
        <p:nvSpPr>
          <p:cNvPr id="109" name="Google Shape;109;p7"/>
          <p:cNvSpPr txBox="1"/>
          <p:nvPr/>
        </p:nvSpPr>
        <p:spPr>
          <a:xfrm>
            <a:off x="950976" y="4169664"/>
            <a:ext cx="39319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1050"/>
              <a:buFont typeface="Calibri"/>
              <a:buNone/>
            </a:pPr>
            <a:r>
              <a:rPr b="0" i="1" lang="en-US" sz="1050" u="none" cap="none" strike="noStrike">
                <a:solidFill>
                  <a:srgbClr val="6E6876"/>
                </a:solidFill>
                <a:latin typeface="Calibri"/>
                <a:ea typeface="Calibri"/>
                <a:cs typeface="Calibri"/>
                <a:sym typeface="Calibri"/>
              </a:rPr>
              <a:t>MainMenu — the two entry points under test</a:t>
            </a:r>
            <a:endParaRPr b="0" i="0" sz="1050" u="none" cap="none" strike="noStrike">
              <a:solidFill>
                <a:schemeClr val="dk1"/>
              </a:solidFill>
              <a:latin typeface="Calibri"/>
              <a:ea typeface="Calibri"/>
              <a:cs typeface="Calibri"/>
              <a:sym typeface="Calibri"/>
            </a:endParaRPr>
          </a:p>
        </p:txBody>
      </p:sp>
      <p:sp>
        <p:nvSpPr>
          <p:cNvPr id="110" name="Google Shape;110;p7"/>
          <p:cNvSpPr txBox="1"/>
          <p:nvPr/>
        </p:nvSpPr>
        <p:spPr>
          <a:xfrm>
            <a:off x="950976" y="4517136"/>
            <a:ext cx="3931920" cy="100584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F0EBE4"/>
              </a:buClr>
              <a:buSzPts val="1250"/>
              <a:buFont typeface="Calibri"/>
              <a:buChar char="•"/>
            </a:pPr>
            <a:r>
              <a:rPr b="0" i="0" lang="en-US" sz="1250" u="none" cap="none" strike="noStrike">
                <a:solidFill>
                  <a:srgbClr val="F0EBE4"/>
                </a:solidFill>
                <a:latin typeface="Calibri"/>
                <a:ea typeface="Calibri"/>
                <a:cs typeface="Calibri"/>
                <a:sym typeface="Calibri"/>
              </a:rPr>
              <a:t>Create Room → opens an EOS lobby, then starts the Mirror host</a:t>
            </a:r>
            <a:endParaRPr b="0" i="0" sz="12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250"/>
              <a:buFont typeface="Calibri"/>
              <a:buChar char="•"/>
            </a:pPr>
            <a:r>
              <a:rPr b="0" i="0" lang="en-US" sz="1250" u="none" cap="none" strike="noStrike">
                <a:solidFill>
                  <a:srgbClr val="F0EBE4"/>
                </a:solidFill>
                <a:latin typeface="Calibri"/>
                <a:ea typeface="Calibri"/>
                <a:cs typeface="Calibri"/>
                <a:sym typeface="Calibri"/>
              </a:rPr>
              <a:t>Find Room → searches EOS and returns every open room</a:t>
            </a:r>
            <a:endParaRPr b="0" i="0" sz="1250" u="none" cap="none" strike="noStrike">
              <a:solidFill>
                <a:schemeClr val="dk1"/>
              </a:solidFill>
              <a:latin typeface="Calibri"/>
              <a:ea typeface="Calibri"/>
              <a:cs typeface="Calibri"/>
              <a:sym typeface="Calibri"/>
            </a:endParaRPr>
          </a:p>
        </p:txBody>
      </p:sp>
      <p:sp>
        <p:nvSpPr>
          <p:cNvPr id="111" name="Google Shape;111;p7"/>
          <p:cNvSpPr/>
          <p:nvPr/>
        </p:nvSpPr>
        <p:spPr>
          <a:xfrm>
            <a:off x="5522976" y="1627632"/>
            <a:ext cx="6080760" cy="4023360"/>
          </a:xfrm>
          <a:prstGeom prst="roundRect">
            <a:avLst>
              <a:gd fmla="val 1364"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home-claude/1390a9ce-40b9-5e21-8a81-99b2e23edd0b/scratchpad/img/ev_console_create.png" id="112" name="Google Shape;112;p7"/>
          <p:cNvPicPr preferRelativeResize="0"/>
          <p:nvPr/>
        </p:nvPicPr>
        <p:blipFill rotWithShape="1">
          <a:blip r:embed="rId4">
            <a:alphaModFix/>
          </a:blip>
          <a:srcRect b="0" l="0" r="0" t="0"/>
          <a:stretch/>
        </p:blipFill>
        <p:spPr>
          <a:xfrm>
            <a:off x="5815584" y="1901952"/>
            <a:ext cx="4709160" cy="914400"/>
          </a:xfrm>
          <a:prstGeom prst="rect">
            <a:avLst/>
          </a:prstGeom>
          <a:noFill/>
          <a:ln>
            <a:noFill/>
          </a:ln>
        </p:spPr>
      </p:pic>
      <p:sp>
        <p:nvSpPr>
          <p:cNvPr id="113" name="Google Shape;113;p7"/>
          <p:cNvSpPr txBox="1"/>
          <p:nvPr/>
        </p:nvSpPr>
        <p:spPr>
          <a:xfrm>
            <a:off x="5815584" y="2907792"/>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1050"/>
              <a:buFont typeface="Calibri"/>
              <a:buNone/>
            </a:pPr>
            <a:r>
              <a:rPr b="0" i="1" lang="en-US" sz="1050" u="none" cap="none" strike="noStrike">
                <a:solidFill>
                  <a:srgbClr val="6E6876"/>
                </a:solidFill>
                <a:latin typeface="Calibri"/>
                <a:ea typeface="Calibri"/>
                <a:cs typeface="Calibri"/>
                <a:sym typeface="Calibri"/>
              </a:rPr>
              <a:t>Editor console during the run — host side</a:t>
            </a:r>
            <a:endParaRPr b="0" i="0" sz="1050" u="none" cap="none" strike="noStrike">
              <a:solidFill>
                <a:schemeClr val="dk1"/>
              </a:solidFill>
              <a:latin typeface="Calibri"/>
              <a:ea typeface="Calibri"/>
              <a:cs typeface="Calibri"/>
              <a:sym typeface="Calibri"/>
            </a:endParaRPr>
          </a:p>
        </p:txBody>
      </p:sp>
      <p:sp>
        <p:nvSpPr>
          <p:cNvPr id="114" name="Google Shape;114;p7"/>
          <p:cNvSpPr txBox="1"/>
          <p:nvPr/>
        </p:nvSpPr>
        <p:spPr>
          <a:xfrm>
            <a:off x="5815584" y="3291840"/>
            <a:ext cx="553212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9E6E"/>
              </a:buClr>
              <a:buSzPts val="1150"/>
              <a:buFont typeface="Courier New"/>
              <a:buNone/>
            </a:pPr>
            <a:r>
              <a:rPr b="1" i="0" lang="en-US" sz="1150" u="none" cap="none" strike="noStrike">
                <a:solidFill>
                  <a:srgbClr val="5E9E6E"/>
                </a:solidFill>
                <a:latin typeface="Courier New"/>
                <a:ea typeface="Courier New"/>
                <a:cs typeface="Courier New"/>
                <a:sym typeface="Courier New"/>
              </a:rPr>
              <a:t>Room config carried into the lobby:</a:t>
            </a:r>
            <a:endParaRPr b="0" i="0" sz="11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E9E6E"/>
              </a:buClr>
              <a:buSzPts val="1150"/>
              <a:buFont typeface="Courier New"/>
              <a:buNone/>
            </a:pPr>
            <a:r>
              <a:rPr b="0" i="0" lang="en-US" sz="1150" u="none" cap="none" strike="noStrike">
                <a:solidFill>
                  <a:srgbClr val="5E9E6E"/>
                </a:solidFill>
                <a:latin typeface="Courier New"/>
                <a:ea typeface="Courier New"/>
                <a:cs typeface="Courier New"/>
                <a:sym typeface="Courier New"/>
              </a:rPr>
              <a:t>map = demo_map_01   ·   difficulty = Normal   ·   players = 6</a:t>
            </a:r>
            <a:endParaRPr b="0" i="0" sz="1150" u="none" cap="none" strike="noStrike">
              <a:solidFill>
                <a:schemeClr val="dk1"/>
              </a:solidFill>
              <a:latin typeface="Calibri"/>
              <a:ea typeface="Calibri"/>
              <a:cs typeface="Calibri"/>
              <a:sym typeface="Calibri"/>
            </a:endParaRPr>
          </a:p>
        </p:txBody>
      </p:sp>
      <p:sp>
        <p:nvSpPr>
          <p:cNvPr id="115" name="Google Shape;115;p7"/>
          <p:cNvSpPr txBox="1"/>
          <p:nvPr/>
        </p:nvSpPr>
        <p:spPr>
          <a:xfrm>
            <a:off x="5815584" y="4023360"/>
            <a:ext cx="5532120" cy="13716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F0EBE4"/>
              </a:buClr>
              <a:buSzPts val="1250"/>
              <a:buFont typeface="Calibri"/>
              <a:buChar char="•"/>
            </a:pPr>
            <a:r>
              <a:rPr b="0" i="0" lang="en-US" sz="1250" u="none" cap="none" strike="noStrike">
                <a:solidFill>
                  <a:srgbClr val="F0EBE4"/>
                </a:solidFill>
                <a:latin typeface="Calibri"/>
                <a:ea typeface="Calibri"/>
                <a:cs typeface="Calibri"/>
                <a:sym typeface="Calibri"/>
              </a:rPr>
              <a:t>Room settings are published as EOS lobby attributes, so the browser can show map, difficulty and player count before joining.</a:t>
            </a:r>
            <a:endParaRPr b="0" i="0" sz="12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250"/>
              <a:buFont typeface="Calibri"/>
              <a:buChar char="•"/>
            </a:pPr>
            <a:r>
              <a:rPr b="0" i="0" lang="en-US" sz="1250" u="none" cap="none" strike="noStrike">
                <a:solidFill>
                  <a:srgbClr val="F0EBE4"/>
                </a:solidFill>
                <a:latin typeface="Calibri"/>
                <a:ea typeface="Calibri"/>
                <a:cs typeface="Calibri"/>
                <a:sym typeface="Calibri"/>
              </a:rPr>
              <a:t>Passwords are deliberately NOT lobby attributes — EOS makes those readable by anyone searching.</a:t>
            </a:r>
            <a:endParaRPr b="0" i="0" sz="1250" u="none" cap="none" strike="noStrike">
              <a:solidFill>
                <a:schemeClr val="dk1"/>
              </a:solidFill>
              <a:latin typeface="Calibri"/>
              <a:ea typeface="Calibri"/>
              <a:cs typeface="Calibri"/>
              <a:sym typeface="Calibri"/>
            </a:endParaRPr>
          </a:p>
        </p:txBody>
      </p:sp>
      <p:sp>
        <p:nvSpPr>
          <p:cNvPr id="116" name="Google Shape;116;p7"/>
          <p:cNvSpPr txBox="1"/>
          <p:nvPr/>
        </p:nvSpPr>
        <p:spPr>
          <a:xfrm>
            <a:off x="566928" y="6382512"/>
            <a:ext cx="609584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50"/>
              <a:buFont typeface="Calibri"/>
              <a:buNone/>
            </a:pPr>
            <a:r>
              <a:rPr b="0" i="0" lang="en-US" sz="950" u="none" cap="none" strike="noStrike">
                <a:solidFill>
                  <a:srgbClr val="6E6876"/>
                </a:solidFill>
                <a:latin typeface="Calibri"/>
                <a:ea typeface="Calibri"/>
                <a:cs typeface="Calibri"/>
                <a:sym typeface="Calibri"/>
              </a:rPr>
              <a:t>Pre-Thesis Demo  |  Programming Status Report</a:t>
            </a:r>
            <a:endParaRPr b="0" i="0" sz="950" u="none" cap="none" strike="noStrike">
              <a:solidFill>
                <a:schemeClr val="dk1"/>
              </a:solidFill>
              <a:latin typeface="Calibri"/>
              <a:ea typeface="Calibri"/>
              <a:cs typeface="Calibri"/>
              <a:sym typeface="Calibri"/>
            </a:endParaRPr>
          </a:p>
        </p:txBody>
      </p:sp>
      <p:sp>
        <p:nvSpPr>
          <p:cNvPr id="117" name="Google Shape;117;p7"/>
          <p:cNvSpPr txBox="1"/>
          <p:nvPr/>
        </p:nvSpPr>
        <p:spPr>
          <a:xfrm>
            <a:off x="6095848" y="6382512"/>
            <a:ext cx="5528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1272D"/>
              </a:buClr>
              <a:buSzPts val="950"/>
              <a:buFont typeface="Calibri"/>
              <a:buNone/>
            </a:pPr>
            <a:r>
              <a:rPr b="0" i="0" lang="en-US" sz="950" u="none" cap="none" strike="noStrike">
                <a:solidFill>
                  <a:srgbClr val="C1272D"/>
                </a:solidFill>
                <a:latin typeface="Calibri"/>
                <a:ea typeface="Calibri"/>
                <a:cs typeface="Calibri"/>
                <a:sym typeface="Calibri"/>
              </a:rPr>
              <a:t>04</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6"/>
        </a:solidFill>
      </p:bgPr>
    </p:bg>
    <p:spTree>
      <p:nvGrpSpPr>
        <p:cNvPr id="122" name="Shape 122"/>
        <p:cNvGrpSpPr/>
        <p:nvPr/>
      </p:nvGrpSpPr>
      <p:grpSpPr>
        <a:xfrm>
          <a:off x="0" y="0"/>
          <a:ext cx="0" cy="0"/>
          <a:chOff x="0" y="0"/>
          <a:chExt cx="0" cy="0"/>
        </a:xfrm>
      </p:grpSpPr>
      <p:sp>
        <p:nvSpPr>
          <p:cNvPr id="123" name="Google Shape;123;p8"/>
          <p:cNvSpPr txBox="1"/>
          <p:nvPr/>
        </p:nvSpPr>
        <p:spPr>
          <a:xfrm>
            <a:off x="566928" y="384048"/>
            <a:ext cx="11057839"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150"/>
              <a:buFont typeface="Calibri"/>
              <a:buNone/>
            </a:pPr>
            <a:r>
              <a:rPr b="1" i="0" lang="en-US" sz="1150" u="none" cap="none" strike="noStrike">
                <a:solidFill>
                  <a:srgbClr val="C1272D"/>
                </a:solidFill>
                <a:latin typeface="Calibri"/>
                <a:ea typeface="Calibri"/>
                <a:cs typeface="Calibri"/>
                <a:sym typeface="Calibri"/>
              </a:rPr>
              <a:t>EVIDENCE  ·  PLAYTEST RECORDING</a:t>
            </a:r>
            <a:endParaRPr b="0" i="0" sz="1150" u="none" cap="none" strike="noStrike">
              <a:solidFill>
                <a:schemeClr val="dk1"/>
              </a:solidFill>
              <a:latin typeface="Calibri"/>
              <a:ea typeface="Calibri"/>
              <a:cs typeface="Calibri"/>
              <a:sym typeface="Calibri"/>
            </a:endParaRPr>
          </a:p>
        </p:txBody>
      </p:sp>
      <p:sp>
        <p:nvSpPr>
          <p:cNvPr id="124" name="Google Shape;124;p8"/>
          <p:cNvSpPr txBox="1"/>
          <p:nvPr/>
        </p:nvSpPr>
        <p:spPr>
          <a:xfrm>
            <a:off x="566928" y="640080"/>
            <a:ext cx="11057839"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3200"/>
              <a:buFont typeface="Cambria"/>
              <a:buNone/>
            </a:pPr>
            <a:r>
              <a:rPr b="1" i="0" lang="en-US" sz="3200" u="none" cap="none" strike="noStrike">
                <a:solidFill>
                  <a:srgbClr val="F0EBE4"/>
                </a:solidFill>
                <a:latin typeface="Cambria"/>
                <a:ea typeface="Cambria"/>
                <a:cs typeface="Cambria"/>
                <a:sym typeface="Cambria"/>
              </a:rPr>
              <a:t>Milestone 2 — two machines, one world</a:t>
            </a:r>
            <a:endParaRPr b="0" i="0" sz="3200" u="none" cap="none" strike="noStrike">
              <a:solidFill>
                <a:schemeClr val="dk1"/>
              </a:solidFill>
              <a:latin typeface="Calibri"/>
              <a:ea typeface="Calibri"/>
              <a:cs typeface="Calibri"/>
              <a:sym typeface="Calibri"/>
            </a:endParaRPr>
          </a:p>
        </p:txBody>
      </p:sp>
      <p:sp>
        <p:nvSpPr>
          <p:cNvPr id="125" name="Google Shape;125;p8"/>
          <p:cNvSpPr/>
          <p:nvPr/>
        </p:nvSpPr>
        <p:spPr>
          <a:xfrm>
            <a:off x="566928" y="1627632"/>
            <a:ext cx="3246120" cy="3931920"/>
          </a:xfrm>
          <a:prstGeom prst="roundRect">
            <a:avLst>
              <a:gd fmla="val 1690"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home-claude/1390a9ce-40b9-5e21-8a81-99b2e23edd0b/scratchpad/img/ev_hierarchy_2players.png" id="126" name="Google Shape;126;p8"/>
          <p:cNvPicPr preferRelativeResize="0"/>
          <p:nvPr/>
        </p:nvPicPr>
        <p:blipFill rotWithShape="1">
          <a:blip r:embed="rId3">
            <a:alphaModFix/>
          </a:blip>
          <a:srcRect b="0" l="0" r="0" t="0"/>
          <a:stretch/>
        </p:blipFill>
        <p:spPr>
          <a:xfrm>
            <a:off x="950976" y="1883664"/>
            <a:ext cx="2468880" cy="1920240"/>
          </a:xfrm>
          <a:prstGeom prst="rect">
            <a:avLst/>
          </a:prstGeom>
          <a:noFill/>
          <a:ln>
            <a:noFill/>
          </a:ln>
        </p:spPr>
      </p:pic>
      <p:sp>
        <p:nvSpPr>
          <p:cNvPr id="127" name="Google Shape;127;p8"/>
          <p:cNvSpPr txBox="1"/>
          <p:nvPr/>
        </p:nvSpPr>
        <p:spPr>
          <a:xfrm>
            <a:off x="841248" y="3877056"/>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1050"/>
              <a:buFont typeface="Calibri"/>
              <a:buNone/>
            </a:pPr>
            <a:r>
              <a:rPr b="0" i="1" lang="en-US" sz="1050" u="none" cap="none" strike="noStrike">
                <a:solidFill>
                  <a:srgbClr val="6E6876"/>
                </a:solidFill>
                <a:latin typeface="Calibri"/>
                <a:ea typeface="Calibri"/>
                <a:cs typeface="Calibri"/>
                <a:sym typeface="Calibri"/>
              </a:rPr>
              <a:t>Host scene hierarchy</a:t>
            </a:r>
            <a:endParaRPr b="0" i="0" sz="1050" u="none" cap="none" strike="noStrike">
              <a:solidFill>
                <a:schemeClr val="dk1"/>
              </a:solidFill>
              <a:latin typeface="Calibri"/>
              <a:ea typeface="Calibri"/>
              <a:cs typeface="Calibri"/>
              <a:sym typeface="Calibri"/>
            </a:endParaRPr>
          </a:p>
        </p:txBody>
      </p:sp>
      <p:sp>
        <p:nvSpPr>
          <p:cNvPr id="128" name="Google Shape;128;p8"/>
          <p:cNvSpPr txBox="1"/>
          <p:nvPr/>
        </p:nvSpPr>
        <p:spPr>
          <a:xfrm>
            <a:off x="841248" y="4187952"/>
            <a:ext cx="2724912"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250"/>
              <a:buFont typeface="Calibri"/>
              <a:buNone/>
            </a:pPr>
            <a:r>
              <a:rPr b="0" i="0" lang="en-US" sz="1250" u="none" cap="none" strike="noStrike">
                <a:solidFill>
                  <a:srgbClr val="9B95A2"/>
                </a:solidFill>
                <a:latin typeface="Calibri"/>
                <a:ea typeface="Calibri"/>
                <a:cs typeface="Calibri"/>
                <a:sym typeface="Calibri"/>
              </a:rPr>
              <a:t>Two Player(Clone) objects — host and remote client — in the same scene.</a:t>
            </a:r>
            <a:endParaRPr b="0" i="0" sz="1250" u="none" cap="none" strike="noStrike">
              <a:solidFill>
                <a:schemeClr val="dk1"/>
              </a:solidFill>
              <a:latin typeface="Calibri"/>
              <a:ea typeface="Calibri"/>
              <a:cs typeface="Calibri"/>
              <a:sym typeface="Calibri"/>
            </a:endParaRPr>
          </a:p>
        </p:txBody>
      </p:sp>
      <p:sp>
        <p:nvSpPr>
          <p:cNvPr id="129" name="Google Shape;129;p8"/>
          <p:cNvSpPr/>
          <p:nvPr/>
        </p:nvSpPr>
        <p:spPr>
          <a:xfrm>
            <a:off x="4105656" y="1627632"/>
            <a:ext cx="4663440" cy="3931920"/>
          </a:xfrm>
          <a:prstGeom prst="roundRect">
            <a:avLst>
              <a:gd fmla="val 1395"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home-claude/1390a9ce-40b9-5e21-8a81-99b2e23edd0b/scratchpad/img/ev_gameview_remote.png" id="130" name="Google Shape;130;p8"/>
          <p:cNvPicPr preferRelativeResize="0"/>
          <p:nvPr/>
        </p:nvPicPr>
        <p:blipFill rotWithShape="1">
          <a:blip r:embed="rId4">
            <a:alphaModFix/>
          </a:blip>
          <a:srcRect b="0" l="0" r="0" t="0"/>
          <a:stretch/>
        </p:blipFill>
        <p:spPr>
          <a:xfrm>
            <a:off x="4334256" y="1883664"/>
            <a:ext cx="4206240" cy="2377440"/>
          </a:xfrm>
          <a:prstGeom prst="rect">
            <a:avLst/>
          </a:prstGeom>
          <a:noFill/>
          <a:ln>
            <a:noFill/>
          </a:ln>
        </p:spPr>
      </p:pic>
      <p:sp>
        <p:nvSpPr>
          <p:cNvPr id="131" name="Google Shape;131;p8"/>
          <p:cNvSpPr txBox="1"/>
          <p:nvPr/>
        </p:nvSpPr>
        <p:spPr>
          <a:xfrm>
            <a:off x="4334256" y="4334256"/>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1050"/>
              <a:buFont typeface="Calibri"/>
              <a:buNone/>
            </a:pPr>
            <a:r>
              <a:rPr b="0" i="1" lang="en-US" sz="1050" u="none" cap="none" strike="noStrike">
                <a:solidFill>
                  <a:srgbClr val="6E6876"/>
                </a:solidFill>
                <a:latin typeface="Calibri"/>
                <a:ea typeface="Calibri"/>
                <a:cs typeface="Calibri"/>
                <a:sym typeface="Calibri"/>
              </a:rPr>
              <a:t>Game view — the other player is visible and moving</a:t>
            </a:r>
            <a:endParaRPr b="0" i="0" sz="1050" u="none" cap="none" strike="noStrike">
              <a:solidFill>
                <a:schemeClr val="dk1"/>
              </a:solidFill>
              <a:latin typeface="Calibri"/>
              <a:ea typeface="Calibri"/>
              <a:cs typeface="Calibri"/>
              <a:sym typeface="Calibri"/>
            </a:endParaRPr>
          </a:p>
        </p:txBody>
      </p:sp>
      <p:sp>
        <p:nvSpPr>
          <p:cNvPr id="132" name="Google Shape;132;p8"/>
          <p:cNvSpPr/>
          <p:nvPr/>
        </p:nvSpPr>
        <p:spPr>
          <a:xfrm>
            <a:off x="9061704" y="1627632"/>
            <a:ext cx="2542032" cy="3931920"/>
          </a:xfrm>
          <a:prstGeom prst="roundRect">
            <a:avLst>
              <a:gd fmla="val 2158"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home-claude/1390a9ce-40b9-5e21-8a81-99b2e23edd0b/scratchpad/img/ev_console_join.png" id="133" name="Google Shape;133;p8"/>
          <p:cNvPicPr preferRelativeResize="0"/>
          <p:nvPr/>
        </p:nvPicPr>
        <p:blipFill rotWithShape="1">
          <a:blip r:embed="rId5">
            <a:alphaModFix/>
          </a:blip>
          <a:srcRect b="0" l="0" r="0" t="0"/>
          <a:stretch/>
        </p:blipFill>
        <p:spPr>
          <a:xfrm>
            <a:off x="9272016" y="1883664"/>
            <a:ext cx="2121408" cy="914400"/>
          </a:xfrm>
          <a:prstGeom prst="rect">
            <a:avLst/>
          </a:prstGeom>
          <a:noFill/>
          <a:ln>
            <a:noFill/>
          </a:ln>
        </p:spPr>
      </p:pic>
      <p:sp>
        <p:nvSpPr>
          <p:cNvPr id="134" name="Google Shape;134;p8"/>
          <p:cNvSpPr txBox="1"/>
          <p:nvPr/>
        </p:nvSpPr>
        <p:spPr>
          <a:xfrm>
            <a:off x="9272016" y="2889504"/>
            <a:ext cx="21031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1050"/>
              <a:buFont typeface="Calibri"/>
              <a:buNone/>
            </a:pPr>
            <a:r>
              <a:rPr b="0" i="1" lang="en-US" sz="1050" u="none" cap="none" strike="noStrike">
                <a:solidFill>
                  <a:srgbClr val="6E6876"/>
                </a:solidFill>
                <a:latin typeface="Calibri"/>
                <a:ea typeface="Calibri"/>
                <a:cs typeface="Calibri"/>
                <a:sym typeface="Calibri"/>
              </a:rPr>
              <a:t>Client connection log</a:t>
            </a:r>
            <a:endParaRPr b="0" i="0" sz="1050" u="none" cap="none" strike="noStrike">
              <a:solidFill>
                <a:schemeClr val="dk1"/>
              </a:solidFill>
              <a:latin typeface="Calibri"/>
              <a:ea typeface="Calibri"/>
              <a:cs typeface="Calibri"/>
              <a:sym typeface="Calibri"/>
            </a:endParaRPr>
          </a:p>
        </p:txBody>
      </p:sp>
      <p:sp>
        <p:nvSpPr>
          <p:cNvPr id="135" name="Google Shape;135;p8"/>
          <p:cNvSpPr txBox="1"/>
          <p:nvPr/>
        </p:nvSpPr>
        <p:spPr>
          <a:xfrm>
            <a:off x="9272016" y="3200400"/>
            <a:ext cx="2121408"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200"/>
              <a:buFont typeface="Calibri"/>
              <a:buNone/>
            </a:pPr>
            <a:r>
              <a:rPr b="0" i="0" lang="en-US" sz="1200" u="none" cap="none" strike="noStrike">
                <a:solidFill>
                  <a:srgbClr val="9B95A2"/>
                </a:solidFill>
                <a:latin typeface="Calibri"/>
                <a:ea typeface="Calibri"/>
                <a:cs typeface="Calibri"/>
                <a:sym typeface="Calibri"/>
              </a:rPr>
              <a:t>“Connection established” after the client resolved the host's EOS product user ID.</a:t>
            </a:r>
            <a:endParaRPr b="0" i="0" sz="1200" u="none" cap="none" strike="noStrike">
              <a:solidFill>
                <a:schemeClr val="dk1"/>
              </a:solidFill>
              <a:latin typeface="Calibri"/>
              <a:ea typeface="Calibri"/>
              <a:cs typeface="Calibri"/>
              <a:sym typeface="Calibri"/>
            </a:endParaRPr>
          </a:p>
        </p:txBody>
      </p:sp>
      <p:sp>
        <p:nvSpPr>
          <p:cNvPr id="136" name="Google Shape;136;p8"/>
          <p:cNvSpPr txBox="1"/>
          <p:nvPr/>
        </p:nvSpPr>
        <p:spPr>
          <a:xfrm>
            <a:off x="566928" y="5724144"/>
            <a:ext cx="11057839"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200"/>
              <a:buFont typeface="Calibri"/>
              <a:buNone/>
            </a:pPr>
            <a:r>
              <a:rPr b="0" i="1" lang="en-US" sz="1200" u="none" cap="none" strike="noStrike">
                <a:solidFill>
                  <a:srgbClr val="9B95A2"/>
                </a:solidFill>
                <a:latin typeface="Calibri"/>
                <a:ea typeface="Calibri"/>
                <a:cs typeface="Calibri"/>
                <a:sym typeface="Calibri"/>
              </a:rPr>
              <a:t>This is the result that was failing last week: the client connected but no player objects appeared. Root cause was a prefab registration mismatch between the two machines' checkouts.</a:t>
            </a:r>
            <a:endParaRPr b="0" i="0" sz="1200" u="none" cap="none" strike="noStrike">
              <a:solidFill>
                <a:schemeClr val="dk1"/>
              </a:solidFill>
              <a:latin typeface="Calibri"/>
              <a:ea typeface="Calibri"/>
              <a:cs typeface="Calibri"/>
              <a:sym typeface="Calibri"/>
            </a:endParaRPr>
          </a:p>
        </p:txBody>
      </p:sp>
      <p:sp>
        <p:nvSpPr>
          <p:cNvPr id="137" name="Google Shape;137;p8"/>
          <p:cNvSpPr txBox="1"/>
          <p:nvPr/>
        </p:nvSpPr>
        <p:spPr>
          <a:xfrm>
            <a:off x="566928" y="6382512"/>
            <a:ext cx="609584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50"/>
              <a:buFont typeface="Calibri"/>
              <a:buNone/>
            </a:pPr>
            <a:r>
              <a:rPr b="0" i="0" lang="en-US" sz="950" u="none" cap="none" strike="noStrike">
                <a:solidFill>
                  <a:srgbClr val="6E6876"/>
                </a:solidFill>
                <a:latin typeface="Calibri"/>
                <a:ea typeface="Calibri"/>
                <a:cs typeface="Calibri"/>
                <a:sym typeface="Calibri"/>
              </a:rPr>
              <a:t>Pre-Thesis Demo  |  Programming Status Report</a:t>
            </a:r>
            <a:endParaRPr b="0" i="0" sz="950" u="none" cap="none" strike="noStrike">
              <a:solidFill>
                <a:schemeClr val="dk1"/>
              </a:solidFill>
              <a:latin typeface="Calibri"/>
              <a:ea typeface="Calibri"/>
              <a:cs typeface="Calibri"/>
              <a:sym typeface="Calibri"/>
            </a:endParaRPr>
          </a:p>
        </p:txBody>
      </p:sp>
      <p:sp>
        <p:nvSpPr>
          <p:cNvPr id="138" name="Google Shape;138;p8"/>
          <p:cNvSpPr txBox="1"/>
          <p:nvPr/>
        </p:nvSpPr>
        <p:spPr>
          <a:xfrm>
            <a:off x="6095848" y="6382512"/>
            <a:ext cx="5528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1272D"/>
              </a:buClr>
              <a:buSzPts val="950"/>
              <a:buFont typeface="Calibri"/>
              <a:buNone/>
            </a:pPr>
            <a:r>
              <a:rPr b="0" i="0" lang="en-US" sz="950" u="none" cap="none" strike="noStrike">
                <a:solidFill>
                  <a:srgbClr val="C1272D"/>
                </a:solidFill>
                <a:latin typeface="Calibri"/>
                <a:ea typeface="Calibri"/>
                <a:cs typeface="Calibri"/>
                <a:sym typeface="Calibri"/>
              </a:rPr>
              <a:t>05</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6"/>
        </a:solidFill>
      </p:bgPr>
    </p:bg>
    <p:spTree>
      <p:nvGrpSpPr>
        <p:cNvPr id="143" name="Shape 143"/>
        <p:cNvGrpSpPr/>
        <p:nvPr/>
      </p:nvGrpSpPr>
      <p:grpSpPr>
        <a:xfrm>
          <a:off x="0" y="0"/>
          <a:ext cx="0" cy="0"/>
          <a:chOff x="0" y="0"/>
          <a:chExt cx="0" cy="0"/>
        </a:xfrm>
      </p:grpSpPr>
      <p:sp>
        <p:nvSpPr>
          <p:cNvPr id="144" name="Google Shape;144;p9"/>
          <p:cNvSpPr txBox="1"/>
          <p:nvPr/>
        </p:nvSpPr>
        <p:spPr>
          <a:xfrm>
            <a:off x="566928" y="384048"/>
            <a:ext cx="11057839"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150"/>
              <a:buFont typeface="Calibri"/>
              <a:buNone/>
            </a:pPr>
            <a:r>
              <a:rPr b="1" i="0" lang="en-US" sz="1150" u="none" cap="none" strike="noStrike">
                <a:solidFill>
                  <a:srgbClr val="C1272D"/>
                </a:solidFill>
                <a:latin typeface="Calibri"/>
                <a:ea typeface="Calibri"/>
                <a:cs typeface="Calibri"/>
                <a:sym typeface="Calibri"/>
              </a:rPr>
              <a:t>EVIDENCE  ·  PLAYTEST RECORDING</a:t>
            </a:r>
            <a:endParaRPr b="0" i="0" sz="1150" u="none" cap="none" strike="noStrike">
              <a:solidFill>
                <a:schemeClr val="dk1"/>
              </a:solidFill>
              <a:latin typeface="Calibri"/>
              <a:ea typeface="Calibri"/>
              <a:cs typeface="Calibri"/>
              <a:sym typeface="Calibri"/>
            </a:endParaRPr>
          </a:p>
        </p:txBody>
      </p:sp>
      <p:sp>
        <p:nvSpPr>
          <p:cNvPr id="145" name="Google Shape;145;p9"/>
          <p:cNvSpPr txBox="1"/>
          <p:nvPr/>
        </p:nvSpPr>
        <p:spPr>
          <a:xfrm>
            <a:off x="566928" y="640080"/>
            <a:ext cx="11057839"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3200"/>
              <a:buFont typeface="Cambria"/>
              <a:buNone/>
            </a:pPr>
            <a:r>
              <a:rPr b="1" i="0" lang="en-US" sz="3200" u="none" cap="none" strike="noStrike">
                <a:solidFill>
                  <a:srgbClr val="F0EBE4"/>
                </a:solidFill>
                <a:latin typeface="Cambria"/>
                <a:ea typeface="Cambria"/>
                <a:cs typeface="Cambria"/>
                <a:sym typeface="Cambria"/>
              </a:rPr>
              <a:t>Milestone 3 — solo testing works again</a:t>
            </a:r>
            <a:endParaRPr b="0" i="0" sz="3200" u="none" cap="none" strike="noStrike">
              <a:solidFill>
                <a:schemeClr val="dk1"/>
              </a:solidFill>
              <a:latin typeface="Calibri"/>
              <a:ea typeface="Calibri"/>
              <a:cs typeface="Calibri"/>
              <a:sym typeface="Calibri"/>
            </a:endParaRPr>
          </a:p>
        </p:txBody>
      </p:sp>
      <p:sp>
        <p:nvSpPr>
          <p:cNvPr id="146" name="Google Shape;146;p9"/>
          <p:cNvSpPr/>
          <p:nvPr/>
        </p:nvSpPr>
        <p:spPr>
          <a:xfrm>
            <a:off x="566928" y="1627632"/>
            <a:ext cx="4114800" cy="3968496"/>
          </a:xfrm>
          <a:prstGeom prst="roundRect">
            <a:avLst>
              <a:gd fmla="val 1382"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home-claude/1390a9ce-40b9-5e21-8a81-99b2e23edd0b/scratchpad/img/ev_offline_hierarchy.png" id="147" name="Google Shape;147;p9"/>
          <p:cNvPicPr preferRelativeResize="0"/>
          <p:nvPr/>
        </p:nvPicPr>
        <p:blipFill rotWithShape="1">
          <a:blip r:embed="rId3">
            <a:alphaModFix/>
          </a:blip>
          <a:srcRect b="0" l="0" r="0" t="0"/>
          <a:stretch/>
        </p:blipFill>
        <p:spPr>
          <a:xfrm>
            <a:off x="1097280" y="1865376"/>
            <a:ext cx="3017520" cy="2752344"/>
          </a:xfrm>
          <a:prstGeom prst="rect">
            <a:avLst/>
          </a:prstGeom>
          <a:noFill/>
          <a:ln>
            <a:noFill/>
          </a:ln>
        </p:spPr>
      </p:pic>
      <p:sp>
        <p:nvSpPr>
          <p:cNvPr id="148" name="Google Shape;148;p9"/>
          <p:cNvSpPr txBox="1"/>
          <p:nvPr/>
        </p:nvSpPr>
        <p:spPr>
          <a:xfrm>
            <a:off x="932688" y="4718304"/>
            <a:ext cx="38404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1050"/>
              <a:buFont typeface="Calibri"/>
              <a:buNone/>
            </a:pPr>
            <a:r>
              <a:rPr b="0" i="1" lang="en-US" sz="1050" u="none" cap="none" strike="noStrike">
                <a:solidFill>
                  <a:srgbClr val="6E6876"/>
                </a:solidFill>
                <a:latin typeface="Calibri"/>
                <a:ea typeface="Calibri"/>
                <a:cs typeface="Calibri"/>
                <a:sym typeface="Calibri"/>
              </a:rPr>
              <a:t>TestWalk in Play mode — nothing has vanished</a:t>
            </a:r>
            <a:endParaRPr b="0" i="0" sz="1050" u="none" cap="none" strike="noStrike">
              <a:solidFill>
                <a:schemeClr val="dk1"/>
              </a:solidFill>
              <a:latin typeface="Calibri"/>
              <a:ea typeface="Calibri"/>
              <a:cs typeface="Calibri"/>
              <a:sym typeface="Calibri"/>
            </a:endParaRPr>
          </a:p>
        </p:txBody>
      </p:sp>
      <p:sp>
        <p:nvSpPr>
          <p:cNvPr id="149" name="Google Shape;149;p9"/>
          <p:cNvSpPr/>
          <p:nvPr/>
        </p:nvSpPr>
        <p:spPr>
          <a:xfrm>
            <a:off x="4974336" y="1627632"/>
            <a:ext cx="6629400" cy="3968496"/>
          </a:xfrm>
          <a:prstGeom prst="roundRect">
            <a:avLst>
              <a:gd fmla="val 1382"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9"/>
          <p:cNvSpPr txBox="1"/>
          <p:nvPr/>
        </p:nvSpPr>
        <p:spPr>
          <a:xfrm>
            <a:off x="5285232" y="1847088"/>
            <a:ext cx="603504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800"/>
              <a:buFont typeface="Cambria"/>
              <a:buNone/>
            </a:pPr>
            <a:r>
              <a:rPr b="1" i="0" lang="en-US" sz="1800" u="none" cap="none" strike="noStrike">
                <a:solidFill>
                  <a:srgbClr val="F0EBE4"/>
                </a:solidFill>
                <a:latin typeface="Cambria"/>
                <a:ea typeface="Cambria"/>
                <a:cs typeface="Cambria"/>
                <a:sym typeface="Cambria"/>
              </a:rPr>
              <a:t>The problem</a:t>
            </a:r>
            <a:endParaRPr b="0" i="0" sz="1800" u="none" cap="none" strike="noStrike">
              <a:solidFill>
                <a:schemeClr val="dk1"/>
              </a:solidFill>
              <a:latin typeface="Calibri"/>
              <a:ea typeface="Calibri"/>
              <a:cs typeface="Calibri"/>
              <a:sym typeface="Calibri"/>
            </a:endParaRPr>
          </a:p>
        </p:txBody>
      </p:sp>
      <p:sp>
        <p:nvSpPr>
          <p:cNvPr id="151" name="Google Shape;151;p9"/>
          <p:cNvSpPr txBox="1"/>
          <p:nvPr/>
        </p:nvSpPr>
        <p:spPr>
          <a:xfrm>
            <a:off x="5285232" y="2212848"/>
            <a:ext cx="6035040" cy="8412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300"/>
              <a:buFont typeface="Calibri"/>
              <a:buNone/>
            </a:pPr>
            <a:r>
              <a:rPr b="0" i="0" lang="en-US" sz="1300" u="none" cap="none" strike="noStrike">
                <a:solidFill>
                  <a:srgbClr val="9B95A2"/>
                </a:solidFill>
                <a:latin typeface="Calibri"/>
                <a:ea typeface="Calibri"/>
                <a:cs typeface="Calibri"/>
                <a:sym typeface="Calibri"/>
              </a:rPr>
              <a:t>Mirror force-disables every scene object carrying a NetworkIdentity so the server decides when to spawn it. In a sandbox scene there is no server — so interactable props disappeared the moment Play was pressed.</a:t>
            </a:r>
            <a:endParaRPr b="0" i="0" sz="1300" u="none" cap="none" strike="noStrike">
              <a:solidFill>
                <a:schemeClr val="dk1"/>
              </a:solidFill>
              <a:latin typeface="Calibri"/>
              <a:ea typeface="Calibri"/>
              <a:cs typeface="Calibri"/>
              <a:sym typeface="Calibri"/>
            </a:endParaRPr>
          </a:p>
        </p:txBody>
      </p:sp>
      <p:sp>
        <p:nvSpPr>
          <p:cNvPr id="152" name="Google Shape;152;p9"/>
          <p:cNvSpPr txBox="1"/>
          <p:nvPr/>
        </p:nvSpPr>
        <p:spPr>
          <a:xfrm>
            <a:off x="5285232" y="3163824"/>
            <a:ext cx="603504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800"/>
              <a:buFont typeface="Cambria"/>
              <a:buNone/>
            </a:pPr>
            <a:r>
              <a:rPr b="1" i="0" lang="en-US" sz="1800" u="none" cap="none" strike="noStrike">
                <a:solidFill>
                  <a:srgbClr val="F0EBE4"/>
                </a:solidFill>
                <a:latin typeface="Cambria"/>
                <a:ea typeface="Cambria"/>
                <a:cs typeface="Cambria"/>
                <a:sym typeface="Cambria"/>
              </a:rPr>
              <a:t>The fix</a:t>
            </a:r>
            <a:endParaRPr b="0" i="0" sz="1800" u="none" cap="none" strike="noStrike">
              <a:solidFill>
                <a:schemeClr val="dk1"/>
              </a:solidFill>
              <a:latin typeface="Calibri"/>
              <a:ea typeface="Calibri"/>
              <a:cs typeface="Calibri"/>
              <a:sym typeface="Calibri"/>
            </a:endParaRPr>
          </a:p>
        </p:txBody>
      </p:sp>
      <p:sp>
        <p:nvSpPr>
          <p:cNvPr id="153" name="Google Shape;153;p9"/>
          <p:cNvSpPr txBox="1"/>
          <p:nvPr/>
        </p:nvSpPr>
        <p:spPr>
          <a:xfrm>
            <a:off x="5285232" y="3529584"/>
            <a:ext cx="6035040" cy="8412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300"/>
              <a:buFont typeface="Calibri"/>
              <a:buNone/>
            </a:pPr>
            <a:r>
              <a:rPr b="0" i="0" lang="en-US" sz="1300" u="none" cap="none" strike="noStrike">
                <a:solidFill>
                  <a:srgbClr val="9B95A2"/>
                </a:solidFill>
                <a:latin typeface="Calibri"/>
                <a:ea typeface="Calibri"/>
                <a:cs typeface="Calibri"/>
                <a:sym typeface="Calibri"/>
              </a:rPr>
              <a:t>A dedicated offline mode. With no server and no client running, a spawner places a player and re-enables the scene objects Mirror switched off. Two earlier attempts failed on timing — Mirror's pass runs after Awake.</a:t>
            </a:r>
            <a:endParaRPr b="0" i="0" sz="1300" u="none" cap="none" strike="noStrike">
              <a:solidFill>
                <a:schemeClr val="dk1"/>
              </a:solidFill>
              <a:latin typeface="Calibri"/>
              <a:ea typeface="Calibri"/>
              <a:cs typeface="Calibri"/>
              <a:sym typeface="Calibri"/>
            </a:endParaRPr>
          </a:p>
        </p:txBody>
      </p:sp>
      <p:pic>
        <p:nvPicPr>
          <p:cNvPr descr="/tmp/claude-0/-home-claude/1390a9ce-40b9-5e21-8a81-99b2e23edd0b/scratchpad/img/ev_offline_log.png" id="154" name="Google Shape;154;p9"/>
          <p:cNvPicPr preferRelativeResize="0"/>
          <p:nvPr/>
        </p:nvPicPr>
        <p:blipFill rotWithShape="1">
          <a:blip r:embed="rId4">
            <a:alphaModFix/>
          </a:blip>
          <a:srcRect b="0" l="0" r="0" t="0"/>
          <a:stretch/>
        </p:blipFill>
        <p:spPr>
          <a:xfrm>
            <a:off x="5285232" y="4517136"/>
            <a:ext cx="6035040" cy="192024"/>
          </a:xfrm>
          <a:prstGeom prst="rect">
            <a:avLst/>
          </a:prstGeom>
          <a:noFill/>
          <a:ln>
            <a:noFill/>
          </a:ln>
        </p:spPr>
      </p:pic>
      <p:sp>
        <p:nvSpPr>
          <p:cNvPr id="155" name="Google Shape;155;p9"/>
          <p:cNvSpPr txBox="1"/>
          <p:nvPr/>
        </p:nvSpPr>
        <p:spPr>
          <a:xfrm>
            <a:off x="5285232" y="4773168"/>
            <a:ext cx="6035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1050"/>
              <a:buFont typeface="Calibri"/>
              <a:buNone/>
            </a:pPr>
            <a:r>
              <a:rPr b="0" i="1" lang="en-US" sz="1050" u="none" cap="none" strike="noStrike">
                <a:solidFill>
                  <a:srgbClr val="6E6876"/>
                </a:solidFill>
                <a:latin typeface="Calibri"/>
                <a:ea typeface="Calibri"/>
                <a:cs typeface="Calibri"/>
                <a:sym typeface="Calibri"/>
              </a:rPr>
              <a:t>Editor log confirming the offline spawn</a:t>
            </a:r>
            <a:endParaRPr b="0" i="0" sz="1050" u="none" cap="none" strike="noStrike">
              <a:solidFill>
                <a:schemeClr val="dk1"/>
              </a:solidFill>
              <a:latin typeface="Calibri"/>
              <a:ea typeface="Calibri"/>
              <a:cs typeface="Calibri"/>
              <a:sym typeface="Calibri"/>
            </a:endParaRPr>
          </a:p>
        </p:txBody>
      </p:sp>
      <p:sp>
        <p:nvSpPr>
          <p:cNvPr id="156" name="Google Shape;156;p9"/>
          <p:cNvSpPr txBox="1"/>
          <p:nvPr/>
        </p:nvSpPr>
        <p:spPr>
          <a:xfrm>
            <a:off x="566928" y="5760720"/>
            <a:ext cx="11057839"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1200"/>
              <a:buFont typeface="Calibri"/>
              <a:buNone/>
            </a:pPr>
            <a:r>
              <a:rPr b="0" i="1" lang="en-US" sz="1200" u="none" cap="none" strike="noStrike">
                <a:solidFill>
                  <a:srgbClr val="6E6876"/>
                </a:solidFill>
                <a:latin typeface="Calibri"/>
                <a:ea typeface="Calibri"/>
                <a:cs typeface="Calibri"/>
                <a:sym typeface="Calibri"/>
              </a:rPr>
              <a:t>In a real match this code does nothing — it is gated on there being no server and no client.</a:t>
            </a:r>
            <a:endParaRPr b="0" i="0" sz="1200" u="none" cap="none" strike="noStrike">
              <a:solidFill>
                <a:schemeClr val="dk1"/>
              </a:solidFill>
              <a:latin typeface="Calibri"/>
              <a:ea typeface="Calibri"/>
              <a:cs typeface="Calibri"/>
              <a:sym typeface="Calibri"/>
            </a:endParaRPr>
          </a:p>
        </p:txBody>
      </p:sp>
      <p:sp>
        <p:nvSpPr>
          <p:cNvPr id="157" name="Google Shape;157;p9"/>
          <p:cNvSpPr txBox="1"/>
          <p:nvPr/>
        </p:nvSpPr>
        <p:spPr>
          <a:xfrm>
            <a:off x="566928" y="6382512"/>
            <a:ext cx="609584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50"/>
              <a:buFont typeface="Calibri"/>
              <a:buNone/>
            </a:pPr>
            <a:r>
              <a:rPr b="0" i="0" lang="en-US" sz="950" u="none" cap="none" strike="noStrike">
                <a:solidFill>
                  <a:srgbClr val="6E6876"/>
                </a:solidFill>
                <a:latin typeface="Calibri"/>
                <a:ea typeface="Calibri"/>
                <a:cs typeface="Calibri"/>
                <a:sym typeface="Calibri"/>
              </a:rPr>
              <a:t>Pre-Thesis Demo  |  Programming Status Report</a:t>
            </a:r>
            <a:endParaRPr b="0" i="0" sz="950" u="none" cap="none" strike="noStrike">
              <a:solidFill>
                <a:schemeClr val="dk1"/>
              </a:solidFill>
              <a:latin typeface="Calibri"/>
              <a:ea typeface="Calibri"/>
              <a:cs typeface="Calibri"/>
              <a:sym typeface="Calibri"/>
            </a:endParaRPr>
          </a:p>
        </p:txBody>
      </p:sp>
      <p:sp>
        <p:nvSpPr>
          <p:cNvPr id="158" name="Google Shape;158;p9"/>
          <p:cNvSpPr txBox="1"/>
          <p:nvPr/>
        </p:nvSpPr>
        <p:spPr>
          <a:xfrm>
            <a:off x="6095848" y="6382512"/>
            <a:ext cx="5528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1272D"/>
              </a:buClr>
              <a:buSzPts val="950"/>
              <a:buFont typeface="Calibri"/>
              <a:buNone/>
            </a:pPr>
            <a:r>
              <a:rPr b="0" i="0" lang="en-US" sz="950" u="none" cap="none" strike="noStrike">
                <a:solidFill>
                  <a:srgbClr val="C1272D"/>
                </a:solidFill>
                <a:latin typeface="Calibri"/>
                <a:ea typeface="Calibri"/>
                <a:cs typeface="Calibri"/>
                <a:sym typeface="Calibri"/>
              </a:rPr>
              <a:t>06</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6"/>
        </a:solidFill>
      </p:bgPr>
    </p:bg>
    <p:spTree>
      <p:nvGrpSpPr>
        <p:cNvPr id="163" name="Shape 163"/>
        <p:cNvGrpSpPr/>
        <p:nvPr/>
      </p:nvGrpSpPr>
      <p:grpSpPr>
        <a:xfrm>
          <a:off x="0" y="0"/>
          <a:ext cx="0" cy="0"/>
          <a:chOff x="0" y="0"/>
          <a:chExt cx="0" cy="0"/>
        </a:xfrm>
      </p:grpSpPr>
      <p:sp>
        <p:nvSpPr>
          <p:cNvPr id="164" name="Google Shape;164;p10"/>
          <p:cNvSpPr txBox="1"/>
          <p:nvPr/>
        </p:nvSpPr>
        <p:spPr>
          <a:xfrm>
            <a:off x="566928" y="384048"/>
            <a:ext cx="11057839"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150"/>
              <a:buFont typeface="Calibri"/>
              <a:buNone/>
            </a:pPr>
            <a:r>
              <a:rPr b="1" i="0" lang="en-US" sz="1150" u="none" cap="none" strike="noStrike">
                <a:solidFill>
                  <a:srgbClr val="C1272D"/>
                </a:solidFill>
                <a:latin typeface="Calibri"/>
                <a:ea typeface="Calibri"/>
                <a:cs typeface="Calibri"/>
                <a:sym typeface="Calibri"/>
              </a:rPr>
              <a:t>ENGINEERING</a:t>
            </a:r>
            <a:endParaRPr b="0" i="0" sz="1150" u="none" cap="none" strike="noStrike">
              <a:solidFill>
                <a:schemeClr val="dk1"/>
              </a:solidFill>
              <a:latin typeface="Calibri"/>
              <a:ea typeface="Calibri"/>
              <a:cs typeface="Calibri"/>
              <a:sym typeface="Calibri"/>
            </a:endParaRPr>
          </a:p>
        </p:txBody>
      </p:sp>
      <p:sp>
        <p:nvSpPr>
          <p:cNvPr id="165" name="Google Shape;165;p10"/>
          <p:cNvSpPr txBox="1"/>
          <p:nvPr/>
        </p:nvSpPr>
        <p:spPr>
          <a:xfrm>
            <a:off x="566928" y="640080"/>
            <a:ext cx="11057839"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3200"/>
              <a:buFont typeface="Cambria"/>
              <a:buNone/>
            </a:pPr>
            <a:r>
              <a:rPr b="1" i="0" lang="en-US" sz="3200" u="none" cap="none" strike="noStrike">
                <a:solidFill>
                  <a:srgbClr val="F0EBE4"/>
                </a:solidFill>
                <a:latin typeface="Cambria"/>
                <a:ea typeface="Cambria"/>
                <a:cs typeface="Cambria"/>
                <a:sym typeface="Cambria"/>
              </a:rPr>
              <a:t>Problems that were not obvious</a:t>
            </a:r>
            <a:endParaRPr b="0" i="0" sz="3200" u="none" cap="none" strike="noStrike">
              <a:solidFill>
                <a:schemeClr val="dk1"/>
              </a:solidFill>
              <a:latin typeface="Calibri"/>
              <a:ea typeface="Calibri"/>
              <a:cs typeface="Calibri"/>
              <a:sym typeface="Calibri"/>
            </a:endParaRPr>
          </a:p>
        </p:txBody>
      </p:sp>
      <p:sp>
        <p:nvSpPr>
          <p:cNvPr id="166" name="Google Shape;166;p10"/>
          <p:cNvSpPr txBox="1"/>
          <p:nvPr/>
        </p:nvSpPr>
        <p:spPr>
          <a:xfrm>
            <a:off x="1408176" y="1353312"/>
            <a:ext cx="3108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00"/>
              <a:buFont typeface="Calibri"/>
              <a:buNone/>
            </a:pPr>
            <a:r>
              <a:rPr b="1" i="0" lang="en-US" sz="900" u="none" cap="none" strike="noStrike">
                <a:solidFill>
                  <a:srgbClr val="6E6876"/>
                </a:solidFill>
                <a:latin typeface="Calibri"/>
                <a:ea typeface="Calibri"/>
                <a:cs typeface="Calibri"/>
                <a:sym typeface="Calibri"/>
              </a:rPr>
              <a:t>SYMPTOM</a:t>
            </a:r>
            <a:endParaRPr b="0" i="0" sz="900" u="none" cap="none" strike="noStrike">
              <a:solidFill>
                <a:schemeClr val="dk1"/>
              </a:solidFill>
              <a:latin typeface="Calibri"/>
              <a:ea typeface="Calibri"/>
              <a:cs typeface="Calibri"/>
              <a:sym typeface="Calibri"/>
            </a:endParaRPr>
          </a:p>
        </p:txBody>
      </p:sp>
      <p:sp>
        <p:nvSpPr>
          <p:cNvPr id="167" name="Google Shape;167;p10"/>
          <p:cNvSpPr txBox="1"/>
          <p:nvPr/>
        </p:nvSpPr>
        <p:spPr>
          <a:xfrm>
            <a:off x="4334256" y="1353312"/>
            <a:ext cx="3108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00"/>
              <a:buFont typeface="Calibri"/>
              <a:buNone/>
            </a:pPr>
            <a:r>
              <a:rPr b="1" i="0" lang="en-US" sz="900" u="none" cap="none" strike="noStrike">
                <a:solidFill>
                  <a:srgbClr val="6E6876"/>
                </a:solidFill>
                <a:latin typeface="Calibri"/>
                <a:ea typeface="Calibri"/>
                <a:cs typeface="Calibri"/>
                <a:sym typeface="Calibri"/>
              </a:rPr>
              <a:t>WHAT WAS ACTUALLY WRONG</a:t>
            </a:r>
            <a:endParaRPr b="0" i="0" sz="900" u="none" cap="none" strike="noStrike">
              <a:solidFill>
                <a:schemeClr val="dk1"/>
              </a:solidFill>
              <a:latin typeface="Calibri"/>
              <a:ea typeface="Calibri"/>
              <a:cs typeface="Calibri"/>
              <a:sym typeface="Calibri"/>
            </a:endParaRPr>
          </a:p>
        </p:txBody>
      </p:sp>
      <p:sp>
        <p:nvSpPr>
          <p:cNvPr id="168" name="Google Shape;168;p10"/>
          <p:cNvSpPr txBox="1"/>
          <p:nvPr/>
        </p:nvSpPr>
        <p:spPr>
          <a:xfrm>
            <a:off x="7680960" y="1353312"/>
            <a:ext cx="3108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00"/>
              <a:buFont typeface="Calibri"/>
              <a:buNone/>
            </a:pPr>
            <a:r>
              <a:rPr b="1" i="0" lang="en-US" sz="900" u="none" cap="none" strike="noStrike">
                <a:solidFill>
                  <a:srgbClr val="6E6876"/>
                </a:solidFill>
                <a:latin typeface="Calibri"/>
                <a:ea typeface="Calibri"/>
                <a:cs typeface="Calibri"/>
                <a:sym typeface="Calibri"/>
              </a:rPr>
              <a:t>RESOLUTION</a:t>
            </a:r>
            <a:endParaRPr b="0" i="0" sz="900" u="none" cap="none" strike="noStrike">
              <a:solidFill>
                <a:schemeClr val="dk1"/>
              </a:solidFill>
              <a:latin typeface="Calibri"/>
              <a:ea typeface="Calibri"/>
              <a:cs typeface="Calibri"/>
              <a:sym typeface="Calibri"/>
            </a:endParaRPr>
          </a:p>
        </p:txBody>
      </p:sp>
      <p:sp>
        <p:nvSpPr>
          <p:cNvPr id="169" name="Google Shape;169;p10"/>
          <p:cNvSpPr/>
          <p:nvPr/>
        </p:nvSpPr>
        <p:spPr>
          <a:xfrm>
            <a:off x="566928" y="1682496"/>
            <a:ext cx="11057839" cy="932688"/>
          </a:xfrm>
          <a:prstGeom prst="roundRect">
            <a:avLst>
              <a:gd fmla="val 5882"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0"/>
          <p:cNvSpPr/>
          <p:nvPr/>
        </p:nvSpPr>
        <p:spPr>
          <a:xfrm>
            <a:off x="841248" y="1947672"/>
            <a:ext cx="402336" cy="402336"/>
          </a:xfrm>
          <a:prstGeom prst="ellipse">
            <a:avLst/>
          </a:prstGeom>
          <a:solidFill>
            <a:srgbClr val="7A1A1E"/>
          </a:solidFill>
          <a:ln cap="flat" cmpd="sng" w="12700">
            <a:solidFill>
              <a:srgbClr val="7A1A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0"/>
          <p:cNvSpPr txBox="1"/>
          <p:nvPr/>
        </p:nvSpPr>
        <p:spPr>
          <a:xfrm>
            <a:off x="841248" y="1947672"/>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EBE4"/>
              </a:buClr>
              <a:buSzPts val="1300"/>
              <a:buFont typeface="Calibri"/>
              <a:buNone/>
            </a:pPr>
            <a:r>
              <a:rPr b="1" i="0" lang="en-US" sz="1300" u="none" cap="none" strike="noStrike">
                <a:solidFill>
                  <a:srgbClr val="F0EBE4"/>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172" name="Google Shape;172;p10"/>
          <p:cNvSpPr txBox="1"/>
          <p:nvPr/>
        </p:nvSpPr>
        <p:spPr>
          <a:xfrm>
            <a:off x="1408176" y="1682496"/>
            <a:ext cx="2834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450"/>
              <a:buFont typeface="Cambria"/>
              <a:buNone/>
            </a:pPr>
            <a:r>
              <a:rPr b="1" i="0" lang="en-US" sz="1450" u="none" cap="none" strike="noStrike">
                <a:solidFill>
                  <a:srgbClr val="F0EBE4"/>
                </a:solidFill>
                <a:latin typeface="Cambria"/>
                <a:ea typeface="Cambria"/>
                <a:cs typeface="Cambria"/>
                <a:sym typeface="Cambria"/>
              </a:rPr>
              <a:t>Two EOS SDKs in one build</a:t>
            </a:r>
            <a:endParaRPr b="0" i="0" sz="1450" u="none" cap="none" strike="noStrike">
              <a:solidFill>
                <a:schemeClr val="dk1"/>
              </a:solidFill>
              <a:latin typeface="Calibri"/>
              <a:ea typeface="Calibri"/>
              <a:cs typeface="Calibri"/>
              <a:sym typeface="Calibri"/>
            </a:endParaRPr>
          </a:p>
        </p:txBody>
      </p:sp>
      <p:sp>
        <p:nvSpPr>
          <p:cNvPr id="173" name="Google Shape;173;p10"/>
          <p:cNvSpPr txBox="1"/>
          <p:nvPr/>
        </p:nvSpPr>
        <p:spPr>
          <a:xfrm>
            <a:off x="4334256" y="1682496"/>
            <a:ext cx="320040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150"/>
              <a:buFont typeface="Calibri"/>
              <a:buNone/>
            </a:pPr>
            <a:r>
              <a:rPr b="0" i="0" lang="en-US" sz="1150" u="none" cap="none" strike="noStrike">
                <a:solidFill>
                  <a:srgbClr val="9B95A2"/>
                </a:solidFill>
                <a:latin typeface="Calibri"/>
                <a:ea typeface="Calibri"/>
                <a:cs typeface="Calibri"/>
                <a:sym typeface="Calibri"/>
              </a:rPr>
              <a:t>Two different Epic integrations were installed, colliding on the same native library.</a:t>
            </a:r>
            <a:endParaRPr b="0" i="0" sz="1150" u="none" cap="none" strike="noStrike">
              <a:solidFill>
                <a:schemeClr val="dk1"/>
              </a:solidFill>
              <a:latin typeface="Calibri"/>
              <a:ea typeface="Calibri"/>
              <a:cs typeface="Calibri"/>
              <a:sym typeface="Calibri"/>
            </a:endParaRPr>
          </a:p>
        </p:txBody>
      </p:sp>
      <p:sp>
        <p:nvSpPr>
          <p:cNvPr id="174" name="Google Shape;174;p10"/>
          <p:cNvSpPr txBox="1"/>
          <p:nvPr/>
        </p:nvSpPr>
        <p:spPr>
          <a:xfrm>
            <a:off x="7680960" y="1682496"/>
            <a:ext cx="365760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9E6E"/>
              </a:buClr>
              <a:buSzPts val="1150"/>
              <a:buFont typeface="Calibri"/>
              <a:buNone/>
            </a:pPr>
            <a:r>
              <a:rPr b="0" i="0" lang="en-US" sz="1150" u="none" cap="none" strike="noStrike">
                <a:solidFill>
                  <a:srgbClr val="5E9E6E"/>
                </a:solidFill>
                <a:latin typeface="Calibri"/>
                <a:ea typeface="Calibri"/>
                <a:cs typeface="Calibri"/>
                <a:sym typeface="Calibri"/>
              </a:rPr>
              <a:t>Removed the unused one. Build went to 0 errors.</a:t>
            </a:r>
            <a:endParaRPr b="0" i="0" sz="1150" u="none" cap="none" strike="noStrike">
              <a:solidFill>
                <a:schemeClr val="dk1"/>
              </a:solidFill>
              <a:latin typeface="Calibri"/>
              <a:ea typeface="Calibri"/>
              <a:cs typeface="Calibri"/>
              <a:sym typeface="Calibri"/>
            </a:endParaRPr>
          </a:p>
        </p:txBody>
      </p:sp>
      <p:sp>
        <p:nvSpPr>
          <p:cNvPr id="175" name="Google Shape;175;p10"/>
          <p:cNvSpPr/>
          <p:nvPr/>
        </p:nvSpPr>
        <p:spPr>
          <a:xfrm>
            <a:off x="566928" y="2743200"/>
            <a:ext cx="11057839" cy="932688"/>
          </a:xfrm>
          <a:prstGeom prst="roundRect">
            <a:avLst>
              <a:gd fmla="val 5882"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0"/>
          <p:cNvSpPr/>
          <p:nvPr/>
        </p:nvSpPr>
        <p:spPr>
          <a:xfrm>
            <a:off x="841248" y="3008376"/>
            <a:ext cx="402336" cy="402336"/>
          </a:xfrm>
          <a:prstGeom prst="ellipse">
            <a:avLst/>
          </a:prstGeom>
          <a:solidFill>
            <a:srgbClr val="7A1A1E"/>
          </a:solidFill>
          <a:ln cap="flat" cmpd="sng" w="12700">
            <a:solidFill>
              <a:srgbClr val="7A1A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0"/>
          <p:cNvSpPr txBox="1"/>
          <p:nvPr/>
        </p:nvSpPr>
        <p:spPr>
          <a:xfrm>
            <a:off x="841248" y="3008376"/>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EBE4"/>
              </a:buClr>
              <a:buSzPts val="1300"/>
              <a:buFont typeface="Calibri"/>
              <a:buNone/>
            </a:pPr>
            <a:r>
              <a:rPr b="1" i="0" lang="en-US" sz="1300" u="none" cap="none" strike="noStrike">
                <a:solidFill>
                  <a:srgbClr val="F0EBE4"/>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178" name="Google Shape;178;p10"/>
          <p:cNvSpPr txBox="1"/>
          <p:nvPr/>
        </p:nvSpPr>
        <p:spPr>
          <a:xfrm>
            <a:off x="1408176" y="2743200"/>
            <a:ext cx="2834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450"/>
              <a:buFont typeface="Cambria"/>
              <a:buNone/>
            </a:pPr>
            <a:r>
              <a:rPr b="1" i="0" lang="en-US" sz="1450" u="none" cap="none" strike="noStrike">
                <a:solidFill>
                  <a:srgbClr val="F0EBE4"/>
                </a:solidFill>
                <a:latin typeface="Cambria"/>
                <a:ea typeface="Cambria"/>
                <a:cs typeface="Cambria"/>
                <a:sym typeface="Cambria"/>
              </a:rPr>
              <a:t>Client saw an empty world</a:t>
            </a:r>
            <a:endParaRPr b="0" i="0" sz="1450" u="none" cap="none" strike="noStrike">
              <a:solidFill>
                <a:schemeClr val="dk1"/>
              </a:solidFill>
              <a:latin typeface="Calibri"/>
              <a:ea typeface="Calibri"/>
              <a:cs typeface="Calibri"/>
              <a:sym typeface="Calibri"/>
            </a:endParaRPr>
          </a:p>
        </p:txBody>
      </p:sp>
      <p:sp>
        <p:nvSpPr>
          <p:cNvPr id="179" name="Google Shape;179;p10"/>
          <p:cNvSpPr txBox="1"/>
          <p:nvPr/>
        </p:nvSpPr>
        <p:spPr>
          <a:xfrm>
            <a:off x="4334256" y="2743200"/>
            <a:ext cx="320040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150"/>
              <a:buFont typeface="Calibri"/>
              <a:buNone/>
            </a:pPr>
            <a:r>
              <a:rPr b="0" i="0" lang="en-US" sz="1150" u="none" cap="none" strike="noStrike">
                <a:solidFill>
                  <a:srgbClr val="9B95A2"/>
                </a:solidFill>
                <a:latin typeface="Calibri"/>
                <a:ea typeface="Calibri"/>
                <a:cs typeface="Calibri"/>
                <a:sym typeface="Calibri"/>
              </a:rPr>
              <a:t>A server can instantiate a prefab it references; a client can only spawn one that is registered.</a:t>
            </a:r>
            <a:endParaRPr b="0" i="0" sz="1150" u="none" cap="none" strike="noStrike">
              <a:solidFill>
                <a:schemeClr val="dk1"/>
              </a:solidFill>
              <a:latin typeface="Calibri"/>
              <a:ea typeface="Calibri"/>
              <a:cs typeface="Calibri"/>
              <a:sym typeface="Calibri"/>
            </a:endParaRPr>
          </a:p>
        </p:txBody>
      </p:sp>
      <p:sp>
        <p:nvSpPr>
          <p:cNvPr id="180" name="Google Shape;180;p10"/>
          <p:cNvSpPr txBox="1"/>
          <p:nvPr/>
        </p:nvSpPr>
        <p:spPr>
          <a:xfrm>
            <a:off x="7680960" y="2743200"/>
            <a:ext cx="365760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9E6E"/>
              </a:buClr>
              <a:buSzPts val="1150"/>
              <a:buFont typeface="Calibri"/>
              <a:buNone/>
            </a:pPr>
            <a:r>
              <a:rPr b="0" i="0" lang="en-US" sz="1150" u="none" cap="none" strike="noStrike">
                <a:solidFill>
                  <a:srgbClr val="5E9E6E"/>
                </a:solidFill>
                <a:latin typeface="Calibri"/>
                <a:ea typeface="Calibri"/>
                <a:cs typeface="Calibri"/>
                <a:sym typeface="Calibri"/>
              </a:rPr>
              <a:t>Identified the checkout mismatch between machines.</a:t>
            </a:r>
            <a:endParaRPr b="0" i="0" sz="1150" u="none" cap="none" strike="noStrike">
              <a:solidFill>
                <a:schemeClr val="dk1"/>
              </a:solidFill>
              <a:latin typeface="Calibri"/>
              <a:ea typeface="Calibri"/>
              <a:cs typeface="Calibri"/>
              <a:sym typeface="Calibri"/>
            </a:endParaRPr>
          </a:p>
        </p:txBody>
      </p:sp>
      <p:sp>
        <p:nvSpPr>
          <p:cNvPr id="181" name="Google Shape;181;p10"/>
          <p:cNvSpPr/>
          <p:nvPr/>
        </p:nvSpPr>
        <p:spPr>
          <a:xfrm>
            <a:off x="566928" y="3803904"/>
            <a:ext cx="11057839" cy="932688"/>
          </a:xfrm>
          <a:prstGeom prst="roundRect">
            <a:avLst>
              <a:gd fmla="val 5882"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0"/>
          <p:cNvSpPr/>
          <p:nvPr/>
        </p:nvSpPr>
        <p:spPr>
          <a:xfrm>
            <a:off x="841248" y="4069080"/>
            <a:ext cx="402336" cy="402336"/>
          </a:xfrm>
          <a:prstGeom prst="ellipse">
            <a:avLst/>
          </a:prstGeom>
          <a:solidFill>
            <a:srgbClr val="7A1A1E"/>
          </a:solidFill>
          <a:ln cap="flat" cmpd="sng" w="12700">
            <a:solidFill>
              <a:srgbClr val="7A1A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0"/>
          <p:cNvSpPr txBox="1"/>
          <p:nvPr/>
        </p:nvSpPr>
        <p:spPr>
          <a:xfrm>
            <a:off x="841248" y="406908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EBE4"/>
              </a:buClr>
              <a:buSzPts val="1300"/>
              <a:buFont typeface="Calibri"/>
              <a:buNone/>
            </a:pPr>
            <a:r>
              <a:rPr b="1" i="0" lang="en-US" sz="1300" u="none" cap="none" strike="noStrike">
                <a:solidFill>
                  <a:srgbClr val="F0EBE4"/>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184" name="Google Shape;184;p10"/>
          <p:cNvSpPr txBox="1"/>
          <p:nvPr/>
        </p:nvSpPr>
        <p:spPr>
          <a:xfrm>
            <a:off x="1408176" y="3803904"/>
            <a:ext cx="2834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450"/>
              <a:buFont typeface="Cambria"/>
              <a:buNone/>
            </a:pPr>
            <a:r>
              <a:rPr b="1" i="0" lang="en-US" sz="1450" u="none" cap="none" strike="noStrike">
                <a:solidFill>
                  <a:srgbClr val="F0EBE4"/>
                </a:solidFill>
                <a:latin typeface="Cambria"/>
                <a:ea typeface="Cambria"/>
                <a:cs typeface="Cambria"/>
                <a:sym typeface="Cambria"/>
              </a:rPr>
              <a:t>Props vanished on Play</a:t>
            </a:r>
            <a:endParaRPr b="0" i="0" sz="1450" u="none" cap="none" strike="noStrike">
              <a:solidFill>
                <a:schemeClr val="dk1"/>
              </a:solidFill>
              <a:latin typeface="Calibri"/>
              <a:ea typeface="Calibri"/>
              <a:cs typeface="Calibri"/>
              <a:sym typeface="Calibri"/>
            </a:endParaRPr>
          </a:p>
        </p:txBody>
      </p:sp>
      <p:sp>
        <p:nvSpPr>
          <p:cNvPr id="185" name="Google Shape;185;p10"/>
          <p:cNvSpPr txBox="1"/>
          <p:nvPr/>
        </p:nvSpPr>
        <p:spPr>
          <a:xfrm>
            <a:off x="4334256" y="3803904"/>
            <a:ext cx="320040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150"/>
              <a:buFont typeface="Calibri"/>
              <a:buNone/>
            </a:pPr>
            <a:r>
              <a:rPr b="0" i="0" lang="en-US" sz="1150" u="none" cap="none" strike="noStrike">
                <a:solidFill>
                  <a:srgbClr val="9B95A2"/>
                </a:solidFill>
                <a:latin typeface="Calibri"/>
                <a:ea typeface="Calibri"/>
                <a:cs typeface="Calibri"/>
                <a:sym typeface="Calibri"/>
              </a:rPr>
              <a:t>Mirror disables scene objects after Awake, so an Awake-time fix runs too early to see it.</a:t>
            </a:r>
            <a:endParaRPr b="0" i="0" sz="1150" u="none" cap="none" strike="noStrike">
              <a:solidFill>
                <a:schemeClr val="dk1"/>
              </a:solidFill>
              <a:latin typeface="Calibri"/>
              <a:ea typeface="Calibri"/>
              <a:cs typeface="Calibri"/>
              <a:sym typeface="Calibri"/>
            </a:endParaRPr>
          </a:p>
        </p:txBody>
      </p:sp>
      <p:sp>
        <p:nvSpPr>
          <p:cNvPr id="186" name="Google Shape;186;p10"/>
          <p:cNvSpPr txBox="1"/>
          <p:nvPr/>
        </p:nvSpPr>
        <p:spPr>
          <a:xfrm>
            <a:off x="7680960" y="3803904"/>
            <a:ext cx="365760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9E6E"/>
              </a:buClr>
              <a:buSzPts val="1150"/>
              <a:buFont typeface="Calibri"/>
              <a:buNone/>
            </a:pPr>
            <a:r>
              <a:rPr b="0" i="0" lang="en-US" sz="1150" u="none" cap="none" strike="noStrike">
                <a:solidFill>
                  <a:srgbClr val="5E9E6E"/>
                </a:solidFill>
                <a:latin typeface="Calibri"/>
                <a:ea typeface="Calibri"/>
                <a:cs typeface="Calibri"/>
                <a:sym typeface="Calibri"/>
              </a:rPr>
              <a:t>Rewrote the fix to watch across frames.</a:t>
            </a:r>
            <a:endParaRPr b="0" i="0" sz="1150" u="none" cap="none" strike="noStrike">
              <a:solidFill>
                <a:schemeClr val="dk1"/>
              </a:solidFill>
              <a:latin typeface="Calibri"/>
              <a:ea typeface="Calibri"/>
              <a:cs typeface="Calibri"/>
              <a:sym typeface="Calibri"/>
            </a:endParaRPr>
          </a:p>
        </p:txBody>
      </p:sp>
      <p:sp>
        <p:nvSpPr>
          <p:cNvPr id="187" name="Google Shape;187;p10"/>
          <p:cNvSpPr/>
          <p:nvPr/>
        </p:nvSpPr>
        <p:spPr>
          <a:xfrm>
            <a:off x="566928" y="4864608"/>
            <a:ext cx="11057839" cy="932688"/>
          </a:xfrm>
          <a:prstGeom prst="roundRect">
            <a:avLst>
              <a:gd fmla="val 5882"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0"/>
          <p:cNvSpPr/>
          <p:nvPr/>
        </p:nvSpPr>
        <p:spPr>
          <a:xfrm>
            <a:off x="841248" y="5129784"/>
            <a:ext cx="402336" cy="402336"/>
          </a:xfrm>
          <a:prstGeom prst="ellipse">
            <a:avLst/>
          </a:prstGeom>
          <a:solidFill>
            <a:srgbClr val="7A1A1E"/>
          </a:solidFill>
          <a:ln cap="flat" cmpd="sng" w="12700">
            <a:solidFill>
              <a:srgbClr val="7A1A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0"/>
          <p:cNvSpPr txBox="1"/>
          <p:nvPr/>
        </p:nvSpPr>
        <p:spPr>
          <a:xfrm>
            <a:off x="841248" y="5129784"/>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EBE4"/>
              </a:buClr>
              <a:buSzPts val="1300"/>
              <a:buFont typeface="Calibri"/>
              <a:buNone/>
            </a:pPr>
            <a:r>
              <a:rPr b="1" i="0" lang="en-US" sz="1300" u="none" cap="none" strike="noStrike">
                <a:solidFill>
                  <a:srgbClr val="F0EBE4"/>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190" name="Google Shape;190;p10"/>
          <p:cNvSpPr txBox="1"/>
          <p:nvPr/>
        </p:nvSpPr>
        <p:spPr>
          <a:xfrm>
            <a:off x="1408176" y="4864608"/>
            <a:ext cx="283464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450"/>
              <a:buFont typeface="Cambria"/>
              <a:buNone/>
            </a:pPr>
            <a:r>
              <a:rPr b="1" i="0" lang="en-US" sz="1450" u="none" cap="none" strike="noStrike">
                <a:solidFill>
                  <a:srgbClr val="F0EBE4"/>
                </a:solidFill>
                <a:latin typeface="Cambria"/>
                <a:ea typeface="Cambria"/>
                <a:cs typeface="Cambria"/>
                <a:sym typeface="Cambria"/>
              </a:rPr>
              <a:t>Lobby creation rejected</a:t>
            </a:r>
            <a:endParaRPr b="0" i="0" sz="1450" u="none" cap="none" strike="noStrike">
              <a:solidFill>
                <a:schemeClr val="dk1"/>
              </a:solidFill>
              <a:latin typeface="Calibri"/>
              <a:ea typeface="Calibri"/>
              <a:cs typeface="Calibri"/>
              <a:sym typeface="Calibri"/>
            </a:endParaRPr>
          </a:p>
        </p:txBody>
      </p:sp>
      <p:sp>
        <p:nvSpPr>
          <p:cNvPr id="191" name="Google Shape;191;p10"/>
          <p:cNvSpPr txBox="1"/>
          <p:nvPr/>
        </p:nvSpPr>
        <p:spPr>
          <a:xfrm>
            <a:off x="4334256" y="4864608"/>
            <a:ext cx="320040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150"/>
              <a:buFont typeface="Calibri"/>
              <a:buNone/>
            </a:pPr>
            <a:r>
              <a:rPr b="0" i="0" lang="en-US" sz="1150" u="none" cap="none" strike="noStrike">
                <a:solidFill>
                  <a:srgbClr val="9B95A2"/>
                </a:solidFill>
                <a:latin typeface="Calibri"/>
                <a:ea typeface="Calibri"/>
                <a:cs typeface="Calibri"/>
                <a:sym typeface="Calibri"/>
              </a:rPr>
              <a:t>Epic login is asynchronous; the button could be pressed before login finished.</a:t>
            </a:r>
            <a:endParaRPr b="0" i="0" sz="1150" u="none" cap="none" strike="noStrike">
              <a:solidFill>
                <a:schemeClr val="dk1"/>
              </a:solidFill>
              <a:latin typeface="Calibri"/>
              <a:ea typeface="Calibri"/>
              <a:cs typeface="Calibri"/>
              <a:sym typeface="Calibri"/>
            </a:endParaRPr>
          </a:p>
        </p:txBody>
      </p:sp>
      <p:sp>
        <p:nvSpPr>
          <p:cNvPr id="192" name="Google Shape;192;p10"/>
          <p:cNvSpPr txBox="1"/>
          <p:nvPr/>
        </p:nvSpPr>
        <p:spPr>
          <a:xfrm>
            <a:off x="7680960" y="4864608"/>
            <a:ext cx="3657600" cy="9326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9E6E"/>
              </a:buClr>
              <a:buSzPts val="1150"/>
              <a:buFont typeface="Calibri"/>
              <a:buNone/>
            </a:pPr>
            <a:r>
              <a:rPr b="0" i="0" lang="en-US" sz="1150" u="none" cap="none" strike="noStrike">
                <a:solidFill>
                  <a:srgbClr val="5E9E6E"/>
                </a:solidFill>
                <a:latin typeface="Calibri"/>
                <a:ea typeface="Calibri"/>
                <a:cs typeface="Calibri"/>
                <a:sym typeface="Calibri"/>
              </a:rPr>
              <a:t>Gated room creation on login state.</a:t>
            </a:r>
            <a:endParaRPr b="0" i="0" sz="1150" u="none" cap="none" strike="noStrike">
              <a:solidFill>
                <a:schemeClr val="dk1"/>
              </a:solidFill>
              <a:latin typeface="Calibri"/>
              <a:ea typeface="Calibri"/>
              <a:cs typeface="Calibri"/>
              <a:sym typeface="Calibri"/>
            </a:endParaRPr>
          </a:p>
        </p:txBody>
      </p:sp>
      <p:sp>
        <p:nvSpPr>
          <p:cNvPr id="193" name="Google Shape;193;p10"/>
          <p:cNvSpPr txBox="1"/>
          <p:nvPr/>
        </p:nvSpPr>
        <p:spPr>
          <a:xfrm>
            <a:off x="566928" y="5998464"/>
            <a:ext cx="11057839"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1200"/>
              <a:buFont typeface="Calibri"/>
              <a:buNone/>
            </a:pPr>
            <a:r>
              <a:rPr b="0" i="1" lang="en-US" sz="1200" u="none" cap="none" strike="noStrike">
                <a:solidFill>
                  <a:srgbClr val="6E6876"/>
                </a:solidFill>
                <a:latin typeface="Calibri"/>
                <a:ea typeface="Calibri"/>
                <a:cs typeface="Calibri"/>
                <a:sym typeface="Calibri"/>
              </a:rPr>
              <a:t>Common thread: each was found by reading the third-party source rather than guessing at its behaviour.</a:t>
            </a:r>
            <a:endParaRPr b="0" i="0" sz="1200" u="none" cap="none" strike="noStrike">
              <a:solidFill>
                <a:schemeClr val="dk1"/>
              </a:solidFill>
              <a:latin typeface="Calibri"/>
              <a:ea typeface="Calibri"/>
              <a:cs typeface="Calibri"/>
              <a:sym typeface="Calibri"/>
            </a:endParaRPr>
          </a:p>
        </p:txBody>
      </p:sp>
      <p:sp>
        <p:nvSpPr>
          <p:cNvPr id="194" name="Google Shape;194;p10"/>
          <p:cNvSpPr txBox="1"/>
          <p:nvPr/>
        </p:nvSpPr>
        <p:spPr>
          <a:xfrm>
            <a:off x="566928" y="6382512"/>
            <a:ext cx="609584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50"/>
              <a:buFont typeface="Calibri"/>
              <a:buNone/>
            </a:pPr>
            <a:r>
              <a:rPr b="0" i="0" lang="en-US" sz="950" u="none" cap="none" strike="noStrike">
                <a:solidFill>
                  <a:srgbClr val="6E6876"/>
                </a:solidFill>
                <a:latin typeface="Calibri"/>
                <a:ea typeface="Calibri"/>
                <a:cs typeface="Calibri"/>
                <a:sym typeface="Calibri"/>
              </a:rPr>
              <a:t>Pre-Thesis Demo  |  Programming Status Report</a:t>
            </a:r>
            <a:endParaRPr b="0" i="0" sz="950" u="none" cap="none" strike="noStrike">
              <a:solidFill>
                <a:schemeClr val="dk1"/>
              </a:solidFill>
              <a:latin typeface="Calibri"/>
              <a:ea typeface="Calibri"/>
              <a:cs typeface="Calibri"/>
              <a:sym typeface="Calibri"/>
            </a:endParaRPr>
          </a:p>
        </p:txBody>
      </p:sp>
      <p:sp>
        <p:nvSpPr>
          <p:cNvPr id="195" name="Google Shape;195;p10"/>
          <p:cNvSpPr txBox="1"/>
          <p:nvPr/>
        </p:nvSpPr>
        <p:spPr>
          <a:xfrm>
            <a:off x="6095848" y="6382512"/>
            <a:ext cx="5528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1272D"/>
              </a:buClr>
              <a:buSzPts val="950"/>
              <a:buFont typeface="Calibri"/>
              <a:buNone/>
            </a:pPr>
            <a:r>
              <a:rPr b="0" i="0" lang="en-US" sz="950" u="none" cap="none" strike="noStrike">
                <a:solidFill>
                  <a:srgbClr val="C1272D"/>
                </a:solidFill>
                <a:latin typeface="Calibri"/>
                <a:ea typeface="Calibri"/>
                <a:cs typeface="Calibri"/>
                <a:sym typeface="Calibri"/>
              </a:rPr>
              <a:t>07</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6"/>
        </a:solidFill>
      </p:bgPr>
    </p:bg>
    <p:spTree>
      <p:nvGrpSpPr>
        <p:cNvPr id="200" name="Shape 200"/>
        <p:cNvGrpSpPr/>
        <p:nvPr/>
      </p:nvGrpSpPr>
      <p:grpSpPr>
        <a:xfrm>
          <a:off x="0" y="0"/>
          <a:ext cx="0" cy="0"/>
          <a:chOff x="0" y="0"/>
          <a:chExt cx="0" cy="0"/>
        </a:xfrm>
      </p:grpSpPr>
      <p:sp>
        <p:nvSpPr>
          <p:cNvPr id="201" name="Google Shape;201;p11"/>
          <p:cNvSpPr txBox="1"/>
          <p:nvPr/>
        </p:nvSpPr>
        <p:spPr>
          <a:xfrm>
            <a:off x="566928" y="384048"/>
            <a:ext cx="11057839"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150"/>
              <a:buFont typeface="Calibri"/>
              <a:buNone/>
            </a:pPr>
            <a:r>
              <a:rPr b="1" i="0" lang="en-US" sz="1150" u="none" cap="none" strike="noStrike">
                <a:solidFill>
                  <a:srgbClr val="C1272D"/>
                </a:solidFill>
                <a:latin typeface="Calibri"/>
                <a:ea typeface="Calibri"/>
                <a:cs typeface="Calibri"/>
                <a:sym typeface="Calibri"/>
              </a:rPr>
              <a:t>FORWARD</a:t>
            </a:r>
            <a:endParaRPr b="0" i="0" sz="1150" u="none" cap="none" strike="noStrike">
              <a:solidFill>
                <a:schemeClr val="dk1"/>
              </a:solidFill>
              <a:latin typeface="Calibri"/>
              <a:ea typeface="Calibri"/>
              <a:cs typeface="Calibri"/>
              <a:sym typeface="Calibri"/>
            </a:endParaRPr>
          </a:p>
        </p:txBody>
      </p:sp>
      <p:sp>
        <p:nvSpPr>
          <p:cNvPr id="202" name="Google Shape;202;p11"/>
          <p:cNvSpPr txBox="1"/>
          <p:nvPr/>
        </p:nvSpPr>
        <p:spPr>
          <a:xfrm>
            <a:off x="566928" y="640080"/>
            <a:ext cx="11057839"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3200"/>
              <a:buFont typeface="Cambria"/>
              <a:buNone/>
            </a:pPr>
            <a:r>
              <a:rPr b="1" i="0" lang="en-US" sz="3200" u="none" cap="none" strike="noStrike">
                <a:solidFill>
                  <a:srgbClr val="F0EBE4"/>
                </a:solidFill>
                <a:latin typeface="Cambria"/>
                <a:ea typeface="Cambria"/>
                <a:cs typeface="Cambria"/>
                <a:sym typeface="Cambria"/>
              </a:rPr>
              <a:t>Next week's plan</a:t>
            </a:r>
            <a:endParaRPr b="0" i="0" sz="3200" u="none" cap="none" strike="noStrike">
              <a:solidFill>
                <a:schemeClr val="dk1"/>
              </a:solidFill>
              <a:latin typeface="Calibri"/>
              <a:ea typeface="Calibri"/>
              <a:cs typeface="Calibri"/>
              <a:sym typeface="Calibri"/>
            </a:endParaRPr>
          </a:p>
        </p:txBody>
      </p:sp>
      <p:sp>
        <p:nvSpPr>
          <p:cNvPr id="203" name="Google Shape;203;p11"/>
          <p:cNvSpPr/>
          <p:nvPr/>
        </p:nvSpPr>
        <p:spPr>
          <a:xfrm>
            <a:off x="566928" y="1645920"/>
            <a:ext cx="5349240" cy="3054096"/>
          </a:xfrm>
          <a:prstGeom prst="roundRect">
            <a:avLst>
              <a:gd fmla="val 1796"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1"/>
          <p:cNvSpPr txBox="1"/>
          <p:nvPr/>
        </p:nvSpPr>
        <p:spPr>
          <a:xfrm>
            <a:off x="896112" y="1847088"/>
            <a:ext cx="46634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700"/>
              <a:buFont typeface="Cambria"/>
              <a:buNone/>
            </a:pPr>
            <a:r>
              <a:rPr b="1" i="0" lang="en-US" sz="1700" u="none" cap="none" strike="noStrike">
                <a:solidFill>
                  <a:srgbClr val="F0EBE4"/>
                </a:solidFill>
                <a:latin typeface="Cambria"/>
                <a:ea typeface="Cambria"/>
                <a:cs typeface="Cambria"/>
                <a:sym typeface="Cambria"/>
              </a:rPr>
              <a:t>Mr. Kongkidakorn Chuayjang</a:t>
            </a:r>
            <a:endParaRPr b="0" i="0" sz="1700" u="none" cap="none" strike="noStrike">
              <a:solidFill>
                <a:schemeClr val="dk1"/>
              </a:solidFill>
              <a:latin typeface="Calibri"/>
              <a:ea typeface="Calibri"/>
              <a:cs typeface="Calibri"/>
              <a:sym typeface="Calibri"/>
            </a:endParaRPr>
          </a:p>
        </p:txBody>
      </p:sp>
      <p:sp>
        <p:nvSpPr>
          <p:cNvPr id="205" name="Google Shape;205;p11"/>
          <p:cNvSpPr txBox="1"/>
          <p:nvPr/>
        </p:nvSpPr>
        <p:spPr>
          <a:xfrm>
            <a:off x="896112" y="2194560"/>
            <a:ext cx="46634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950"/>
              <a:buFont typeface="Calibri"/>
              <a:buNone/>
            </a:pPr>
            <a:r>
              <a:rPr b="1" i="0" lang="en-US" sz="950" u="none" cap="none" strike="noStrike">
                <a:solidFill>
                  <a:srgbClr val="C1272D"/>
                </a:solidFill>
                <a:latin typeface="Calibri"/>
                <a:ea typeface="Calibri"/>
                <a:cs typeface="Calibri"/>
                <a:sym typeface="Calibri"/>
              </a:rPr>
              <a:t>HEAD PROGRAMMER</a:t>
            </a:r>
            <a:endParaRPr b="0" i="0" sz="950" u="none" cap="none" strike="noStrike">
              <a:solidFill>
                <a:schemeClr val="dk1"/>
              </a:solidFill>
              <a:latin typeface="Calibri"/>
              <a:ea typeface="Calibri"/>
              <a:cs typeface="Calibri"/>
              <a:sym typeface="Calibri"/>
            </a:endParaRPr>
          </a:p>
        </p:txBody>
      </p:sp>
      <p:sp>
        <p:nvSpPr>
          <p:cNvPr id="206" name="Google Shape;206;p11"/>
          <p:cNvSpPr txBox="1"/>
          <p:nvPr/>
        </p:nvSpPr>
        <p:spPr>
          <a:xfrm>
            <a:off x="896112" y="2578608"/>
            <a:ext cx="4690872" cy="201168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Build the room browser UI on the working search</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Move the match out of the menu scene into a real level</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Private-room password exchange after join</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Start the 13 Rules system: state container and sync model</a:t>
            </a:r>
            <a:endParaRPr b="0" i="0" sz="1300" u="none" cap="none" strike="noStrike">
              <a:solidFill>
                <a:schemeClr val="dk1"/>
              </a:solidFill>
              <a:latin typeface="Calibri"/>
              <a:ea typeface="Calibri"/>
              <a:cs typeface="Calibri"/>
              <a:sym typeface="Calibri"/>
            </a:endParaRPr>
          </a:p>
        </p:txBody>
      </p:sp>
      <p:sp>
        <p:nvSpPr>
          <p:cNvPr id="207" name="Google Shape;207;p11"/>
          <p:cNvSpPr/>
          <p:nvPr/>
        </p:nvSpPr>
        <p:spPr>
          <a:xfrm>
            <a:off x="6272784" y="1645920"/>
            <a:ext cx="5349240" cy="3054096"/>
          </a:xfrm>
          <a:prstGeom prst="roundRect">
            <a:avLst>
              <a:gd fmla="val 1796"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1"/>
          <p:cNvSpPr txBox="1"/>
          <p:nvPr/>
        </p:nvSpPr>
        <p:spPr>
          <a:xfrm>
            <a:off x="6601968" y="1847088"/>
            <a:ext cx="46634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1700"/>
              <a:buFont typeface="Cambria"/>
              <a:buNone/>
            </a:pPr>
            <a:r>
              <a:rPr b="1" i="0" lang="en-US" sz="1700" u="none" cap="none" strike="noStrike">
                <a:solidFill>
                  <a:srgbClr val="F0EBE4"/>
                </a:solidFill>
                <a:latin typeface="Cambria"/>
                <a:ea typeface="Cambria"/>
                <a:cs typeface="Cambria"/>
                <a:sym typeface="Cambria"/>
              </a:rPr>
              <a:t>Mr. Atiroj Kemwanicha</a:t>
            </a:r>
            <a:endParaRPr b="0" i="0" sz="1700" u="none" cap="none" strike="noStrike">
              <a:solidFill>
                <a:schemeClr val="dk1"/>
              </a:solidFill>
              <a:latin typeface="Calibri"/>
              <a:ea typeface="Calibri"/>
              <a:cs typeface="Calibri"/>
              <a:sym typeface="Calibri"/>
            </a:endParaRPr>
          </a:p>
        </p:txBody>
      </p:sp>
      <p:sp>
        <p:nvSpPr>
          <p:cNvPr id="209" name="Google Shape;209;p11"/>
          <p:cNvSpPr txBox="1"/>
          <p:nvPr/>
        </p:nvSpPr>
        <p:spPr>
          <a:xfrm>
            <a:off x="6601968" y="2194560"/>
            <a:ext cx="46634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87B0"/>
              </a:buClr>
              <a:buSzPts val="950"/>
              <a:buFont typeface="Calibri"/>
              <a:buNone/>
            </a:pPr>
            <a:r>
              <a:rPr b="1" i="0" lang="en-US" sz="950" u="none" cap="none" strike="noStrike">
                <a:solidFill>
                  <a:srgbClr val="5487B0"/>
                </a:solidFill>
                <a:latin typeface="Calibri"/>
                <a:ea typeface="Calibri"/>
                <a:cs typeface="Calibri"/>
                <a:sym typeface="Calibri"/>
              </a:rPr>
              <a:t>SUB PROGRAMMER</a:t>
            </a:r>
            <a:endParaRPr b="0" i="0" sz="950" u="none" cap="none" strike="noStrike">
              <a:solidFill>
                <a:schemeClr val="dk1"/>
              </a:solidFill>
              <a:latin typeface="Calibri"/>
              <a:ea typeface="Calibri"/>
              <a:cs typeface="Calibri"/>
              <a:sym typeface="Calibri"/>
            </a:endParaRPr>
          </a:p>
        </p:txBody>
      </p:sp>
      <p:sp>
        <p:nvSpPr>
          <p:cNvPr id="210" name="Google Shape;210;p11"/>
          <p:cNvSpPr txBox="1"/>
          <p:nvPr/>
        </p:nvSpPr>
        <p:spPr>
          <a:xfrm>
            <a:off x="6601968" y="2578608"/>
            <a:ext cx="4690872" cy="201168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Extend interaction to the equipment the demo needs</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Tune downed / revive timings against playtest feel</a:t>
            </a:r>
            <a:endParaRPr b="0" i="0" sz="130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300"/>
              <a:buFont typeface="Calibri"/>
              <a:buChar char="•"/>
            </a:pPr>
            <a:r>
              <a:rPr b="0" i="0" lang="en-US" sz="1300" u="none" cap="none" strike="noStrike">
                <a:solidFill>
                  <a:srgbClr val="F0EBE4"/>
                </a:solidFill>
                <a:latin typeface="Calibri"/>
                <a:ea typeface="Calibri"/>
                <a:cs typeface="Calibri"/>
                <a:sym typeface="Calibri"/>
              </a:rPr>
              <a:t>Author the props and triggers for the demo map</a:t>
            </a:r>
            <a:endParaRPr b="0" i="0" sz="1300" u="none" cap="none" strike="noStrike">
              <a:solidFill>
                <a:schemeClr val="dk1"/>
              </a:solidFill>
              <a:latin typeface="Calibri"/>
              <a:ea typeface="Calibri"/>
              <a:cs typeface="Calibri"/>
              <a:sym typeface="Calibri"/>
            </a:endParaRPr>
          </a:p>
        </p:txBody>
      </p:sp>
      <p:sp>
        <p:nvSpPr>
          <p:cNvPr id="211" name="Google Shape;211;p11"/>
          <p:cNvSpPr/>
          <p:nvPr/>
        </p:nvSpPr>
        <p:spPr>
          <a:xfrm>
            <a:off x="566928" y="4937760"/>
            <a:ext cx="11057839" cy="1170432"/>
          </a:xfrm>
          <a:prstGeom prst="roundRect">
            <a:avLst>
              <a:gd fmla="val 4688"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1"/>
          <p:cNvSpPr txBox="1"/>
          <p:nvPr/>
        </p:nvSpPr>
        <p:spPr>
          <a:xfrm>
            <a:off x="896112" y="5102352"/>
            <a:ext cx="3657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250"/>
              <a:buFont typeface="Calibri"/>
              <a:buNone/>
            </a:pPr>
            <a:r>
              <a:rPr b="1" i="0" lang="en-US" sz="1250" u="none" cap="none" strike="noStrike">
                <a:solidFill>
                  <a:srgbClr val="C1272D"/>
                </a:solidFill>
                <a:latin typeface="Calibri"/>
                <a:ea typeface="Calibri"/>
                <a:cs typeface="Calibri"/>
                <a:sym typeface="Calibri"/>
              </a:rPr>
              <a:t>Priority call for Week 4</a:t>
            </a:r>
            <a:endParaRPr b="0" i="0" sz="1250" u="none" cap="none" strike="noStrike">
              <a:solidFill>
                <a:schemeClr val="dk1"/>
              </a:solidFill>
              <a:latin typeface="Calibri"/>
              <a:ea typeface="Calibri"/>
              <a:cs typeface="Calibri"/>
              <a:sym typeface="Calibri"/>
            </a:endParaRPr>
          </a:p>
        </p:txBody>
      </p:sp>
      <p:sp>
        <p:nvSpPr>
          <p:cNvPr id="213" name="Google Shape;213;p11"/>
          <p:cNvSpPr txBox="1"/>
          <p:nvPr/>
        </p:nvSpPr>
        <p:spPr>
          <a:xfrm>
            <a:off x="896112" y="5394960"/>
            <a:ext cx="1060704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250"/>
              <a:buFont typeface="Calibri"/>
              <a:buNone/>
            </a:pPr>
            <a:r>
              <a:rPr b="0" i="0" lang="en-US" sz="1250" u="none" cap="none" strike="noStrike">
                <a:solidFill>
                  <a:srgbClr val="9B95A2"/>
                </a:solidFill>
                <a:latin typeface="Calibri"/>
                <a:ea typeface="Calibri"/>
                <a:cs typeface="Calibri"/>
                <a:sym typeface="Calibri"/>
              </a:rPr>
              <a:t>The 13 Rules of Horror is the design thesis and is still at zero lines. The networking foundation is finished, so it is time to stop building infrastructure and start building the game the project is actually about.</a:t>
            </a:r>
            <a:endParaRPr b="0" i="0" sz="1250" u="none" cap="none" strike="noStrike">
              <a:solidFill>
                <a:schemeClr val="dk1"/>
              </a:solidFill>
              <a:latin typeface="Calibri"/>
              <a:ea typeface="Calibri"/>
              <a:cs typeface="Calibri"/>
              <a:sym typeface="Calibri"/>
            </a:endParaRPr>
          </a:p>
        </p:txBody>
      </p:sp>
      <p:sp>
        <p:nvSpPr>
          <p:cNvPr id="214" name="Google Shape;214;p11"/>
          <p:cNvSpPr txBox="1"/>
          <p:nvPr/>
        </p:nvSpPr>
        <p:spPr>
          <a:xfrm>
            <a:off x="566928" y="6382512"/>
            <a:ext cx="609584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50"/>
              <a:buFont typeface="Calibri"/>
              <a:buNone/>
            </a:pPr>
            <a:r>
              <a:rPr b="0" i="0" lang="en-US" sz="950" u="none" cap="none" strike="noStrike">
                <a:solidFill>
                  <a:srgbClr val="6E6876"/>
                </a:solidFill>
                <a:latin typeface="Calibri"/>
                <a:ea typeface="Calibri"/>
                <a:cs typeface="Calibri"/>
                <a:sym typeface="Calibri"/>
              </a:rPr>
              <a:t>Pre-Thesis Demo  |  Programming Status Report</a:t>
            </a:r>
            <a:endParaRPr b="0" i="0" sz="950" u="none" cap="none" strike="noStrike">
              <a:solidFill>
                <a:schemeClr val="dk1"/>
              </a:solidFill>
              <a:latin typeface="Calibri"/>
              <a:ea typeface="Calibri"/>
              <a:cs typeface="Calibri"/>
              <a:sym typeface="Calibri"/>
            </a:endParaRPr>
          </a:p>
        </p:txBody>
      </p:sp>
      <p:sp>
        <p:nvSpPr>
          <p:cNvPr id="215" name="Google Shape;215;p11"/>
          <p:cNvSpPr txBox="1"/>
          <p:nvPr/>
        </p:nvSpPr>
        <p:spPr>
          <a:xfrm>
            <a:off x="6095848" y="6382512"/>
            <a:ext cx="5528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1272D"/>
              </a:buClr>
              <a:buSzPts val="950"/>
              <a:buFont typeface="Calibri"/>
              <a:buNone/>
            </a:pPr>
            <a:r>
              <a:rPr b="0" i="0" lang="en-US" sz="950" u="none" cap="none" strike="noStrike">
                <a:solidFill>
                  <a:srgbClr val="C1272D"/>
                </a:solidFill>
                <a:latin typeface="Calibri"/>
                <a:ea typeface="Calibri"/>
                <a:cs typeface="Calibri"/>
                <a:sym typeface="Calibri"/>
              </a:rPr>
              <a:t>08</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216"/>
        </a:solidFill>
      </p:bgPr>
    </p:bg>
    <p:spTree>
      <p:nvGrpSpPr>
        <p:cNvPr id="220" name="Shape 220"/>
        <p:cNvGrpSpPr/>
        <p:nvPr/>
      </p:nvGrpSpPr>
      <p:grpSpPr>
        <a:xfrm>
          <a:off x="0" y="0"/>
          <a:ext cx="0" cy="0"/>
          <a:chOff x="0" y="0"/>
          <a:chExt cx="0" cy="0"/>
        </a:xfrm>
      </p:grpSpPr>
      <p:sp>
        <p:nvSpPr>
          <p:cNvPr id="221" name="Google Shape;221;p12"/>
          <p:cNvSpPr txBox="1"/>
          <p:nvPr/>
        </p:nvSpPr>
        <p:spPr>
          <a:xfrm>
            <a:off x="566928" y="384048"/>
            <a:ext cx="11057839"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150"/>
              <a:buFont typeface="Calibri"/>
              <a:buNone/>
            </a:pPr>
            <a:r>
              <a:rPr b="1" i="0" lang="en-US" sz="1150" u="none" cap="none" strike="noStrike">
                <a:solidFill>
                  <a:srgbClr val="C1272D"/>
                </a:solidFill>
                <a:latin typeface="Calibri"/>
                <a:ea typeface="Calibri"/>
                <a:cs typeface="Calibri"/>
                <a:sym typeface="Calibri"/>
              </a:rPr>
              <a:t>SUMMARY  ·  </a:t>
            </a:r>
            <a:r>
              <a:rPr b="1" lang="en-US" sz="1150">
                <a:solidFill>
                  <a:srgbClr val="C1272D"/>
                </a:solidFill>
                <a:latin typeface="Calibri"/>
                <a:ea typeface="Calibri"/>
                <a:cs typeface="Calibri"/>
                <a:sym typeface="Calibri"/>
              </a:rPr>
              <a:t>Week 01 – Week 03</a:t>
            </a:r>
            <a:endParaRPr b="0" i="0" sz="1150" u="none" cap="none" strike="noStrike">
              <a:solidFill>
                <a:schemeClr val="dk1"/>
              </a:solidFill>
              <a:latin typeface="Calibri"/>
              <a:ea typeface="Calibri"/>
              <a:cs typeface="Calibri"/>
              <a:sym typeface="Calibri"/>
            </a:endParaRPr>
          </a:p>
        </p:txBody>
      </p:sp>
      <p:sp>
        <p:nvSpPr>
          <p:cNvPr id="222" name="Google Shape;222;p12"/>
          <p:cNvSpPr txBox="1"/>
          <p:nvPr/>
        </p:nvSpPr>
        <p:spPr>
          <a:xfrm>
            <a:off x="566928" y="640080"/>
            <a:ext cx="11057839"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EBE4"/>
              </a:buClr>
              <a:buSzPts val="3200"/>
              <a:buFont typeface="Cambria"/>
              <a:buNone/>
            </a:pPr>
            <a:r>
              <a:rPr b="1" i="0" lang="en-US" sz="3200" u="none" cap="none" strike="noStrike">
                <a:solidFill>
                  <a:srgbClr val="F0EBE4"/>
                </a:solidFill>
                <a:latin typeface="Cambria"/>
                <a:ea typeface="Cambria"/>
                <a:cs typeface="Cambria"/>
                <a:sym typeface="Cambria"/>
              </a:rPr>
              <a:t>Everything built so far</a:t>
            </a:r>
            <a:endParaRPr b="0" i="0" sz="3200" u="none" cap="none" strike="noStrike">
              <a:solidFill>
                <a:schemeClr val="dk1"/>
              </a:solidFill>
              <a:latin typeface="Calibri"/>
              <a:ea typeface="Calibri"/>
              <a:cs typeface="Calibri"/>
              <a:sym typeface="Calibri"/>
            </a:endParaRPr>
          </a:p>
        </p:txBody>
      </p:sp>
      <p:sp>
        <p:nvSpPr>
          <p:cNvPr id="223" name="Google Shape;223;p12"/>
          <p:cNvSpPr/>
          <p:nvPr/>
        </p:nvSpPr>
        <p:spPr>
          <a:xfrm>
            <a:off x="566928" y="1554480"/>
            <a:ext cx="3514954" cy="3529584"/>
          </a:xfrm>
          <a:prstGeom prst="roundRect">
            <a:avLst>
              <a:gd fmla="val 1561"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2"/>
          <p:cNvSpPr txBox="1"/>
          <p:nvPr/>
        </p:nvSpPr>
        <p:spPr>
          <a:xfrm>
            <a:off x="859536" y="1773936"/>
            <a:ext cx="292608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1800"/>
              <a:buFont typeface="Cambria"/>
              <a:buNone/>
            </a:pPr>
            <a:r>
              <a:rPr b="1" i="0" lang="en-US" sz="1800" u="none" cap="none" strike="noStrike">
                <a:solidFill>
                  <a:srgbClr val="C1272D"/>
                </a:solidFill>
                <a:latin typeface="Cambria"/>
                <a:ea typeface="Cambria"/>
                <a:cs typeface="Cambria"/>
                <a:sym typeface="Cambria"/>
              </a:rPr>
              <a:t>Foundations</a:t>
            </a:r>
            <a:endParaRPr b="0" i="0" sz="1800" u="none" cap="none" strike="noStrike">
              <a:solidFill>
                <a:schemeClr val="dk1"/>
              </a:solidFill>
              <a:latin typeface="Calibri"/>
              <a:ea typeface="Calibri"/>
              <a:cs typeface="Calibri"/>
              <a:sym typeface="Calibri"/>
            </a:endParaRPr>
          </a:p>
        </p:txBody>
      </p:sp>
      <p:sp>
        <p:nvSpPr>
          <p:cNvPr id="225" name="Google Shape;225;p12"/>
          <p:cNvSpPr txBox="1"/>
          <p:nvPr/>
        </p:nvSpPr>
        <p:spPr>
          <a:xfrm>
            <a:off x="859536" y="2139696"/>
            <a:ext cx="2980944" cy="2798064"/>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AES-256 encrypted local save system</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Auto-load before first scene; one source of truth</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Permanent items capped at 1, lost on drop or death</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Custom Inspector for live save contents</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Editor tooling for network setup checks</a:t>
            </a:r>
            <a:endParaRPr b="0" i="0" sz="1150" u="none" cap="none" strike="noStrike">
              <a:solidFill>
                <a:schemeClr val="dk1"/>
              </a:solidFill>
              <a:latin typeface="Calibri"/>
              <a:ea typeface="Calibri"/>
              <a:cs typeface="Calibri"/>
              <a:sym typeface="Calibri"/>
            </a:endParaRPr>
          </a:p>
        </p:txBody>
      </p:sp>
      <p:sp>
        <p:nvSpPr>
          <p:cNvPr id="226" name="Google Shape;226;p12"/>
          <p:cNvSpPr/>
          <p:nvPr/>
        </p:nvSpPr>
        <p:spPr>
          <a:xfrm>
            <a:off x="4337914" y="1554480"/>
            <a:ext cx="3514954" cy="3529584"/>
          </a:xfrm>
          <a:prstGeom prst="roundRect">
            <a:avLst>
              <a:gd fmla="val 1561"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2"/>
          <p:cNvSpPr txBox="1"/>
          <p:nvPr/>
        </p:nvSpPr>
        <p:spPr>
          <a:xfrm>
            <a:off x="4630522" y="1773936"/>
            <a:ext cx="292608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E9E6E"/>
              </a:buClr>
              <a:buSzPts val="1800"/>
              <a:buFont typeface="Cambria"/>
              <a:buNone/>
            </a:pPr>
            <a:r>
              <a:rPr b="1" i="0" lang="en-US" sz="1800" u="none" cap="none" strike="noStrike">
                <a:solidFill>
                  <a:srgbClr val="5E9E6E"/>
                </a:solidFill>
                <a:latin typeface="Cambria"/>
                <a:ea typeface="Cambria"/>
                <a:cs typeface="Cambria"/>
                <a:sym typeface="Cambria"/>
              </a:rPr>
              <a:t>Networking</a:t>
            </a:r>
            <a:endParaRPr b="0" i="0" sz="1800" u="none" cap="none" strike="noStrike">
              <a:solidFill>
                <a:schemeClr val="dk1"/>
              </a:solidFill>
              <a:latin typeface="Calibri"/>
              <a:ea typeface="Calibri"/>
              <a:cs typeface="Calibri"/>
              <a:sym typeface="Calibri"/>
            </a:endParaRPr>
          </a:p>
        </p:txBody>
      </p:sp>
      <p:sp>
        <p:nvSpPr>
          <p:cNvPr id="228" name="Google Shape;228;p12"/>
          <p:cNvSpPr txBox="1"/>
          <p:nvPr/>
        </p:nvSpPr>
        <p:spPr>
          <a:xfrm>
            <a:off x="4630522" y="2139696"/>
            <a:ext cx="2980944" cy="2798064"/>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Mirror + Epic Online Services integrated and building clean</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Create room → EOS lobby → Mirror host</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Find rooms → every open room with map, difficulty, player count</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Join by Epic product user ID — no IP, no port forwarding</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Two-machine session verified: both players spawn and move</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Offline ↔ online dual mode for solo testing</a:t>
            </a:r>
            <a:endParaRPr b="0" i="0" sz="1150" u="none" cap="none" strike="noStrike">
              <a:solidFill>
                <a:schemeClr val="dk1"/>
              </a:solidFill>
              <a:latin typeface="Calibri"/>
              <a:ea typeface="Calibri"/>
              <a:cs typeface="Calibri"/>
              <a:sym typeface="Calibri"/>
            </a:endParaRPr>
          </a:p>
        </p:txBody>
      </p:sp>
      <p:sp>
        <p:nvSpPr>
          <p:cNvPr id="229" name="Google Shape;229;p12"/>
          <p:cNvSpPr/>
          <p:nvPr/>
        </p:nvSpPr>
        <p:spPr>
          <a:xfrm>
            <a:off x="8108899" y="1554480"/>
            <a:ext cx="3514954" cy="3529584"/>
          </a:xfrm>
          <a:prstGeom prst="roundRect">
            <a:avLst>
              <a:gd fmla="val 1561"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2"/>
          <p:cNvSpPr txBox="1"/>
          <p:nvPr/>
        </p:nvSpPr>
        <p:spPr>
          <a:xfrm>
            <a:off x="8401507" y="1773936"/>
            <a:ext cx="292608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87B0"/>
              </a:buClr>
              <a:buSzPts val="1800"/>
              <a:buFont typeface="Cambria"/>
              <a:buNone/>
            </a:pPr>
            <a:r>
              <a:rPr b="1" i="0" lang="en-US" sz="1800" u="none" cap="none" strike="noStrike">
                <a:solidFill>
                  <a:srgbClr val="5487B0"/>
                </a:solidFill>
                <a:latin typeface="Cambria"/>
                <a:ea typeface="Cambria"/>
                <a:cs typeface="Cambria"/>
                <a:sym typeface="Cambria"/>
              </a:rPr>
              <a:t>Gameplay</a:t>
            </a:r>
            <a:endParaRPr b="0" i="0" sz="1800" u="none" cap="none" strike="noStrike">
              <a:solidFill>
                <a:schemeClr val="dk1"/>
              </a:solidFill>
              <a:latin typeface="Calibri"/>
              <a:ea typeface="Calibri"/>
              <a:cs typeface="Calibri"/>
              <a:sym typeface="Calibri"/>
            </a:endParaRPr>
          </a:p>
        </p:txBody>
      </p:sp>
      <p:sp>
        <p:nvSpPr>
          <p:cNvPr id="231" name="Google Shape;231;p12"/>
          <p:cNvSpPr txBox="1"/>
          <p:nvPr/>
        </p:nvSpPr>
        <p:spPr>
          <a:xfrm>
            <a:off x="8401507" y="2139696"/>
            <a:ext cx="2980944" cy="2798064"/>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First-person movement and camera</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Interaction system: doors, levers, props</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Health and damage model</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Downed / revive with synced timer</a:t>
            </a:r>
            <a:endParaRPr b="0" i="0" sz="1150" u="none" cap="none" strike="noStrike">
              <a:solidFill>
                <a:schemeClr val="dk1"/>
              </a:solidFill>
              <a:latin typeface="Calibri"/>
              <a:ea typeface="Calibri"/>
              <a:cs typeface="Calibri"/>
              <a:sym typeface="Calibri"/>
            </a:endParaRPr>
          </a:p>
          <a:p>
            <a:pPr indent="-342900" lvl="0" marL="342900" marR="0" rtl="0" algn="l">
              <a:spcBef>
                <a:spcPts val="700"/>
              </a:spcBef>
              <a:spcAft>
                <a:spcPts val="0"/>
              </a:spcAft>
              <a:buClr>
                <a:srgbClr val="F0EBE4"/>
              </a:buClr>
              <a:buSzPts val="1150"/>
              <a:buFont typeface="Calibri"/>
              <a:buChar char="•"/>
            </a:pPr>
            <a:r>
              <a:rPr b="0" i="0" lang="en-US" sz="1150" u="none" cap="none" strike="noStrike">
                <a:solidFill>
                  <a:srgbClr val="F0EBE4"/>
                </a:solidFill>
                <a:latin typeface="Calibri"/>
                <a:ea typeface="Calibri"/>
                <a:cs typeface="Calibri"/>
                <a:sym typeface="Calibri"/>
              </a:rPr>
              <a:t>All of the above rewritten to server authority</a:t>
            </a:r>
            <a:endParaRPr b="0" i="0" sz="1150" u="none" cap="none" strike="noStrike">
              <a:solidFill>
                <a:schemeClr val="dk1"/>
              </a:solidFill>
              <a:latin typeface="Calibri"/>
              <a:ea typeface="Calibri"/>
              <a:cs typeface="Calibri"/>
              <a:sym typeface="Calibri"/>
            </a:endParaRPr>
          </a:p>
        </p:txBody>
      </p:sp>
      <p:sp>
        <p:nvSpPr>
          <p:cNvPr id="232" name="Google Shape;232;p12"/>
          <p:cNvSpPr/>
          <p:nvPr/>
        </p:nvSpPr>
        <p:spPr>
          <a:xfrm>
            <a:off x="566928" y="5340096"/>
            <a:ext cx="2585923" cy="768096"/>
          </a:xfrm>
          <a:prstGeom prst="roundRect">
            <a:avLst>
              <a:gd fmla="val 7143"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2"/>
          <p:cNvSpPr txBox="1"/>
          <p:nvPr/>
        </p:nvSpPr>
        <p:spPr>
          <a:xfrm>
            <a:off x="786384" y="5440680"/>
            <a:ext cx="118872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2200"/>
              <a:buFont typeface="Cambria"/>
              <a:buNone/>
            </a:pPr>
            <a:r>
              <a:rPr b="1" i="0" lang="en-US" sz="2200" u="none" cap="none" strike="noStrike">
                <a:solidFill>
                  <a:srgbClr val="C1272D"/>
                </a:solidFill>
                <a:latin typeface="Cambria"/>
                <a:ea typeface="Cambria"/>
                <a:cs typeface="Cambria"/>
                <a:sym typeface="Cambria"/>
              </a:rPr>
              <a:t>21</a:t>
            </a:r>
            <a:endParaRPr b="0" i="0" sz="2200" u="none" cap="none" strike="noStrike">
              <a:solidFill>
                <a:schemeClr val="dk1"/>
              </a:solidFill>
              <a:latin typeface="Calibri"/>
              <a:ea typeface="Calibri"/>
              <a:cs typeface="Calibri"/>
              <a:sym typeface="Calibri"/>
            </a:endParaRPr>
          </a:p>
        </p:txBody>
      </p:sp>
      <p:sp>
        <p:nvSpPr>
          <p:cNvPr id="234" name="Google Shape;234;p12"/>
          <p:cNvSpPr txBox="1"/>
          <p:nvPr/>
        </p:nvSpPr>
        <p:spPr>
          <a:xfrm>
            <a:off x="1956816" y="5440680"/>
            <a:ext cx="10972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100"/>
              <a:buFont typeface="Calibri"/>
              <a:buNone/>
            </a:pPr>
            <a:r>
              <a:rPr b="0" i="0" lang="en-US" sz="1100" u="none" cap="none" strike="noStrike">
                <a:solidFill>
                  <a:srgbClr val="9B95A2"/>
                </a:solidFill>
                <a:latin typeface="Calibri"/>
                <a:ea typeface="Calibri"/>
                <a:cs typeface="Calibri"/>
                <a:sym typeface="Calibri"/>
              </a:rPr>
              <a:t>C# scripts</a:t>
            </a:r>
            <a:endParaRPr b="0" i="0" sz="1100" u="none" cap="none" strike="noStrike">
              <a:solidFill>
                <a:schemeClr val="dk1"/>
              </a:solidFill>
              <a:latin typeface="Calibri"/>
              <a:ea typeface="Calibri"/>
              <a:cs typeface="Calibri"/>
              <a:sym typeface="Calibri"/>
            </a:endParaRPr>
          </a:p>
        </p:txBody>
      </p:sp>
      <p:sp>
        <p:nvSpPr>
          <p:cNvPr id="235" name="Google Shape;235;p12"/>
          <p:cNvSpPr/>
          <p:nvPr/>
        </p:nvSpPr>
        <p:spPr>
          <a:xfrm>
            <a:off x="3390595" y="5340096"/>
            <a:ext cx="2585923" cy="768096"/>
          </a:xfrm>
          <a:prstGeom prst="roundRect">
            <a:avLst>
              <a:gd fmla="val 7143"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2"/>
          <p:cNvSpPr txBox="1"/>
          <p:nvPr/>
        </p:nvSpPr>
        <p:spPr>
          <a:xfrm>
            <a:off x="3610051" y="5440680"/>
            <a:ext cx="118872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2200"/>
              <a:buFont typeface="Cambria"/>
              <a:buNone/>
            </a:pPr>
            <a:r>
              <a:rPr b="1" i="0" lang="en-US" sz="2200" u="none" cap="none" strike="noStrike">
                <a:solidFill>
                  <a:srgbClr val="C1272D"/>
                </a:solidFill>
                <a:latin typeface="Cambria"/>
                <a:ea typeface="Cambria"/>
                <a:cs typeface="Cambria"/>
                <a:sym typeface="Cambria"/>
              </a:rPr>
              <a:t>2,821</a:t>
            </a:r>
            <a:endParaRPr b="0" i="0" sz="2200" u="none" cap="none" strike="noStrike">
              <a:solidFill>
                <a:schemeClr val="dk1"/>
              </a:solidFill>
              <a:latin typeface="Calibri"/>
              <a:ea typeface="Calibri"/>
              <a:cs typeface="Calibri"/>
              <a:sym typeface="Calibri"/>
            </a:endParaRPr>
          </a:p>
        </p:txBody>
      </p:sp>
      <p:sp>
        <p:nvSpPr>
          <p:cNvPr id="237" name="Google Shape;237;p12"/>
          <p:cNvSpPr txBox="1"/>
          <p:nvPr/>
        </p:nvSpPr>
        <p:spPr>
          <a:xfrm>
            <a:off x="4780483" y="5440680"/>
            <a:ext cx="10972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100"/>
              <a:buFont typeface="Calibri"/>
              <a:buNone/>
            </a:pPr>
            <a:r>
              <a:rPr b="0" i="0" lang="en-US" sz="1100" u="none" cap="none" strike="noStrike">
                <a:solidFill>
                  <a:srgbClr val="9B95A2"/>
                </a:solidFill>
                <a:latin typeface="Calibri"/>
                <a:ea typeface="Calibri"/>
                <a:cs typeface="Calibri"/>
                <a:sym typeface="Calibri"/>
              </a:rPr>
              <a:t>lines of C#</a:t>
            </a:r>
            <a:endParaRPr b="0" i="0" sz="1100" u="none" cap="none" strike="noStrike">
              <a:solidFill>
                <a:schemeClr val="dk1"/>
              </a:solidFill>
              <a:latin typeface="Calibri"/>
              <a:ea typeface="Calibri"/>
              <a:cs typeface="Calibri"/>
              <a:sym typeface="Calibri"/>
            </a:endParaRPr>
          </a:p>
        </p:txBody>
      </p:sp>
      <p:sp>
        <p:nvSpPr>
          <p:cNvPr id="238" name="Google Shape;238;p12"/>
          <p:cNvSpPr/>
          <p:nvPr/>
        </p:nvSpPr>
        <p:spPr>
          <a:xfrm>
            <a:off x="6214262" y="5340096"/>
            <a:ext cx="2585923" cy="768096"/>
          </a:xfrm>
          <a:prstGeom prst="roundRect">
            <a:avLst>
              <a:gd fmla="val 7143"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2"/>
          <p:cNvSpPr txBox="1"/>
          <p:nvPr/>
        </p:nvSpPr>
        <p:spPr>
          <a:xfrm>
            <a:off x="6433718" y="5440680"/>
            <a:ext cx="118872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2200"/>
              <a:buFont typeface="Cambria"/>
              <a:buNone/>
            </a:pPr>
            <a:r>
              <a:rPr b="1" i="0" lang="en-US" sz="2200" u="none" cap="none" strike="noStrike">
                <a:solidFill>
                  <a:srgbClr val="C1272D"/>
                </a:solidFill>
                <a:latin typeface="Cambria"/>
                <a:ea typeface="Cambria"/>
                <a:cs typeface="Cambria"/>
                <a:sym typeface="Cambria"/>
              </a:rPr>
              <a:t>5</a:t>
            </a:r>
            <a:endParaRPr b="0" i="0" sz="2200" u="none" cap="none" strike="noStrike">
              <a:solidFill>
                <a:schemeClr val="dk1"/>
              </a:solidFill>
              <a:latin typeface="Calibri"/>
              <a:ea typeface="Calibri"/>
              <a:cs typeface="Calibri"/>
              <a:sym typeface="Calibri"/>
            </a:endParaRPr>
          </a:p>
        </p:txBody>
      </p:sp>
      <p:sp>
        <p:nvSpPr>
          <p:cNvPr id="240" name="Google Shape;240;p12"/>
          <p:cNvSpPr txBox="1"/>
          <p:nvPr/>
        </p:nvSpPr>
        <p:spPr>
          <a:xfrm>
            <a:off x="7604150" y="5440680"/>
            <a:ext cx="10972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100"/>
              <a:buFont typeface="Calibri"/>
              <a:buNone/>
            </a:pPr>
            <a:r>
              <a:rPr b="0" i="0" lang="en-US" sz="1100" u="none" cap="none" strike="noStrike">
                <a:solidFill>
                  <a:srgbClr val="9B95A2"/>
                </a:solidFill>
                <a:latin typeface="Calibri"/>
                <a:ea typeface="Calibri"/>
                <a:cs typeface="Calibri"/>
                <a:sym typeface="Calibri"/>
              </a:rPr>
              <a:t>Unity scenes</a:t>
            </a:r>
            <a:endParaRPr b="0" i="0" sz="1100" u="none" cap="none" strike="noStrike">
              <a:solidFill>
                <a:schemeClr val="dk1"/>
              </a:solidFill>
              <a:latin typeface="Calibri"/>
              <a:ea typeface="Calibri"/>
              <a:cs typeface="Calibri"/>
              <a:sym typeface="Calibri"/>
            </a:endParaRPr>
          </a:p>
        </p:txBody>
      </p:sp>
      <p:sp>
        <p:nvSpPr>
          <p:cNvPr id="241" name="Google Shape;241;p12"/>
          <p:cNvSpPr/>
          <p:nvPr/>
        </p:nvSpPr>
        <p:spPr>
          <a:xfrm>
            <a:off x="9037930" y="5340096"/>
            <a:ext cx="2585923" cy="768096"/>
          </a:xfrm>
          <a:prstGeom prst="roundRect">
            <a:avLst>
              <a:gd fmla="val 7143" name="adj"/>
            </a:avLst>
          </a:prstGeom>
          <a:solidFill>
            <a:srgbClr val="1E1E26"/>
          </a:solidFill>
          <a:ln cap="flat" cmpd="sng" w="9525">
            <a:solidFill>
              <a:srgbClr val="2A2A34"/>
            </a:solidFill>
            <a:prstDash val="solid"/>
            <a:round/>
            <a:headEnd len="sm" w="sm" type="none"/>
            <a:tailEnd len="sm" w="sm" type="none"/>
          </a:ln>
          <a:effectLst>
            <a:outerShdw blurRad="101600" rotWithShape="0" algn="bl" dir="5400000" dist="25400">
              <a:srgbClr val="000000">
                <a:alpha val="34902"/>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2"/>
          <p:cNvSpPr txBox="1"/>
          <p:nvPr/>
        </p:nvSpPr>
        <p:spPr>
          <a:xfrm>
            <a:off x="9257386" y="5440680"/>
            <a:ext cx="118872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1272D"/>
              </a:buClr>
              <a:buSzPts val="2200"/>
              <a:buFont typeface="Cambria"/>
              <a:buNone/>
            </a:pPr>
            <a:r>
              <a:rPr b="1" i="0" lang="en-US" sz="2200" u="none" cap="none" strike="noStrike">
                <a:solidFill>
                  <a:srgbClr val="C1272D"/>
                </a:solidFill>
                <a:latin typeface="Cambria"/>
                <a:ea typeface="Cambria"/>
                <a:cs typeface="Cambria"/>
                <a:sym typeface="Cambria"/>
              </a:rPr>
              <a:t>0 / 0</a:t>
            </a:r>
            <a:endParaRPr b="0" i="0" sz="2200" u="none" cap="none" strike="noStrike">
              <a:solidFill>
                <a:schemeClr val="dk1"/>
              </a:solidFill>
              <a:latin typeface="Calibri"/>
              <a:ea typeface="Calibri"/>
              <a:cs typeface="Calibri"/>
              <a:sym typeface="Calibri"/>
            </a:endParaRPr>
          </a:p>
        </p:txBody>
      </p:sp>
      <p:sp>
        <p:nvSpPr>
          <p:cNvPr id="243" name="Google Shape;243;p12"/>
          <p:cNvSpPr txBox="1"/>
          <p:nvPr/>
        </p:nvSpPr>
        <p:spPr>
          <a:xfrm>
            <a:off x="10427818" y="5440680"/>
            <a:ext cx="10972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95A2"/>
              </a:buClr>
              <a:buSzPts val="1100"/>
              <a:buFont typeface="Calibri"/>
              <a:buNone/>
            </a:pPr>
            <a:r>
              <a:rPr b="0" i="0" lang="en-US" sz="1100" u="none" cap="none" strike="noStrike">
                <a:solidFill>
                  <a:srgbClr val="9B95A2"/>
                </a:solidFill>
                <a:latin typeface="Calibri"/>
                <a:ea typeface="Calibri"/>
                <a:cs typeface="Calibri"/>
                <a:sym typeface="Calibri"/>
              </a:rPr>
              <a:t>errors / warnings</a:t>
            </a:r>
            <a:endParaRPr b="0" i="0" sz="1100" u="none" cap="none" strike="noStrike">
              <a:solidFill>
                <a:schemeClr val="dk1"/>
              </a:solidFill>
              <a:latin typeface="Calibri"/>
              <a:ea typeface="Calibri"/>
              <a:cs typeface="Calibri"/>
              <a:sym typeface="Calibri"/>
            </a:endParaRPr>
          </a:p>
        </p:txBody>
      </p:sp>
      <p:sp>
        <p:nvSpPr>
          <p:cNvPr id="244" name="Google Shape;244;p12"/>
          <p:cNvSpPr txBox="1"/>
          <p:nvPr/>
        </p:nvSpPr>
        <p:spPr>
          <a:xfrm>
            <a:off x="566928" y="6382512"/>
            <a:ext cx="609584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876"/>
              </a:buClr>
              <a:buSzPts val="950"/>
              <a:buFont typeface="Calibri"/>
              <a:buNone/>
            </a:pPr>
            <a:r>
              <a:rPr b="0" i="0" lang="en-US" sz="950" u="none" cap="none" strike="noStrike">
                <a:solidFill>
                  <a:srgbClr val="6E6876"/>
                </a:solidFill>
                <a:latin typeface="Calibri"/>
                <a:ea typeface="Calibri"/>
                <a:cs typeface="Calibri"/>
                <a:sym typeface="Calibri"/>
              </a:rPr>
              <a:t>Pre-Thesis Demo  |  Programming Status Report</a:t>
            </a:r>
            <a:endParaRPr b="0" i="0" sz="950" u="none" cap="none" strike="noStrike">
              <a:solidFill>
                <a:schemeClr val="dk1"/>
              </a:solidFill>
              <a:latin typeface="Calibri"/>
              <a:ea typeface="Calibri"/>
              <a:cs typeface="Calibri"/>
              <a:sym typeface="Calibri"/>
            </a:endParaRPr>
          </a:p>
        </p:txBody>
      </p:sp>
      <p:sp>
        <p:nvSpPr>
          <p:cNvPr id="245" name="Google Shape;245;p12"/>
          <p:cNvSpPr txBox="1"/>
          <p:nvPr/>
        </p:nvSpPr>
        <p:spPr>
          <a:xfrm>
            <a:off x="6095848" y="6382512"/>
            <a:ext cx="55289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1272D"/>
              </a:buClr>
              <a:buSzPts val="950"/>
              <a:buFont typeface="Calibri"/>
              <a:buNone/>
            </a:pPr>
            <a:r>
              <a:rPr b="0" i="0" lang="en-US" sz="950" u="none" cap="none" strike="noStrike">
                <a:solidFill>
                  <a:srgbClr val="C1272D"/>
                </a:solidFill>
                <a:latin typeface="Calibri"/>
                <a:ea typeface="Calibri"/>
                <a:cs typeface="Calibri"/>
                <a:sym typeface="Calibri"/>
              </a:rPr>
              <a:t>Week 3</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